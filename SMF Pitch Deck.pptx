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906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GoogleSlidesCustomDataVersion2">
      <go:slidesCustomData xmlns:go="http://customooxmlschemas.google.com/" r:id="rId21" roundtripDataSignature="AMtx7mhcrJz9mSS5Lrq/ABsBgqxP1k4/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3F39BA-E31A-4004-920F-AE4E834E8032}">
  <a:tblStyle styleId="{5F3F39BA-E31A-4004-920F-AE4E834E8032}" styleName="Table_0">
    <a:wholeTbl>
      <a:tcTxStyle b="off" i="off">
        <a:font>
          <a:latin typeface="Arial"/>
          <a:ea typeface="Arial"/>
          <a:cs typeface="Arial"/>
        </a:font>
        <a:schemeClr val="lt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E6E6E6"/>
          </a:solidFill>
        </a:fill>
      </a:tcStyle>
    </a:wholeTbl>
    <a:band1H>
      <a:tcTxStyle b="off" i="off"/>
      <a:tcStyle>
        <a:fill>
          <a:solidFill>
            <a:srgbClr val="CACACA"/>
          </a:solidFill>
        </a:fill>
      </a:tcStyle>
    </a:band1H>
    <a:band2H>
      <a:tcTxStyle b="off" i="off"/>
    </a:band2H>
    <a:band1V>
      <a:tcTxStyle b="off" i="off"/>
      <a:tcStyle>
        <a:fill>
          <a:solidFill>
            <a:srgbClr val="CACACA"/>
          </a:solidFill>
        </a:fill>
      </a:tcStyle>
    </a:band1V>
    <a:band2V>
      <a:tcTxStyle b="off" i="off"/>
    </a:band2V>
    <a:lastCol>
      <a:tcTxStyle b="on" i="off"/>
      <a:tcStyle>
        <a:tcBdr>
          <a:left>
            <a:ln cap="flat" cmpd="sng" w="25400">
              <a:solidFill>
                <a:schemeClr val="lt1"/>
              </a:solidFill>
              <a:prstDash val="solid"/>
              <a:round/>
              <a:headEnd len="sm" w="sm" type="none"/>
              <a:tailEnd len="sm" w="sm" type="none"/>
            </a:ln>
          </a:left>
        </a:tcBdr>
        <a:fill>
          <a:solidFill>
            <a:srgbClr val="A8A8A8"/>
          </a:solidFill>
        </a:fill>
      </a:tcStyle>
    </a:lastCol>
    <a:firstCol>
      <a:tcTxStyle b="on" i="off"/>
      <a:tcStyle>
        <a:tcBdr>
          <a:right>
            <a:ln cap="flat" cmpd="sng" w="25400">
              <a:solidFill>
                <a:schemeClr val="lt1"/>
              </a:solidFill>
              <a:prstDash val="solid"/>
              <a:round/>
              <a:headEnd len="sm" w="sm" type="none"/>
              <a:tailEnd len="sm" w="sm" type="none"/>
            </a:ln>
          </a:right>
        </a:tcBdr>
        <a:fill>
          <a:solidFill>
            <a:srgbClr val="A8A8A8"/>
          </a:solidFill>
        </a:fill>
      </a:tcStyle>
    </a:firstCol>
    <a:lastRow>
      <a:tcTxStyle b="on" i="off"/>
      <a:tcStyle>
        <a:tcBdr>
          <a:top>
            <a:ln cap="flat" cmpd="sng" w="25400">
              <a:solidFill>
                <a:schemeClr val="lt1"/>
              </a:solidFill>
              <a:prstDash val="solid"/>
              <a:round/>
              <a:headEnd len="sm" w="sm" type="none"/>
              <a:tailEnd len="sm" w="sm" type="none"/>
            </a:ln>
          </a:top>
        </a:tcBdr>
        <a:fill>
          <a:solidFill>
            <a:srgbClr val="A8A8A8"/>
          </a:solidFill>
        </a:fill>
      </a:tcStyle>
    </a:lastRow>
    <a:seCell>
      <a:tcTxStyle b="off" i="off"/>
      <a:tcStyle>
        <a:tcBdr>
          <a:left>
            <a:ln cap="flat" cmpd="sng" w="9525">
              <a:solidFill>
                <a:srgbClr val="000000">
                  <a:alpha val="0"/>
                </a:srgbClr>
              </a:solidFill>
              <a:prstDash val="solid"/>
              <a:round/>
              <a:headEnd len="sm" w="sm" type="none"/>
              <a:tailEnd len="sm" w="sm" type="none"/>
            </a:ln>
          </a:left>
        </a:tcBdr>
      </a:tcStyle>
    </a:seCell>
    <a:swCell>
      <a:tcTxStyle b="off" i="off"/>
      <a:tcStyle>
        <a:tcBdr>
          <a:right>
            <a:ln cap="flat" cmpd="sng" w="9525">
              <a:solidFill>
                <a:srgbClr val="000000">
                  <a:alpha val="0"/>
                </a:srgbClr>
              </a:solidFill>
              <a:prstDash val="solid"/>
              <a:round/>
              <a:headEnd len="sm" w="sm" type="none"/>
              <a:tailEnd len="sm" w="sm" type="none"/>
            </a:ln>
          </a:right>
        </a:tcBdr>
      </a:tcStyle>
    </a:swCell>
    <a:firstRow>
      <a:tcTxStyle b="on" i="off"/>
      <a:tcStyle>
        <a:tcBdr>
          <a:bottom>
            <a:ln cap="flat" cmpd="sng" w="25400">
              <a:solidFill>
                <a:schemeClr val="lt1"/>
              </a:solidFill>
              <a:prstDash val="solid"/>
              <a:round/>
              <a:headEnd len="sm" w="sm" type="none"/>
              <a:tailEnd len="sm" w="sm" type="none"/>
            </a:ln>
          </a:bottom>
        </a:tcBdr>
        <a:fill>
          <a:solidFill>
            <a:schemeClr val="dk1"/>
          </a:solidFill>
        </a:fill>
      </a:tcStyle>
    </a:firstRow>
    <a:neCell>
      <a:tcTxStyle b="off" i="off"/>
      <a:tcStyle>
        <a:tcBdr>
          <a:left>
            <a:ln cap="flat" cmpd="sng" w="9525">
              <a:solidFill>
                <a:srgbClr val="000000">
                  <a:alpha val="0"/>
                </a:srgbClr>
              </a:solidFill>
              <a:prstDash val="solid"/>
              <a:round/>
              <a:headEnd len="sm" w="sm" type="none"/>
              <a:tailEnd len="sm" w="sm" type="none"/>
            </a:ln>
          </a:left>
        </a:tcBdr>
      </a:tcStyle>
    </a:neCell>
    <a:nwCell>
      <a:tcTxStyle b="off" i="off"/>
      <a:tcStyle>
        <a:tcBdr>
          <a:right>
            <a:ln cap="flat" cmpd="sng" w="9525">
              <a:solidFill>
                <a:srgbClr val="000000">
                  <a:alpha val="0"/>
                </a:srgbClr>
              </a:solidFill>
              <a:prstDash val="solid"/>
              <a:round/>
              <a:headEnd len="sm" w="sm" type="none"/>
              <a:tailEnd len="sm" w="sm" type="none"/>
            </a:ln>
          </a:right>
        </a:tcBdr>
      </a:tc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Play-regular.fntdata"/><Relationship Id="rId14" Type="http://schemas.openxmlformats.org/officeDocument/2006/relationships/slide" Target="slides/slide8.xml"/><Relationship Id="rId17" Type="http://schemas.openxmlformats.org/officeDocument/2006/relationships/font" Target="fonts/ProximaNova-regular.fntdata"/><Relationship Id="rId16" Type="http://schemas.openxmlformats.org/officeDocument/2006/relationships/font" Target="fonts/Play-bold.fntdata"/><Relationship Id="rId5" Type="http://schemas.openxmlformats.org/officeDocument/2006/relationships/slideMaster" Target="slideMasters/slideMaster1.xml"/><Relationship Id="rId19" Type="http://schemas.openxmlformats.org/officeDocument/2006/relationships/font" Target="fonts/ProximaNova-italic.fntdata"/><Relationship Id="rId6" Type="http://schemas.openxmlformats.org/officeDocument/2006/relationships/notesMaster" Target="notesMasters/notesMaster1.xml"/><Relationship Id="rId18" Type="http://schemas.openxmlformats.org/officeDocument/2006/relationships/font" Target="fonts/ProximaNova-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google.com/search?q=Special+Purpose+Acquisition+Company&amp;sca_esv=cc10c060bf90c3bd&amp;sxsrf=AE3TifOClHwj_2wa_R7IWjOXu-eV2DKqbg%3A1758927221885&amp;source=hp&amp;ei=dRnXaK_OM5ePseMPn46xkAw&amp;iflsig=AOw8s4IAAAAAaNcnhRTJ-0NkkSr-0DxA8z7WeYw87Mrh&amp;ved=2ahUKEwiDkaDEwvePAxUuTGwGHUK9KG4QgK4QegQIARAD&amp;uact=5&amp;oq=what+is+spac+merger&amp;gs_lp=Egdnd3Mtd2l6IhN3aGF0IGlzIHNwYWMgbWVyZ2VyMgUQABiABDIGEAAYFhgeMgYQABgWGB4yCBAAGIAEGKIEMgUQABjvBUi-HFAAWKsZcAJ4AJABAJgBW6ABvwmqAQIyMbgBA8gBAPgBAZgCF6AC9gnCAgsQABiABBiRAhiKBcICCBAAGIAEGLEDwgILEC4YgAQYsQMYgwHCAhEQLhiABBixAxjRAxiDARjHAcICERAuGIAEGLEDGMcBGIoFGK8BwgILEAAYgAQYsQMYigXCAg4QABiABBixAxiDARiKBcICChAAGIAEGEMYigXCAhAQABiABBixAxhDGIMBGIoFwgILEAAYgAQYsQMYgwHCAg0QABiABBixAxhDGIoFwgIQEAAYgAQYsQMYQxjJAxiKBcICFhAuGIAEGLEDGNEDGEMYgwEYxwEYigXCAgsQABiABBiSAxiKBcICDhAAGIAEGJECGLEDGIoFwgIIEAAYFhgKGB7CAgsQABiABBiGAxiKBcICBxAAGIAEGA3CAggQABgIGA0YHpgDAJIHAjIzoAe_e7IHAjIxuAfzCcIHBjIuMjAuMcgHJw&amp;sclient=gws-wiz&amp;mstk=AUtExfCawAcOhdlOgIMNmB-T5bYdX-LQXByv0RWkz61b3_JHCs4Xemu3lrAJYLjgydNeYtoFvRicaY-LKGq7-ni22NvqAK0RbJlinqFpT3yY3NY9UNUDdutEIbrL6uZEy13QrMD_c1Oj_Jj_8hg-KhHVuk5upeUn_vZ5yylpaE8-5HrsISo&amp;csui=3"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growth of digitql adoption or mobile penetration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grab can leverage and grow on this adoption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derscription abt delievery services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give numbers for higher profitability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be more specific in competitors</a:t>
            </a:r>
            <a:endParaRPr/>
          </a:p>
        </p:txBody>
      </p:sp>
      <p:sp>
        <p:nvSpPr>
          <p:cNvPr id="199" name="Google Shape;199;p2: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ÍSaver tiers have been rolled out nationwide in Singapore and Malaysia; in other countries (Indonesia, Philippines, Vietnam, etc.), availability is currently limited to key cities/certain regions. There remains opportunity for expansion into under-served locations.</a:t>
            </a:r>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t/>
            </a:r>
            <a:endParaRPr sz="1100">
              <a:latin typeface="Arial"/>
              <a:ea typeface="Arial"/>
              <a:cs typeface="Arial"/>
              <a:sym typeface="Arial"/>
            </a:endParaRPr>
          </a:p>
          <a:p>
            <a:pPr indent="0" lvl="0" marL="0" rtl="0" algn="l">
              <a:lnSpc>
                <a:spcPct val="115000"/>
              </a:lnSpc>
              <a:spcBef>
                <a:spcPts val="1200"/>
              </a:spcBef>
              <a:spcAft>
                <a:spcPts val="0"/>
              </a:spcAft>
              <a:buSzPts val="1400"/>
              <a:buNone/>
            </a:pPr>
            <a:r>
              <a:t/>
            </a:r>
            <a:endParaRPr sz="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300">
                <a:latin typeface="Arial"/>
                <a:ea typeface="Arial"/>
                <a:cs typeface="Arial"/>
                <a:sym typeface="Arial"/>
              </a:rPr>
              <a:t>What Grab Has Surpassed</a:t>
            </a:r>
            <a:endParaRPr b="1" sz="13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Uber in Southeast Asia</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2018, Grab acquired Uber’s SEA operations. Since then, Grab has become the </a:t>
            </a:r>
            <a:r>
              <a:rPr b="1" lang="en-US" sz="1100">
                <a:latin typeface="Arial"/>
                <a:ea typeface="Arial"/>
                <a:cs typeface="Arial"/>
                <a:sym typeface="Arial"/>
              </a:rPr>
              <a:t>dominant ride-hailing platform</a:t>
            </a:r>
            <a:r>
              <a:rPr lang="en-US" sz="1100">
                <a:latin typeface="Arial"/>
                <a:ea typeface="Arial"/>
                <a:cs typeface="Arial"/>
                <a:sym typeface="Arial"/>
              </a:rPr>
              <a:t> in Singapore, Malaysia, Philippines, and Vietnam.</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Foodpanda in key delivery markets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Singapore and Malaysia, GrabFood has overtaken Foodpanda in </a:t>
            </a:r>
            <a:r>
              <a:rPr b="1" lang="en-US" sz="1100">
                <a:latin typeface="Arial"/>
                <a:ea typeface="Arial"/>
                <a:cs typeface="Arial"/>
                <a:sym typeface="Arial"/>
              </a:rPr>
              <a:t>gross merchandise value (GMV) and market share</a:t>
            </a:r>
            <a:r>
              <a:rPr lang="en-US" sz="1100">
                <a:latin typeface="Arial"/>
                <a:ea typeface="Arial"/>
                <a:cs typeface="Arial"/>
                <a:sym typeface="Arial"/>
              </a:rPr>
              <a:t>, becoming the top food delivery player.</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Local ride-hailing players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In markets like Vietnam and Thailand, Grab has outgrown smaller local apps (e.g., EasyTaxi, Lalamove in ride-hailing) through better incentives, a larger driver base, and stronger brand trust.</a:t>
            </a:r>
            <a:br>
              <a:rPr lang="en-US" sz="1100">
                <a:latin typeface="Arial"/>
                <a:ea typeface="Arial"/>
                <a:cs typeface="Arial"/>
                <a:sym typeface="Arial"/>
              </a:rPr>
            </a:b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Payment adoption vs banks/fintech startups</a:t>
            </a:r>
            <a:br>
              <a:rPr b="1" lang="en-US" sz="1100">
                <a:latin typeface="Arial"/>
                <a:ea typeface="Arial"/>
                <a:cs typeface="Arial"/>
                <a:sym typeface="Arial"/>
              </a:rPr>
            </a:b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lang="en-US" sz="1100">
                <a:latin typeface="Arial"/>
                <a:ea typeface="Arial"/>
                <a:cs typeface="Arial"/>
                <a:sym typeface="Arial"/>
              </a:rPr>
              <a:t>GrabPay is now one of the </a:t>
            </a:r>
            <a:r>
              <a:rPr b="1" lang="en-US" sz="1100">
                <a:latin typeface="Arial"/>
                <a:ea typeface="Arial"/>
                <a:cs typeface="Arial"/>
                <a:sym typeface="Arial"/>
              </a:rPr>
              <a:t>top e-wallets in Singapore and Malaysia</a:t>
            </a:r>
            <a:r>
              <a:rPr lang="en-US" sz="1100">
                <a:latin typeface="Arial"/>
                <a:ea typeface="Arial"/>
                <a:cs typeface="Arial"/>
                <a:sym typeface="Arial"/>
              </a:rPr>
              <a:t>, surpassing many smaller standalone fintech apps by being bundled with rides and food delivery.</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a:p>
            <a:pPr indent="0" lvl="0" marL="0" rtl="0" algn="l">
              <a:lnSpc>
                <a:spcPct val="100000"/>
              </a:lnSpc>
              <a:spcBef>
                <a:spcPts val="1200"/>
              </a:spcBef>
              <a:spcAft>
                <a:spcPts val="0"/>
              </a:spcAft>
              <a:buSzPts val="1400"/>
              <a:buNone/>
            </a:pPr>
            <a:r>
              <a:t/>
            </a:r>
            <a:endParaRPr/>
          </a:p>
        </p:txBody>
      </p:sp>
      <p:sp>
        <p:nvSpPr>
          <p:cNvPr id="227" name="Google Shape;227;p20: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a:t>april 2025 is very misleading &gt; priced in?</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comparison w other companies that use AI tools also and if their margins improved.</a:t>
            </a:r>
            <a:endParaRPr/>
          </a:p>
          <a:p>
            <a:pPr indent="0" lvl="0" marL="0" rtl="0" algn="l">
              <a:lnSpc>
                <a:spcPct val="100000"/>
              </a:lnSpc>
              <a:spcBef>
                <a:spcPts val="0"/>
              </a:spcBef>
              <a:spcAft>
                <a:spcPts val="0"/>
              </a:spcAft>
              <a:buSzPts val="1400"/>
              <a:buNone/>
            </a:pPr>
            <a:r>
              <a:rPr b="1" lang="en-US"/>
              <a:t>how well is ai helping? use research.</a:t>
            </a:r>
            <a:endParaRPr/>
          </a:p>
          <a:p>
            <a:pPr indent="0" lvl="0" marL="0" rtl="0" algn="l">
              <a:lnSpc>
                <a:spcPct val="100000"/>
              </a:lnSpc>
              <a:spcBef>
                <a:spcPts val="0"/>
              </a:spcBef>
              <a:spcAft>
                <a:spcPts val="0"/>
              </a:spcAft>
              <a:buSzPts val="1400"/>
              <a:buNone/>
            </a:pPr>
            <a:r>
              <a:rPr b="1" lang="en-US"/>
              <a:t>grab Ai has a high potential &gt; useful? margin comparison using structural subsidies </a:t>
            </a:r>
            <a:endParaRPr/>
          </a:p>
          <a:p>
            <a:pPr indent="0" lvl="0" marL="0" rtl="0" algn="l">
              <a:lnSpc>
                <a:spcPct val="100000"/>
              </a:lnSpc>
              <a:spcBef>
                <a:spcPts val="0"/>
              </a:spcBef>
              <a:spcAft>
                <a:spcPts val="0"/>
              </a:spcAft>
              <a:buSzPts val="1400"/>
              <a:buNone/>
            </a:pPr>
            <a:r>
              <a:rPr b="1" lang="en-US"/>
              <a:t>grab cut subsidies due to AI.</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will the new ai tool outperform due to grab understanding AI better in the recent years?</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how well to control margin and how well did they use ai.</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grab ai is backed by government can use as base line</a:t>
            </a:r>
            <a:endParaRPr/>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t/>
            </a:r>
            <a:endParaRPr b="1"/>
          </a:p>
          <a:p>
            <a:pPr indent="0" lvl="0" marL="0" rtl="0" algn="l">
              <a:lnSpc>
                <a:spcPct val="100000"/>
              </a:lnSpc>
              <a:spcBef>
                <a:spcPts val="0"/>
              </a:spcBef>
              <a:spcAft>
                <a:spcPts val="0"/>
              </a:spcAft>
              <a:buSzPts val="1400"/>
              <a:buNone/>
            </a:pPr>
            <a:r>
              <a:rPr b="1" lang="en-US"/>
              <a:t>Core Thesis:</a:t>
            </a:r>
            <a:endParaRPr b="1"/>
          </a:p>
          <a:p>
            <a:pPr indent="0" lvl="0" marL="0" rtl="0" algn="l">
              <a:lnSpc>
                <a:spcPct val="100000"/>
              </a:lnSpc>
              <a:spcBef>
                <a:spcPts val="0"/>
              </a:spcBef>
              <a:spcAft>
                <a:spcPts val="0"/>
              </a:spcAft>
              <a:buSzPts val="1400"/>
              <a:buNone/>
            </a:pPr>
            <a:r>
              <a:rPr lang="en-US"/>
              <a:t>Grab’s rollout of agentic AI tools: the Driver Companion, AI Ride Guidance, and Merchant Assistant, represents a structural cost advantage.</a:t>
            </a:r>
            <a:endParaRPr/>
          </a:p>
          <a:p>
            <a:pPr indent="0" lvl="0" marL="0" rtl="0" algn="l">
              <a:lnSpc>
                <a:spcPct val="100000"/>
              </a:lnSpc>
              <a:spcBef>
                <a:spcPts val="0"/>
              </a:spcBef>
              <a:spcAft>
                <a:spcPts val="0"/>
              </a:spcAft>
              <a:buSzPts val="1400"/>
              <a:buNone/>
            </a:pPr>
            <a:r>
              <a:rPr lang="en-US"/>
              <a:t>By improving driver productivity and merchant efficiency, Grab can reduce reliance on subsidies, accelerate profitability, and unlock operating leverage.</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rgbClr val="000000"/>
              </a:buClr>
              <a:buSzPts val="1400"/>
              <a:buFont typeface="Arial"/>
              <a:buNone/>
            </a:pPr>
            <a:r>
              <a:rPr lang="en-US" sz="1200">
                <a:latin typeface="Proxima Nova"/>
                <a:ea typeface="Proxima Nova"/>
                <a:cs typeface="Proxima Nova"/>
                <a:sym typeface="Proxima Nova"/>
              </a:rPr>
              <a:t>Subsidies = the biggest drag on profitability in the early years.</a:t>
            </a:r>
            <a:endParaRPr/>
          </a:p>
          <a:p>
            <a:pPr indent="0" lvl="0" marL="0" marR="0" rtl="0" algn="l">
              <a:lnSpc>
                <a:spcPct val="100000"/>
              </a:lnSpc>
              <a:spcBef>
                <a:spcPts val="0"/>
              </a:spcBef>
              <a:spcAft>
                <a:spcPts val="0"/>
              </a:spcAft>
              <a:buClr>
                <a:srgbClr val="000000"/>
              </a:buClr>
              <a:buSzPts val="1400"/>
              <a:buFont typeface="Arial"/>
              <a:buNone/>
            </a:pPr>
            <a:r>
              <a:rPr b="0" lang="en-US" sz="1200">
                <a:latin typeface="Proxima Nova"/>
                <a:ea typeface="Proxima Nova"/>
                <a:cs typeface="Proxima Nova"/>
                <a:sym typeface="Proxima Nova"/>
              </a:rPr>
              <a:t>GMV = Gross Merchandise Value</a:t>
            </a:r>
            <a:endParaRPr/>
          </a:p>
        </p:txBody>
      </p:sp>
      <p:sp>
        <p:nvSpPr>
          <p:cNvPr id="263" name="Google Shape;263;p9: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dont need compare different stocks just compare why increase/decrease using f.s</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if this same thing were to happen again will grab be better or worse? main point of stock price movement</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how will they consistently </a:t>
            </a:r>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t/>
            </a:r>
            <a:endParaRPr b="0" i="0" sz="1200" u="none" cap="none" strike="noStrike">
              <a:solidFill>
                <a:schemeClr val="dk1"/>
              </a:solidFill>
              <a:latin typeface="Calibri"/>
              <a:ea typeface="Calibri"/>
              <a:cs typeface="Calibri"/>
              <a:sym typeface="Calibri"/>
            </a:endParaRPr>
          </a:p>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A </a:t>
            </a:r>
            <a:r>
              <a:rPr b="1" i="0" lang="en-US" sz="1200" u="none" cap="none" strike="noStrike">
                <a:solidFill>
                  <a:schemeClr val="dk1"/>
                </a:solidFill>
                <a:latin typeface="Calibri"/>
                <a:ea typeface="Calibri"/>
                <a:cs typeface="Calibri"/>
                <a:sym typeface="Calibri"/>
              </a:rPr>
              <a:t>SPAC merger</a:t>
            </a:r>
            <a:r>
              <a:rPr b="0" i="0" lang="en-US" sz="1200" u="none" cap="none" strike="noStrike">
                <a:solidFill>
                  <a:schemeClr val="dk1"/>
                </a:solidFill>
                <a:latin typeface="Calibri"/>
                <a:ea typeface="Calibri"/>
                <a:cs typeface="Calibri"/>
                <a:sym typeface="Calibri"/>
              </a:rPr>
              <a:t> is when a blank-check company (a SPAC, or </a:t>
            </a:r>
            <a:r>
              <a:rPr b="0" i="0" lang="en-US" sz="1200" u="sng" cap="none" strike="noStrike">
                <a:solidFill>
                  <a:schemeClr val="dk1"/>
                </a:solidFill>
                <a:latin typeface="Calibri"/>
                <a:ea typeface="Calibri"/>
                <a:cs typeface="Calibri"/>
                <a:sym typeface="Calibri"/>
                <a:hlinkClick r:id="rId2">
                  <a:extLst>
                    <a:ext uri="{A12FA001-AC4F-418D-AE19-62706E023703}">
                      <ahyp:hlinkClr val="tx"/>
                    </a:ext>
                  </a:extLst>
                </a:hlinkClick>
              </a:rPr>
              <a:t>Special Purpose Acquisition Company</a:t>
            </a:r>
            <a:r>
              <a:rPr b="0" i="0" lang="en-US" sz="1200" u="none" cap="none" strike="noStrike">
                <a:solidFill>
                  <a:schemeClr val="dk1"/>
                </a:solidFill>
                <a:latin typeface="Calibri"/>
                <a:ea typeface="Calibri"/>
                <a:cs typeface="Calibri"/>
                <a:sym typeface="Calibri"/>
              </a:rPr>
              <a:t>) acquires or merges with an existing private company, taking the private company public without the need for a traditional IPO process</a:t>
            </a:r>
            <a:endParaRPr/>
          </a:p>
        </p:txBody>
      </p:sp>
      <p:sp>
        <p:nvSpPr>
          <p:cNvPr id="301" name="Google Shape;301;p4: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comparables to calculate an avaerage or median to get grabs ebida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for VA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use relative , dcf </a:t>
            </a:r>
            <a:endParaRPr/>
          </a:p>
        </p:txBody>
      </p:sp>
      <p:sp>
        <p:nvSpPr>
          <p:cNvPr id="316" name="Google Shape;316;p6: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financials,ebitda,revenue use graph or tables too wordy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show key ratios or margin to tell people grab is not overly leveraged or grab is not doing so well but slowly become profitable.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Grab has transitioned from heavy cash burn to generating strong positive operating cash flow, backed by a robust balance sheet with ample liquidity</a:t>
            </a:r>
            <a:endParaRPr/>
          </a:p>
        </p:txBody>
      </p:sp>
      <p:sp>
        <p:nvSpPr>
          <p:cNvPr id="332" name="Google Shape;332;p3: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understand key potential risk and not just current risk.</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put severity of the risks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47" name="Google Shape;347;p21:notes"/>
          <p:cNvSpPr/>
          <p:nvPr>
            <p:ph idx="2" type="sldImg"/>
          </p:nvPr>
        </p:nvSpPr>
        <p:spPr>
          <a:xfrm>
            <a:off x="1200150" y="1143000"/>
            <a:ext cx="44577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8" name="Shape 18"/>
        <p:cNvGrpSpPr/>
        <p:nvPr/>
      </p:nvGrpSpPr>
      <p:grpSpPr>
        <a:xfrm>
          <a:off x="0" y="0"/>
          <a:ext cx="0" cy="0"/>
          <a:chOff x="0" y="0"/>
          <a:chExt cx="0" cy="0"/>
        </a:xfrm>
      </p:grpSpPr>
      <p:sp>
        <p:nvSpPr>
          <p:cNvPr id="19" name="Google Shape;19;p12"/>
          <p:cNvSpPr txBox="1"/>
          <p:nvPr>
            <p:ph type="ctrTitle"/>
          </p:nvPr>
        </p:nvSpPr>
        <p:spPr>
          <a:xfrm>
            <a:off x="288000" y="2819672"/>
            <a:ext cx="8875050" cy="590931"/>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2"/>
              </a:buClr>
              <a:buSzPts val="3200"/>
              <a:buFont typeface="Arial"/>
              <a:buNone/>
              <a:defRPr b="0" i="0" sz="32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 name="Google Shape;20;p12"/>
          <p:cNvSpPr txBox="1"/>
          <p:nvPr>
            <p:ph idx="1" type="subTitle"/>
          </p:nvPr>
        </p:nvSpPr>
        <p:spPr>
          <a:xfrm>
            <a:off x="288000" y="3502680"/>
            <a:ext cx="7252978" cy="30777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Proxima Nova"/>
                <a:ea typeface="Proxima Nova"/>
                <a:cs typeface="Proxima Nova"/>
                <a:sym typeface="Proxima Nova"/>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Proxima Nova"/>
                <a:ea typeface="Proxima Nova"/>
                <a:cs typeface="Proxima Nova"/>
                <a:sym typeface="Proxima Nova"/>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Proxima Nova"/>
                <a:ea typeface="Proxima Nova"/>
                <a:cs typeface="Proxima Nova"/>
                <a:sym typeface="Proxima Nova"/>
              </a:defRPr>
            </a:lvl9pPr>
          </a:lstStyle>
          <a:p/>
        </p:txBody>
      </p:sp>
      <p:cxnSp>
        <p:nvCxnSpPr>
          <p:cNvPr id="21" name="Google Shape;21;p12"/>
          <p:cNvCxnSpPr/>
          <p:nvPr/>
        </p:nvCxnSpPr>
        <p:spPr>
          <a:xfrm rot="10800000">
            <a:off x="288001" y="3410601"/>
            <a:ext cx="8496175" cy="0"/>
          </a:xfrm>
          <a:prstGeom prst="straightConnector1">
            <a:avLst/>
          </a:prstGeom>
          <a:noFill/>
          <a:ln cap="flat" cmpd="sng" w="28575">
            <a:solidFill>
              <a:schemeClr val="dk2"/>
            </a:solidFill>
            <a:prstDash val="solid"/>
            <a:miter lim="800000"/>
            <a:headEnd len="sm" w="sm" type="none"/>
            <a:tailEnd len="sm" w="sm" type="none"/>
          </a:ln>
        </p:spPr>
      </p:cxnSp>
      <p:sp>
        <p:nvSpPr>
          <p:cNvPr id="22" name="Google Shape;22;p12"/>
          <p:cNvSpPr txBox="1"/>
          <p:nvPr>
            <p:ph idx="2" type="body"/>
          </p:nvPr>
        </p:nvSpPr>
        <p:spPr>
          <a:xfrm>
            <a:off x="288001" y="3776442"/>
            <a:ext cx="5010443" cy="29046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F7F7F"/>
              </a:buClr>
              <a:buSzPts val="1100"/>
              <a:buFont typeface="Arial"/>
              <a:buNone/>
              <a:defRPr b="0" i="0" sz="1100" u="none" cap="none" strike="noStrike">
                <a:solidFill>
                  <a:srgbClr val="7F7F7F"/>
                </a:solidFill>
                <a:latin typeface="Proxima Nova"/>
                <a:ea typeface="Proxima Nova"/>
                <a:cs typeface="Proxima Nova"/>
                <a:sym typeface="Proxima Nov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sp>
        <p:nvSpPr>
          <p:cNvPr id="23" name="Google Shape;23;p12"/>
          <p:cNvSpPr txBox="1"/>
          <p:nvPr>
            <p:ph idx="11" type="ftr"/>
          </p:nvPr>
        </p:nvSpPr>
        <p:spPr>
          <a:xfrm>
            <a:off x="3281363" y="6336185"/>
            <a:ext cx="3343275" cy="21414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roxima Nova"/>
                <a:ea typeface="Proxima Nova"/>
                <a:cs typeface="Proxima Nova"/>
                <a:sym typeface="Proxima Nova"/>
              </a:defRPr>
            </a:lvl9pPr>
          </a:lstStyle>
          <a:p/>
        </p:txBody>
      </p:sp>
      <p:sp>
        <p:nvSpPr>
          <p:cNvPr id="24" name="Google Shape;24;p12"/>
          <p:cNvSpPr txBox="1"/>
          <p:nvPr>
            <p:ph idx="12" type="sldNum"/>
          </p:nvPr>
        </p:nvSpPr>
        <p:spPr>
          <a:xfrm>
            <a:off x="7605150" y="6336185"/>
            <a:ext cx="2228850"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25" name="Google Shape;25;p12"/>
          <p:cNvCxnSpPr/>
          <p:nvPr/>
        </p:nvCxnSpPr>
        <p:spPr>
          <a:xfrm rot="10800000">
            <a:off x="288001" y="3410601"/>
            <a:ext cx="8496175" cy="0"/>
          </a:xfrm>
          <a:prstGeom prst="straightConnector1">
            <a:avLst/>
          </a:prstGeom>
          <a:noFill/>
          <a:ln cap="flat" cmpd="sng" w="28575">
            <a:solidFill>
              <a:schemeClr val="dk2"/>
            </a:solidFill>
            <a:prstDash val="solid"/>
            <a:miter lim="800000"/>
            <a:headEnd len="sm" w="sm" type="none"/>
            <a:tailEnd len="sm" w="sm" type="none"/>
          </a:ln>
        </p:spPr>
      </p:cxnSp>
      <p:cxnSp>
        <p:nvCxnSpPr>
          <p:cNvPr id="26" name="Google Shape;26;p12"/>
          <p:cNvCxnSpPr/>
          <p:nvPr/>
        </p:nvCxnSpPr>
        <p:spPr>
          <a:xfrm rot="10800000">
            <a:off x="288001" y="3410601"/>
            <a:ext cx="8496175" cy="0"/>
          </a:xfrm>
          <a:prstGeom prst="straightConnector1">
            <a:avLst/>
          </a:prstGeom>
          <a:noFill/>
          <a:ln cap="flat" cmpd="sng" w="28575">
            <a:solidFill>
              <a:schemeClr val="dk2"/>
            </a:solidFill>
            <a:prstDash val="solid"/>
            <a:miter lim="800000"/>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27" name="Shape 27"/>
        <p:cNvGrpSpPr/>
        <p:nvPr/>
      </p:nvGrpSpPr>
      <p:grpSpPr>
        <a:xfrm>
          <a:off x="0" y="0"/>
          <a:ext cx="0" cy="0"/>
          <a:chOff x="0" y="0"/>
          <a:chExt cx="0" cy="0"/>
        </a:xfrm>
      </p:grpSpPr>
      <p:sp>
        <p:nvSpPr>
          <p:cNvPr id="28" name="Google Shape;28;p14"/>
          <p:cNvSpPr txBox="1"/>
          <p:nvPr>
            <p:ph idx="1" type="body"/>
          </p:nvPr>
        </p:nvSpPr>
        <p:spPr>
          <a:xfrm>
            <a:off x="288001" y="1871863"/>
            <a:ext cx="9330000" cy="4034850"/>
          </a:xfrm>
          <a:prstGeom prst="rect">
            <a:avLst/>
          </a:prstGeom>
          <a:noFill/>
          <a:ln>
            <a:noFill/>
          </a:ln>
        </p:spPr>
        <p:txBody>
          <a:bodyPr anchorCtr="0" anchor="t" bIns="45700" lIns="91425" spcFirstLastPara="1" rIns="91425" wrap="square" tIns="45700">
            <a:noAutofit/>
          </a:bodyPr>
          <a:lstStyle>
            <a:lvl1pPr indent="-292100" lvl="0" marL="457200" marR="0" rtl="0" algn="just">
              <a:lnSpc>
                <a:spcPct val="108000"/>
              </a:lnSpc>
              <a:spcBef>
                <a:spcPts val="0"/>
              </a:spcBef>
              <a:spcAft>
                <a:spcPts val="0"/>
              </a:spcAft>
              <a:buClr>
                <a:schemeClr val="dk1"/>
              </a:buClr>
              <a:buSzPts val="1000"/>
              <a:buFont typeface="Arial"/>
              <a:buChar char="•"/>
              <a:defRPr b="0" i="0" sz="1000" u="none" cap="none" strike="noStrike">
                <a:solidFill>
                  <a:schemeClr val="dk1"/>
                </a:solidFill>
                <a:latin typeface="Proxima Nova"/>
                <a:ea typeface="Proxima Nova"/>
                <a:cs typeface="Proxima Nova"/>
                <a:sym typeface="Proxima Nova"/>
              </a:defRPr>
            </a:lvl1pPr>
            <a:lvl2pPr indent="-292100" lvl="1" marL="914400" marR="0" rtl="0" algn="just">
              <a:lnSpc>
                <a:spcPct val="108000"/>
              </a:lnSpc>
              <a:spcBef>
                <a:spcPts val="600"/>
              </a:spcBef>
              <a:spcAft>
                <a:spcPts val="0"/>
              </a:spcAft>
              <a:buClr>
                <a:schemeClr val="dk1"/>
              </a:buClr>
              <a:buSzPts val="1000"/>
              <a:buFont typeface="Courier New"/>
              <a:buChar char="o"/>
              <a:defRPr b="0" i="0" sz="1000" u="none" cap="none" strike="noStrike">
                <a:solidFill>
                  <a:schemeClr val="dk1"/>
                </a:solidFill>
                <a:latin typeface="Proxima Nova"/>
                <a:ea typeface="Proxima Nova"/>
                <a:cs typeface="Proxima Nova"/>
                <a:sym typeface="Proxima Nova"/>
              </a:defRPr>
            </a:lvl2pPr>
            <a:lvl3pPr indent="-292100" lvl="2" marL="1371600" marR="0" rtl="0" algn="just">
              <a:lnSpc>
                <a:spcPct val="108000"/>
              </a:lnSpc>
              <a:spcBef>
                <a:spcPts val="600"/>
              </a:spcBef>
              <a:spcAft>
                <a:spcPts val="0"/>
              </a:spcAft>
              <a:buClr>
                <a:schemeClr val="dk1"/>
              </a:buClr>
              <a:buSzPts val="1000"/>
              <a:buFont typeface="Proxima Nova"/>
              <a:buChar char="⊲"/>
              <a:defRPr b="0" i="0" sz="1000" u="none" cap="none" strike="noStrike">
                <a:solidFill>
                  <a:schemeClr val="dk1"/>
                </a:solidFill>
                <a:latin typeface="Proxima Nova"/>
                <a:ea typeface="Proxima Nova"/>
                <a:cs typeface="Proxima Nova"/>
                <a:sym typeface="Proxima Nova"/>
              </a:defRPr>
            </a:lvl3pPr>
            <a:lvl4pPr indent="-292100" lvl="3" marL="1828800" marR="0" rtl="0" algn="just">
              <a:lnSpc>
                <a:spcPct val="108000"/>
              </a:lnSpc>
              <a:spcBef>
                <a:spcPts val="600"/>
              </a:spcBef>
              <a:spcAft>
                <a:spcPts val="0"/>
              </a:spcAft>
              <a:buClr>
                <a:schemeClr val="dk1"/>
              </a:buClr>
              <a:buSzPts val="1000"/>
              <a:buFont typeface="Noto Sans Symbols"/>
              <a:buChar char="⮚"/>
              <a:defRPr b="0" i="0" sz="1000" u="none" cap="none" strike="noStrike">
                <a:solidFill>
                  <a:schemeClr val="dk1"/>
                </a:solidFill>
                <a:latin typeface="Proxima Nova"/>
                <a:ea typeface="Proxima Nova"/>
                <a:cs typeface="Proxima Nova"/>
                <a:sym typeface="Proxima Nova"/>
              </a:defRPr>
            </a:lvl4pPr>
            <a:lvl5pPr indent="-292100" lvl="4" marL="2286000" marR="0" rtl="0" algn="just">
              <a:lnSpc>
                <a:spcPct val="108000"/>
              </a:lnSpc>
              <a:spcBef>
                <a:spcPts val="600"/>
              </a:spcBef>
              <a:spcAft>
                <a:spcPts val="0"/>
              </a:spcAft>
              <a:buClr>
                <a:schemeClr val="dk1"/>
              </a:buClr>
              <a:buSzPts val="1000"/>
              <a:buFont typeface="Noto Sans Symbols"/>
              <a:buChar char="▪"/>
              <a:defRPr b="0" i="0" sz="10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sp>
        <p:nvSpPr>
          <p:cNvPr id="29" name="Google Shape;29;p14"/>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30" name="Google Shape;30;p14"/>
          <p:cNvSpPr txBox="1"/>
          <p:nvPr>
            <p:ph idx="2" type="body"/>
          </p:nvPr>
        </p:nvSpPr>
        <p:spPr>
          <a:xfrm>
            <a:off x="286321" y="624691"/>
            <a:ext cx="9331076" cy="29046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sp>
        <p:nvSpPr>
          <p:cNvPr id="31" name="Google Shape;31;p14"/>
          <p:cNvSpPr txBox="1"/>
          <p:nvPr>
            <p:ph idx="3" type="body"/>
          </p:nvPr>
        </p:nvSpPr>
        <p:spPr>
          <a:xfrm>
            <a:off x="464354" y="6336185"/>
            <a:ext cx="7068793" cy="214145"/>
          </a:xfrm>
          <a:prstGeom prst="rect">
            <a:avLst/>
          </a:prstGeom>
          <a:noFill/>
          <a:ln>
            <a:noFill/>
          </a:ln>
        </p:spPr>
        <p:txBody>
          <a:bodyPr anchorCtr="0" anchor="t" bIns="45700" lIns="72000" spcFirstLastPara="1" rIns="91425" wrap="square" tIns="45700">
            <a:noAutofit/>
          </a:bodyPr>
          <a:lstStyle>
            <a:lvl1pPr indent="-228600" lvl="0" marL="457200" marR="0" rtl="0" algn="l">
              <a:lnSpc>
                <a:spcPct val="100000"/>
              </a:lnSpc>
              <a:spcBef>
                <a:spcPts val="0"/>
              </a:spcBef>
              <a:spcAft>
                <a:spcPts val="0"/>
              </a:spcAft>
              <a:buClr>
                <a:srgbClr val="7F7F7F"/>
              </a:buClr>
              <a:buSzPts val="800"/>
              <a:buFont typeface="Arial"/>
              <a:buNone/>
              <a:defRPr b="0" i="1" sz="800" u="none" cap="none" strike="noStrike">
                <a:solidFill>
                  <a:srgbClr val="7F7F7F"/>
                </a:solidFill>
                <a:latin typeface="Proxima Nova"/>
                <a:ea typeface="Proxima Nova"/>
                <a:cs typeface="Proxima Nova"/>
                <a:sym typeface="Proxima Nov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cxnSp>
        <p:nvCxnSpPr>
          <p:cNvPr id="32" name="Google Shape;32;p14"/>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sp>
        <p:nvSpPr>
          <p:cNvPr id="33" name="Google Shape;33;p14"/>
          <p:cNvSpPr txBox="1"/>
          <p:nvPr>
            <p:ph idx="4" type="body"/>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lvl1pPr indent="-292100" lvl="0" marL="457200" marR="0" rtl="0" algn="l">
              <a:lnSpc>
                <a:spcPct val="90000"/>
              </a:lnSpc>
              <a:spcBef>
                <a:spcPts val="1000"/>
              </a:spcBef>
              <a:spcAft>
                <a:spcPts val="0"/>
              </a:spcAft>
              <a:buClr>
                <a:schemeClr val="dk1"/>
              </a:buClr>
              <a:buSzPts val="1000"/>
              <a:buFont typeface="Arial"/>
              <a:buAutoNum type="romanUcPeriod"/>
              <a:defRPr b="0" i="0" sz="1000" u="none" cap="none" strike="noStrike">
                <a:solidFill>
                  <a:schemeClr val="dk1"/>
                </a:solidFill>
                <a:latin typeface="Proxima Nova"/>
                <a:ea typeface="Proxima Nova"/>
                <a:cs typeface="Proxima Nova"/>
                <a:sym typeface="Proxima Nova"/>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roxima Nova"/>
                <a:ea typeface="Proxima Nova"/>
                <a:cs typeface="Proxima Nova"/>
                <a:sym typeface="Proxima Nova"/>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roxima Nova"/>
                <a:ea typeface="Proxima Nova"/>
                <a:cs typeface="Proxima Nova"/>
                <a:sym typeface="Proxima Nova"/>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cxnSp>
        <p:nvCxnSpPr>
          <p:cNvPr id="34" name="Google Shape;34;p14"/>
          <p:cNvCxnSpPr/>
          <p:nvPr/>
        </p:nvCxnSpPr>
        <p:spPr>
          <a:xfrm rot="10800000">
            <a:off x="286800" y="6293113"/>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35" name="Google Shape;35;p14"/>
          <p:cNvSpPr/>
          <p:nvPr/>
        </p:nvSpPr>
        <p:spPr>
          <a:xfrm>
            <a:off x="286800" y="6287716"/>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36" name="Google Shape;36;p14"/>
          <p:cNvCxnSpPr/>
          <p:nvPr/>
        </p:nvCxnSpPr>
        <p:spPr>
          <a:xfrm rot="10800000">
            <a:off x="286197" y="556120"/>
            <a:ext cx="9331200"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37" name="Shape 37"/>
        <p:cNvGrpSpPr/>
        <p:nvPr/>
      </p:nvGrpSpPr>
      <p:grpSpPr>
        <a:xfrm>
          <a:off x="0" y="0"/>
          <a:ext cx="0" cy="0"/>
          <a:chOff x="0" y="0"/>
          <a:chExt cx="0" cy="0"/>
        </a:xfrm>
      </p:grpSpPr>
      <p:sp>
        <p:nvSpPr>
          <p:cNvPr id="38" name="Google Shape;38;p13"/>
          <p:cNvSpPr txBox="1"/>
          <p:nvPr>
            <p:ph idx="1" type="body"/>
          </p:nvPr>
        </p:nvSpPr>
        <p:spPr>
          <a:xfrm>
            <a:off x="288001" y="1572076"/>
            <a:ext cx="9330000" cy="4334639"/>
          </a:xfrm>
          <a:prstGeom prst="rect">
            <a:avLst/>
          </a:prstGeom>
          <a:noFill/>
          <a:ln>
            <a:noFill/>
          </a:ln>
        </p:spPr>
        <p:txBody>
          <a:bodyPr anchorCtr="0" anchor="t" bIns="45700" lIns="91425" spcFirstLastPara="1" rIns="91425" wrap="square" tIns="45700">
            <a:noAutofit/>
          </a:bodyPr>
          <a:lstStyle>
            <a:lvl1pPr indent="-292100" lvl="0" marL="457200" marR="0" rtl="0" algn="just">
              <a:lnSpc>
                <a:spcPct val="108000"/>
              </a:lnSpc>
              <a:spcBef>
                <a:spcPts val="0"/>
              </a:spcBef>
              <a:spcAft>
                <a:spcPts val="0"/>
              </a:spcAft>
              <a:buClr>
                <a:schemeClr val="dk1"/>
              </a:buClr>
              <a:buSzPts val="1000"/>
              <a:buFont typeface="Arial"/>
              <a:buChar char="•"/>
              <a:defRPr b="0" i="0" sz="1000" u="none" cap="none" strike="noStrike">
                <a:solidFill>
                  <a:schemeClr val="dk1"/>
                </a:solidFill>
                <a:latin typeface="Proxima Nova"/>
                <a:ea typeface="Proxima Nova"/>
                <a:cs typeface="Proxima Nova"/>
                <a:sym typeface="Proxima Nova"/>
              </a:defRPr>
            </a:lvl1pPr>
            <a:lvl2pPr indent="-292100" lvl="1" marL="914400" marR="0" rtl="0" algn="just">
              <a:lnSpc>
                <a:spcPct val="108000"/>
              </a:lnSpc>
              <a:spcBef>
                <a:spcPts val="600"/>
              </a:spcBef>
              <a:spcAft>
                <a:spcPts val="0"/>
              </a:spcAft>
              <a:buClr>
                <a:schemeClr val="dk1"/>
              </a:buClr>
              <a:buSzPts val="1000"/>
              <a:buFont typeface="Courier New"/>
              <a:buChar char="o"/>
              <a:defRPr b="0" i="0" sz="1000" u="none" cap="none" strike="noStrike">
                <a:solidFill>
                  <a:schemeClr val="dk1"/>
                </a:solidFill>
                <a:latin typeface="Proxima Nova"/>
                <a:ea typeface="Proxima Nova"/>
                <a:cs typeface="Proxima Nova"/>
                <a:sym typeface="Proxima Nova"/>
              </a:defRPr>
            </a:lvl2pPr>
            <a:lvl3pPr indent="-292100" lvl="2" marL="1371600" marR="0" rtl="0" algn="just">
              <a:lnSpc>
                <a:spcPct val="108000"/>
              </a:lnSpc>
              <a:spcBef>
                <a:spcPts val="600"/>
              </a:spcBef>
              <a:spcAft>
                <a:spcPts val="0"/>
              </a:spcAft>
              <a:buClr>
                <a:schemeClr val="dk1"/>
              </a:buClr>
              <a:buSzPts val="1000"/>
              <a:buFont typeface="Proxima Nova"/>
              <a:buChar char="⊲"/>
              <a:defRPr b="0" i="0" sz="1000" u="none" cap="none" strike="noStrike">
                <a:solidFill>
                  <a:schemeClr val="dk1"/>
                </a:solidFill>
                <a:latin typeface="Proxima Nova"/>
                <a:ea typeface="Proxima Nova"/>
                <a:cs typeface="Proxima Nova"/>
                <a:sym typeface="Proxima Nova"/>
              </a:defRPr>
            </a:lvl3pPr>
            <a:lvl4pPr indent="-292100" lvl="3" marL="1828800" marR="0" rtl="0" algn="just">
              <a:lnSpc>
                <a:spcPct val="108000"/>
              </a:lnSpc>
              <a:spcBef>
                <a:spcPts val="600"/>
              </a:spcBef>
              <a:spcAft>
                <a:spcPts val="0"/>
              </a:spcAft>
              <a:buClr>
                <a:schemeClr val="dk1"/>
              </a:buClr>
              <a:buSzPts val="1000"/>
              <a:buFont typeface="Noto Sans Symbols"/>
              <a:buChar char="⮚"/>
              <a:defRPr b="0" i="0" sz="1000" u="none" cap="none" strike="noStrike">
                <a:solidFill>
                  <a:schemeClr val="dk1"/>
                </a:solidFill>
                <a:latin typeface="Proxima Nova"/>
                <a:ea typeface="Proxima Nova"/>
                <a:cs typeface="Proxima Nova"/>
                <a:sym typeface="Proxima Nova"/>
              </a:defRPr>
            </a:lvl4pPr>
            <a:lvl5pPr indent="-292100" lvl="4" marL="2286000" marR="0" rtl="0" algn="just">
              <a:lnSpc>
                <a:spcPct val="108000"/>
              </a:lnSpc>
              <a:spcBef>
                <a:spcPts val="600"/>
              </a:spcBef>
              <a:spcAft>
                <a:spcPts val="0"/>
              </a:spcAft>
              <a:buClr>
                <a:schemeClr val="dk1"/>
              </a:buClr>
              <a:buSzPts val="1000"/>
              <a:buFont typeface="Noto Sans Symbols"/>
              <a:buChar char="▪"/>
              <a:defRPr b="0" i="0" sz="1000" u="none" cap="none" strike="noStrike">
                <a:solidFill>
                  <a:schemeClr val="dk1"/>
                </a:solidFill>
                <a:latin typeface="Proxima Nova"/>
                <a:ea typeface="Proxima Nova"/>
                <a:cs typeface="Proxima Nova"/>
                <a:sym typeface="Proxima Nova"/>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roxima Nova"/>
                <a:ea typeface="Proxima Nova"/>
                <a:cs typeface="Proxima Nova"/>
                <a:sym typeface="Proxima Nova"/>
              </a:defRPr>
            </a:lvl9pPr>
          </a:lstStyle>
          <a:p/>
        </p:txBody>
      </p:sp>
      <p:sp>
        <p:nvSpPr>
          <p:cNvPr id="39" name="Google Shape;39;p13"/>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40" name="Google Shape;40;p13"/>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41" name="Google Shape;41;p13"/>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42" name="Google Shape;42;p13"/>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sp>
        <p:nvSpPr>
          <p:cNvPr id="43" name="Google Shape;43;p13"/>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44" name="Google Shape;44;p13"/>
          <p:cNvSpPr txBox="1"/>
          <p:nvPr/>
        </p:nvSpPr>
        <p:spPr>
          <a:xfrm>
            <a:off x="287462" y="1209611"/>
            <a:ext cx="3320249" cy="2904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800"/>
              <a:buFont typeface="Arial"/>
              <a:buNone/>
            </a:pPr>
            <a:r>
              <a:rPr b="0" i="0" lang="en-US" sz="1800" u="none" cap="none" strike="noStrike">
                <a:solidFill>
                  <a:schemeClr val="dk2"/>
                </a:solidFill>
                <a:latin typeface="Arial"/>
                <a:ea typeface="Arial"/>
                <a:cs typeface="Arial"/>
                <a:sym typeface="Arial"/>
              </a:rPr>
              <a:t>To – Do List</a:t>
            </a:r>
            <a:endParaRPr b="0" i="0" sz="1400" u="none" cap="none" strike="noStrike">
              <a:solidFill>
                <a:srgbClr val="000000"/>
              </a:solidFill>
              <a:latin typeface="Arial"/>
              <a:ea typeface="Arial"/>
              <a:cs typeface="Arial"/>
              <a:sym typeface="Arial"/>
            </a:endParaRPr>
          </a:p>
        </p:txBody>
      </p:sp>
      <p:cxnSp>
        <p:nvCxnSpPr>
          <p:cNvPr id="45" name="Google Shape;45;p13"/>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46" name="Google Shape;46;p13"/>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47" name="Google Shape;47;p13"/>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48" name="Google Shape;48;p13"/>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49" name="Google Shape;49;p13"/>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w/ Client">
  <p:cSld name="Disclaimer w/ Client">
    <p:spTree>
      <p:nvGrpSpPr>
        <p:cNvPr id="50" name="Shape 50"/>
        <p:cNvGrpSpPr/>
        <p:nvPr/>
      </p:nvGrpSpPr>
      <p:grpSpPr>
        <a:xfrm>
          <a:off x="0" y="0"/>
          <a:ext cx="0" cy="0"/>
          <a:chOff x="0" y="0"/>
          <a:chExt cx="0" cy="0"/>
        </a:xfrm>
      </p:grpSpPr>
      <p:sp>
        <p:nvSpPr>
          <p:cNvPr id="51" name="Google Shape;51;p15"/>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52" name="Google Shape;52;p15"/>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53" name="Google Shape;53;p15"/>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54" name="Google Shape;54;p15"/>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sp>
        <p:nvSpPr>
          <p:cNvPr id="55" name="Google Shape;55;p15"/>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56" name="Google Shape;56;p15"/>
          <p:cNvSpPr txBox="1"/>
          <p:nvPr/>
        </p:nvSpPr>
        <p:spPr>
          <a:xfrm>
            <a:off x="287999" y="1572074"/>
            <a:ext cx="9329398" cy="218521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800"/>
              <a:buFont typeface="Arial"/>
              <a:buNone/>
            </a:pPr>
            <a:r>
              <a:rPr b="1" i="0" lang="en-US" sz="800" u="none" cap="none" strike="noStrike">
                <a:solidFill>
                  <a:schemeClr val="dk1"/>
                </a:solidFill>
                <a:latin typeface="Proxima Nova"/>
                <a:ea typeface="Proxima Nova"/>
                <a:cs typeface="Proxima Nova"/>
                <a:sym typeface="Proxima Nova"/>
              </a:rPr>
              <a:t>DISCLAIMER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Proxima Nova"/>
                <a:ea typeface="Proxima Nova"/>
                <a:cs typeface="Proxima Nova"/>
                <a:sym typeface="Proxima Nova"/>
              </a:rPr>
              <a:t>This presentation is prepared for information purposes only, without regard to the objectives, financial situation nor needs of any specific person. This presentation does not constitute or form any part of any offer for sale or subscription of, or solicitation of any offer to buy or subscribe for, any securities nor shall it or any part of it form the basis of, or be relied on in connection with, any contract or commitment whatsoever.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Proxima Nova"/>
                <a:ea typeface="Proxima Nova"/>
                <a:cs typeface="Proxima Nova"/>
                <a:sym typeface="Proxima Nova"/>
              </a:rPr>
              <a:t>This presentation was prepared exclusively for the parties presently being invited for the purposes of discussion. Neither this presentation nor any of its content may be distributed, reproduced, or used without the prior written consent of Oakwood &amp; Drehem Capital Pte Ltd (“Oakwood”). Oakwood does not make any representation or warranty, expressed or implied as to the accuracy of the information contained herein, and expressly disclaims any and all liability based, in whole or in part, on such information, errors therein or omissions therefrom.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t/>
            </a:r>
            <a:endParaRPr b="1" i="0" sz="800"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chemeClr val="dk1"/>
              </a:buClr>
              <a:buSzPts val="800"/>
              <a:buFont typeface="Arial"/>
              <a:buNone/>
            </a:pPr>
            <a:r>
              <a:rPr b="1" i="0" lang="en-US" sz="800" u="none" cap="none" strike="noStrike">
                <a:solidFill>
                  <a:schemeClr val="dk1"/>
                </a:solidFill>
                <a:latin typeface="Proxima Nova"/>
                <a:ea typeface="Proxima Nova"/>
                <a:cs typeface="Proxima Nova"/>
                <a:sym typeface="Proxima Nova"/>
              </a:rPr>
              <a:t>CONFIDENTIALITY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Proxima Nova"/>
                <a:ea typeface="Proxima Nova"/>
                <a:cs typeface="Proxima Nova"/>
                <a:sym typeface="Proxima Nova"/>
              </a:rPr>
              <a:t>This presentation is given to you on a confidential basis and solely for your information and must not be reproduced, disclosed, distributed or passed to any other person. No copy of this presentation shall be taken or transmitted to any country where distribution or dissemination of this presentation is prohibited. By accepting this presentation, you agree to be bound by the limitations and restrictions set out herein.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t/>
            </a:r>
            <a:endParaRPr b="1" i="0" sz="800"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chemeClr val="dk1"/>
              </a:buClr>
              <a:buSzPts val="800"/>
              <a:buFont typeface="Arial"/>
              <a:buNone/>
            </a:pPr>
            <a:r>
              <a:rPr b="1" i="0" lang="en-US" sz="800" u="none" cap="none" strike="noStrike">
                <a:solidFill>
                  <a:schemeClr val="dk1"/>
                </a:solidFill>
                <a:latin typeface="Proxima Nova"/>
                <a:ea typeface="Proxima Nova"/>
                <a:cs typeface="Proxima Nova"/>
                <a:sym typeface="Proxima Nova"/>
              </a:rPr>
              <a:t>NO REPRESENTATIONS AND WARRANTIES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rPr b="0" i="0" lang="en-US" sz="800" u="none" cap="none" strike="noStrike">
                <a:solidFill>
                  <a:schemeClr val="dk1"/>
                </a:solidFill>
                <a:latin typeface="Proxima Nova"/>
                <a:ea typeface="Proxima Nova"/>
                <a:cs typeface="Proxima Nova"/>
                <a:sym typeface="Proxima Nova"/>
              </a:rPr>
              <a:t>The opinions expressed are in good faith and while every care has been taken in preparing these documents, Oakwood makes no representations and gives no warranties of whatever nature in respect of these documents, including but not limited to the accuracy or completeness of any information, facts and/or opinions contained therein. Oakwood &amp; Drehem Capital, its associates and/or subsidiaries, the directors, employees and agents cannot be held liable for the use of and reliance of the opinions, estimates, forecasts and findings in these documents. </a:t>
            </a:r>
            <a:endParaRPr b="0" i="0" sz="1400" u="none" cap="none" strike="noStrike">
              <a:solidFill>
                <a:srgbClr val="000000"/>
              </a:solidFill>
              <a:latin typeface="Arial"/>
              <a:ea typeface="Arial"/>
              <a:cs typeface="Arial"/>
              <a:sym typeface="Arial"/>
            </a:endParaRPr>
          </a:p>
        </p:txBody>
      </p:sp>
      <p:sp>
        <p:nvSpPr>
          <p:cNvPr id="57" name="Google Shape;57;p15"/>
          <p:cNvSpPr txBox="1"/>
          <p:nvPr/>
        </p:nvSpPr>
        <p:spPr>
          <a:xfrm>
            <a:off x="287462" y="1209611"/>
            <a:ext cx="3320249" cy="2904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800"/>
              <a:buFont typeface="Arial"/>
              <a:buNone/>
            </a:pPr>
            <a:r>
              <a:rPr b="0" i="0" lang="en-US" sz="1800" u="none" cap="none" strike="noStrike">
                <a:solidFill>
                  <a:schemeClr val="dk2"/>
                </a:solidFill>
                <a:latin typeface="Arial"/>
                <a:ea typeface="Arial"/>
                <a:cs typeface="Arial"/>
                <a:sym typeface="Arial"/>
              </a:rPr>
              <a:t>Important Notice</a:t>
            </a:r>
            <a:endParaRPr b="0" i="0" sz="1400" u="none" cap="none" strike="noStrike">
              <a:solidFill>
                <a:srgbClr val="000000"/>
              </a:solidFill>
              <a:latin typeface="Arial"/>
              <a:ea typeface="Arial"/>
              <a:cs typeface="Arial"/>
              <a:sym typeface="Arial"/>
            </a:endParaRPr>
          </a:p>
        </p:txBody>
      </p:sp>
      <p:sp>
        <p:nvSpPr>
          <p:cNvPr id="58" name="Google Shape;58;p15"/>
          <p:cNvSpPr txBox="1"/>
          <p:nvPr/>
        </p:nvSpPr>
        <p:spPr>
          <a:xfrm>
            <a:off x="286800" y="284205"/>
            <a:ext cx="332024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roxima Nova"/>
                <a:ea typeface="Proxima Nova"/>
                <a:cs typeface="Proxima Nova"/>
                <a:sym typeface="Proxima Nova"/>
              </a:rPr>
              <a:t>LEGAL DISCLAIMER</a:t>
            </a:r>
            <a:endParaRPr b="0" i="0" sz="1400" u="none" cap="none" strike="noStrike">
              <a:solidFill>
                <a:srgbClr val="000000"/>
              </a:solidFill>
              <a:latin typeface="Arial"/>
              <a:ea typeface="Arial"/>
              <a:cs typeface="Arial"/>
              <a:sym typeface="Arial"/>
            </a:endParaRPr>
          </a:p>
        </p:txBody>
      </p:sp>
      <p:cxnSp>
        <p:nvCxnSpPr>
          <p:cNvPr id="59" name="Google Shape;59;p15"/>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60" name="Google Shape;60;p15"/>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61" name="Google Shape;61;p15"/>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62" name="Google Shape;62;p15"/>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63" name="Google Shape;63;p15"/>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64" name="Google Shape;64;p15"/>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65" name="Google Shape;65;p15"/>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w/out Client">
  <p:cSld name="Disclaimer w/out Client">
    <p:spTree>
      <p:nvGrpSpPr>
        <p:cNvPr id="66" name="Shape 66"/>
        <p:cNvGrpSpPr/>
        <p:nvPr/>
      </p:nvGrpSpPr>
      <p:grpSpPr>
        <a:xfrm>
          <a:off x="0" y="0"/>
          <a:ext cx="0" cy="0"/>
          <a:chOff x="0" y="0"/>
          <a:chExt cx="0" cy="0"/>
        </a:xfrm>
      </p:grpSpPr>
      <p:sp>
        <p:nvSpPr>
          <p:cNvPr id="67" name="Google Shape;67;p16"/>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68" name="Google Shape;68;p16"/>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69" name="Google Shape;69;p16"/>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70" name="Google Shape;70;p16"/>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sp>
        <p:nvSpPr>
          <p:cNvPr id="71" name="Google Shape;71;p16"/>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72" name="Google Shape;72;p16"/>
          <p:cNvSpPr txBox="1"/>
          <p:nvPr/>
        </p:nvSpPr>
        <p:spPr>
          <a:xfrm>
            <a:off x="287999" y="1572074"/>
            <a:ext cx="9329398" cy="283154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889"/>
              <a:buFont typeface="Arial"/>
              <a:buNone/>
            </a:pPr>
            <a:r>
              <a:rPr b="1" i="0" lang="en-US" sz="889" u="none" cap="none" strike="noStrike">
                <a:solidFill>
                  <a:schemeClr val="dk1"/>
                </a:solidFill>
                <a:latin typeface="Proxima Nova"/>
                <a:ea typeface="Proxima Nova"/>
                <a:cs typeface="Proxima Nova"/>
                <a:sym typeface="Proxima Nova"/>
              </a:rPr>
              <a:t>DISCLAIMER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rPr b="0" i="0" lang="en-US" sz="889" u="none" cap="none" strike="noStrike">
                <a:solidFill>
                  <a:schemeClr val="dk1"/>
                </a:solidFill>
                <a:latin typeface="Proxima Nova"/>
                <a:ea typeface="Proxima Nova"/>
                <a:cs typeface="Proxima Nova"/>
                <a:sym typeface="Proxima Nova"/>
              </a:rPr>
              <a:t>This presentation is prepared for information purposes only, without regard to the objectives, financial situation nor needs of any specific person. This presentation does not constitute or form any part of any offer for sale or subscription of, or solicitation of any offer to buy or subscribe for, any securities nor shall it or any part of it form the basis of, or be relied on in connection with, any contract or commitment whatsoever.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t/>
            </a:r>
            <a:endParaRPr b="0" i="0" sz="889"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rgbClr val="000000"/>
              </a:buClr>
              <a:buSzPts val="889"/>
              <a:buFont typeface="Arial"/>
              <a:buNone/>
            </a:pPr>
            <a:r>
              <a:rPr b="0" i="0" lang="en-US" sz="889" u="none" cap="none" strike="noStrike">
                <a:solidFill>
                  <a:schemeClr val="dk1"/>
                </a:solidFill>
                <a:latin typeface="Proxima Nova"/>
                <a:ea typeface="Proxima Nova"/>
                <a:cs typeface="Proxima Nova"/>
                <a:sym typeface="Proxima Nova"/>
              </a:rPr>
              <a:t>This presentation was prepared exclusively for the parties presently being invited for the purposes of discussion. Neither this presentation nor any of its content may be distributed, reproduced, or used without the prior written consent of Oakwood &amp; Drehem Capital Pte Ltd (“Oakwood”). Oakwood does not make any representation or warranty, expressed or implied as to the accuracy of the information contained herein, and expressly disclaims any and all liability based, in whole or in part, on such information, errors therein or omissions therefrom.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t/>
            </a:r>
            <a:endParaRPr b="1" i="0" sz="889"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rgbClr val="000000"/>
              </a:buClr>
              <a:buSzPts val="889"/>
              <a:buFont typeface="Arial"/>
              <a:buNone/>
            </a:pPr>
            <a:r>
              <a:rPr b="1" i="0" lang="en-US" sz="889" u="none" cap="none" strike="noStrike">
                <a:solidFill>
                  <a:schemeClr val="dk1"/>
                </a:solidFill>
                <a:latin typeface="Proxima Nova"/>
                <a:ea typeface="Proxima Nova"/>
                <a:cs typeface="Proxima Nova"/>
                <a:sym typeface="Proxima Nova"/>
              </a:rPr>
              <a:t>CONFIDENTIALITY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rPr b="0" i="0" lang="en-US" sz="889" u="none" cap="none" strike="noStrike">
                <a:solidFill>
                  <a:schemeClr val="dk1"/>
                </a:solidFill>
                <a:latin typeface="Proxima Nova"/>
                <a:ea typeface="Proxima Nova"/>
                <a:cs typeface="Proxima Nova"/>
                <a:sym typeface="Proxima Nova"/>
              </a:rPr>
              <a:t>This presentation is given to you on a confidential basis and solely for your information and must not be reproduced, disclosed, distributed or passed to any other person. No copy of this presentation shall be taken or transmitted to any country where distribution or dissemination of this presentation is prohibited. By accepting this presentation, you agree to be bound by the limitations and restrictions set out herein.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t/>
            </a:r>
            <a:endParaRPr b="1" i="0" sz="889"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rgbClr val="000000"/>
              </a:buClr>
              <a:buSzPts val="889"/>
              <a:buFont typeface="Arial"/>
              <a:buNone/>
            </a:pPr>
            <a:r>
              <a:rPr b="1" i="0" lang="en-US" sz="889" u="none" cap="none" strike="noStrike">
                <a:solidFill>
                  <a:schemeClr val="dk1"/>
                </a:solidFill>
                <a:latin typeface="Proxima Nova"/>
                <a:ea typeface="Proxima Nova"/>
                <a:cs typeface="Proxima Nova"/>
                <a:sym typeface="Proxima Nova"/>
              </a:rPr>
              <a:t>NO REPRESENTATIONS AND WARRANTIES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889"/>
              <a:buFont typeface="Arial"/>
              <a:buNone/>
            </a:pPr>
            <a:r>
              <a:rPr b="0" i="0" lang="en-US" sz="889" u="none" cap="none" strike="noStrike">
                <a:solidFill>
                  <a:schemeClr val="dk1"/>
                </a:solidFill>
                <a:latin typeface="Proxima Nova"/>
                <a:ea typeface="Proxima Nova"/>
                <a:cs typeface="Proxima Nova"/>
                <a:sym typeface="Proxima Nova"/>
              </a:rPr>
              <a:t>The opinions expressed are in good faith and while every care has been taken in preparing these documents, Oakwood makes no representations and gives no warranties of whatever nature in respect of these documents, including but not limited to the accuracy or completeness of any information, facts and/or opinions contained therein. Oakwood &amp; Drehem Capital, its associates and/or subsidiaries, the directors, employees and agents cannot be held liable for the use of and reliance of the opinions, estimates, forecasts and findings in these documents. </a:t>
            </a:r>
            <a:endParaRPr b="0" i="0" sz="1400" u="none" cap="none" strike="noStrike">
              <a:solidFill>
                <a:srgbClr val="000000"/>
              </a:solidFill>
              <a:latin typeface="Arial"/>
              <a:ea typeface="Arial"/>
              <a:cs typeface="Arial"/>
              <a:sym typeface="Arial"/>
            </a:endParaRPr>
          </a:p>
        </p:txBody>
      </p:sp>
      <p:sp>
        <p:nvSpPr>
          <p:cNvPr id="73" name="Google Shape;73;p16"/>
          <p:cNvSpPr txBox="1"/>
          <p:nvPr/>
        </p:nvSpPr>
        <p:spPr>
          <a:xfrm>
            <a:off x="287462" y="1209611"/>
            <a:ext cx="3320249" cy="2904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800"/>
              <a:buFont typeface="Arial"/>
              <a:buNone/>
            </a:pPr>
            <a:r>
              <a:rPr b="0" i="0" lang="en-US" sz="1800" u="none" cap="none" strike="noStrike">
                <a:solidFill>
                  <a:schemeClr val="dk2"/>
                </a:solidFill>
                <a:latin typeface="Arial"/>
                <a:ea typeface="Arial"/>
                <a:cs typeface="Arial"/>
                <a:sym typeface="Arial"/>
              </a:rPr>
              <a:t>Important Notice</a:t>
            </a:r>
            <a:endParaRPr b="0" i="0" sz="1400" u="none" cap="none" strike="noStrike">
              <a:solidFill>
                <a:srgbClr val="000000"/>
              </a:solidFill>
              <a:latin typeface="Arial"/>
              <a:ea typeface="Arial"/>
              <a:cs typeface="Arial"/>
              <a:sym typeface="Arial"/>
            </a:endParaRPr>
          </a:p>
        </p:txBody>
      </p:sp>
      <p:sp>
        <p:nvSpPr>
          <p:cNvPr id="74" name="Google Shape;74;p16"/>
          <p:cNvSpPr txBox="1"/>
          <p:nvPr/>
        </p:nvSpPr>
        <p:spPr>
          <a:xfrm>
            <a:off x="286800" y="284205"/>
            <a:ext cx="332024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roxima Nova"/>
                <a:ea typeface="Proxima Nova"/>
                <a:cs typeface="Proxima Nova"/>
                <a:sym typeface="Proxima Nova"/>
              </a:rPr>
              <a:t>LEGAL DISCLAIMER</a:t>
            </a:r>
            <a:endParaRPr b="0" i="0" sz="1400" u="none" cap="none" strike="noStrike">
              <a:solidFill>
                <a:srgbClr val="000000"/>
              </a:solidFill>
              <a:latin typeface="Arial"/>
              <a:ea typeface="Arial"/>
              <a:cs typeface="Arial"/>
              <a:sym typeface="Arial"/>
            </a:endParaRPr>
          </a:p>
        </p:txBody>
      </p:sp>
      <p:cxnSp>
        <p:nvCxnSpPr>
          <p:cNvPr id="75" name="Google Shape;75;p16"/>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76" name="Google Shape;76;p16"/>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77" name="Google Shape;77;p16"/>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78" name="Google Shape;78;p16"/>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79" name="Google Shape;79;p16"/>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80" name="Google Shape;80;p16"/>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81" name="Google Shape;81;p16"/>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Section">
  <p:cSld name="New Section">
    <p:spTree>
      <p:nvGrpSpPr>
        <p:cNvPr id="82" name="Shape 82"/>
        <p:cNvGrpSpPr/>
        <p:nvPr/>
      </p:nvGrpSpPr>
      <p:grpSpPr>
        <a:xfrm>
          <a:off x="0" y="0"/>
          <a:ext cx="0" cy="0"/>
          <a:chOff x="0" y="0"/>
          <a:chExt cx="0" cy="0"/>
        </a:xfrm>
      </p:grpSpPr>
      <p:sp>
        <p:nvSpPr>
          <p:cNvPr id="83" name="Google Shape;83;p17"/>
          <p:cNvSpPr txBox="1"/>
          <p:nvPr>
            <p:ph type="ctrTitle"/>
          </p:nvPr>
        </p:nvSpPr>
        <p:spPr>
          <a:xfrm>
            <a:off x="905522" y="2819672"/>
            <a:ext cx="7634203" cy="590931"/>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2"/>
              </a:buClr>
              <a:buSzPts val="2000"/>
              <a:buFont typeface="Arial"/>
              <a:buAutoNum type="romanUcPeriod"/>
              <a:defRPr b="0" i="0" sz="20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cxnSp>
        <p:nvCxnSpPr>
          <p:cNvPr id="84" name="Google Shape;84;p17"/>
          <p:cNvCxnSpPr/>
          <p:nvPr/>
        </p:nvCxnSpPr>
        <p:spPr>
          <a:xfrm rot="10800000">
            <a:off x="287400" y="3410601"/>
            <a:ext cx="8712000" cy="0"/>
          </a:xfrm>
          <a:prstGeom prst="straightConnector1">
            <a:avLst/>
          </a:prstGeom>
          <a:noFill/>
          <a:ln cap="flat" cmpd="sng" w="28575">
            <a:solidFill>
              <a:schemeClr val="dk2"/>
            </a:solidFill>
            <a:prstDash val="solid"/>
            <a:miter lim="800000"/>
            <a:headEnd len="sm" w="sm" type="none"/>
            <a:tailEnd len="sm" w="sm" type="none"/>
          </a:ln>
        </p:spPr>
      </p:cxnSp>
      <p:sp>
        <p:nvSpPr>
          <p:cNvPr id="85" name="Google Shape;85;p17"/>
          <p:cNvSpPr/>
          <p:nvPr/>
        </p:nvSpPr>
        <p:spPr>
          <a:xfrm>
            <a:off x="287400" y="2820201"/>
            <a:ext cx="518550" cy="590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86" name="Google Shape;86;p17"/>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87" name="Google Shape;87;p17"/>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cxnSp>
        <p:nvCxnSpPr>
          <p:cNvPr id="88" name="Google Shape;88;p17"/>
          <p:cNvCxnSpPr/>
          <p:nvPr/>
        </p:nvCxnSpPr>
        <p:spPr>
          <a:xfrm rot="10800000">
            <a:off x="287400" y="3410601"/>
            <a:ext cx="8712000" cy="0"/>
          </a:xfrm>
          <a:prstGeom prst="straightConnector1">
            <a:avLst/>
          </a:prstGeom>
          <a:noFill/>
          <a:ln cap="flat" cmpd="sng" w="28575">
            <a:solidFill>
              <a:schemeClr val="dk2"/>
            </a:solidFill>
            <a:prstDash val="solid"/>
            <a:miter lim="800000"/>
            <a:headEnd len="sm" w="sm" type="none"/>
            <a:tailEnd len="sm" w="sm" type="none"/>
          </a:ln>
        </p:spPr>
      </p:cxnSp>
      <p:sp>
        <p:nvSpPr>
          <p:cNvPr id="89" name="Google Shape;89;p17"/>
          <p:cNvSpPr/>
          <p:nvPr/>
        </p:nvSpPr>
        <p:spPr>
          <a:xfrm>
            <a:off x="287400" y="2820201"/>
            <a:ext cx="518550" cy="590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quiries">
  <p:cSld name="Enquiries">
    <p:spTree>
      <p:nvGrpSpPr>
        <p:cNvPr id="90" name="Shape 90"/>
        <p:cNvGrpSpPr/>
        <p:nvPr/>
      </p:nvGrpSpPr>
      <p:grpSpPr>
        <a:xfrm>
          <a:off x="0" y="0"/>
          <a:ext cx="0" cy="0"/>
          <a:chOff x="0" y="0"/>
          <a:chExt cx="0" cy="0"/>
        </a:xfrm>
      </p:grpSpPr>
      <p:sp>
        <p:nvSpPr>
          <p:cNvPr id="91" name="Google Shape;91;p18"/>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cxnSp>
        <p:nvCxnSpPr>
          <p:cNvPr id="92" name="Google Shape;92;p18"/>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93" name="Google Shape;93;p18"/>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94" name="Google Shape;94;p18"/>
          <p:cNvCxnSpPr/>
          <p:nvPr/>
        </p:nvCxnSpPr>
        <p:spPr>
          <a:xfrm>
            <a:off x="9617397" y="6336183"/>
            <a:ext cx="0" cy="216000"/>
          </a:xfrm>
          <a:prstGeom prst="straightConnector1">
            <a:avLst/>
          </a:prstGeom>
          <a:noFill/>
          <a:ln cap="flat" cmpd="sng" w="19050">
            <a:solidFill>
              <a:schemeClr val="dk2"/>
            </a:solidFill>
            <a:prstDash val="solid"/>
            <a:miter lim="800000"/>
            <a:headEnd len="sm" w="sm" type="none"/>
            <a:tailEnd len="sm" w="sm" type="none"/>
          </a:ln>
        </p:spPr>
      </p:cxnSp>
      <p:sp>
        <p:nvSpPr>
          <p:cNvPr id="95" name="Google Shape;95;p18"/>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96" name="Google Shape;96;p18"/>
          <p:cNvSpPr txBox="1"/>
          <p:nvPr/>
        </p:nvSpPr>
        <p:spPr>
          <a:xfrm>
            <a:off x="286800" y="284205"/>
            <a:ext cx="332024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roxima Nova"/>
                <a:ea typeface="Proxima Nova"/>
                <a:cs typeface="Proxima Nova"/>
                <a:sym typeface="Proxima Nova"/>
              </a:rPr>
              <a:t>CONTACT US</a:t>
            </a:r>
            <a:endParaRPr b="0" i="0" sz="1400" u="none" cap="none" strike="noStrike">
              <a:solidFill>
                <a:srgbClr val="000000"/>
              </a:solidFill>
              <a:latin typeface="Arial"/>
              <a:ea typeface="Arial"/>
              <a:cs typeface="Arial"/>
              <a:sym typeface="Arial"/>
            </a:endParaRPr>
          </a:p>
        </p:txBody>
      </p:sp>
      <p:sp>
        <p:nvSpPr>
          <p:cNvPr id="97" name="Google Shape;97;p18"/>
          <p:cNvSpPr txBox="1"/>
          <p:nvPr/>
        </p:nvSpPr>
        <p:spPr>
          <a:xfrm>
            <a:off x="287462" y="1209611"/>
            <a:ext cx="3320249" cy="29046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800"/>
              <a:buFont typeface="Arial"/>
              <a:buNone/>
            </a:pPr>
            <a:r>
              <a:rPr b="0" i="0" lang="en-US" sz="1800" u="none" cap="none" strike="noStrike">
                <a:solidFill>
                  <a:schemeClr val="dk2"/>
                </a:solidFill>
                <a:latin typeface="Arial"/>
                <a:ea typeface="Arial"/>
                <a:cs typeface="Arial"/>
                <a:sym typeface="Arial"/>
              </a:rPr>
              <a:t>Enquiries</a:t>
            </a:r>
            <a:endParaRPr b="0" i="0" sz="1400" u="none" cap="none" strike="noStrike">
              <a:solidFill>
                <a:srgbClr val="000000"/>
              </a:solidFill>
              <a:latin typeface="Arial"/>
              <a:ea typeface="Arial"/>
              <a:cs typeface="Arial"/>
              <a:sym typeface="Arial"/>
            </a:endParaRPr>
          </a:p>
        </p:txBody>
      </p:sp>
      <p:sp>
        <p:nvSpPr>
          <p:cNvPr id="98" name="Google Shape;98;p18"/>
          <p:cNvSpPr txBox="1"/>
          <p:nvPr/>
        </p:nvSpPr>
        <p:spPr>
          <a:xfrm>
            <a:off x="288000" y="1572074"/>
            <a:ext cx="4259538" cy="293926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Proxima Nova"/>
                <a:ea typeface="Proxima Nova"/>
                <a:cs typeface="Proxima Nova"/>
                <a:sym typeface="Proxima Nova"/>
              </a:rPr>
              <a:t>Contact Us: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Proxima Nova"/>
                <a:ea typeface="Proxima Nova"/>
                <a:cs typeface="Proxima Nova"/>
                <a:sym typeface="Proxima Nova"/>
              </a:rPr>
              <a:t>enquiries@oakwoodgrp.com</a:t>
            </a:r>
            <a:endParaRPr b="1" i="0" sz="1000"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chemeClr val="dk1"/>
              </a:buClr>
              <a:buSzPts val="1000"/>
              <a:buFont typeface="Arial"/>
              <a:buNone/>
            </a:pPr>
            <a:r>
              <a:t/>
            </a:r>
            <a:endParaRPr b="1" i="0" sz="1000"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Proxima Nova"/>
                <a:ea typeface="Proxima Nova"/>
                <a:cs typeface="Proxima Nova"/>
                <a:sym typeface="Proxima Nova"/>
              </a:rPr>
              <a:t>Singapore Office: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Proxima Nova"/>
                <a:ea typeface="Proxima Nova"/>
                <a:cs typeface="Proxima Nova"/>
                <a:sym typeface="Proxima Nova"/>
              </a:rPr>
              <a:t>Located in the vibrant city-state of Singapore, Oakwood &amp; Drehem Capital operates from our headquarters in this dynamic financial hub. Our singular focus is on serving our clients with excellence and providing them with exceptional financial services.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600"/>
              </a:spcBef>
              <a:spcAft>
                <a:spcPts val="0"/>
              </a:spcAft>
              <a:buClr>
                <a:schemeClr val="dk1"/>
              </a:buClr>
              <a:buSzPts val="1000"/>
              <a:buFont typeface="Arial"/>
              <a:buNone/>
            </a:pPr>
            <a:r>
              <a:rPr b="0" i="0" lang="en-US" sz="1000" u="none" cap="none" strike="noStrike">
                <a:solidFill>
                  <a:schemeClr val="dk1"/>
                </a:solidFill>
                <a:latin typeface="Proxima Nova"/>
                <a:ea typeface="Proxima Nova"/>
                <a:cs typeface="Proxima Nova"/>
                <a:sym typeface="Proxima Nova"/>
              </a:rPr>
              <a:t>We leverage the city's robust infrastructure, diverse talent pool, and thriving business environment to deliver tailored solutions to our clients' unique needs. Our local presence allows us to stay closely connected to the pulse of the financial industry in Singapore and provide timely and reliable support.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Proxima Nova"/>
              <a:ea typeface="Proxima Nova"/>
              <a:cs typeface="Proxima Nova"/>
              <a:sym typeface="Proxima Nova"/>
            </a:endParaRPr>
          </a:p>
          <a:p>
            <a:pPr indent="0" lvl="0" marL="0" marR="0" rtl="0" algn="just">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Proxima Nova"/>
                <a:ea typeface="Proxima Nova"/>
                <a:cs typeface="Proxima Nova"/>
                <a:sym typeface="Proxima Nova"/>
              </a:rPr>
              <a:t>Address: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2"/>
              </a:buClr>
              <a:buSzPts val="1000"/>
              <a:buFont typeface="Arial"/>
              <a:buNone/>
            </a:pPr>
            <a:r>
              <a:rPr b="1" i="0" lang="en-US" sz="1000" u="none" cap="none" strike="noStrike">
                <a:solidFill>
                  <a:schemeClr val="dk2"/>
                </a:solidFill>
                <a:latin typeface="Proxima Nova"/>
                <a:ea typeface="Proxima Nova"/>
                <a:cs typeface="Proxima Nova"/>
                <a:sym typeface="Proxima Nova"/>
              </a:rPr>
              <a:t>Oakwood &amp; Drehem Capital Pte. Ltd.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Proxima Nova"/>
                <a:ea typeface="Proxima Nova"/>
                <a:cs typeface="Proxima Nova"/>
                <a:sym typeface="Proxima Nova"/>
              </a:rPr>
              <a:t>Capital Tower, Level 20</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Proxima Nova"/>
                <a:ea typeface="Proxima Nova"/>
                <a:cs typeface="Proxima Nova"/>
                <a:sym typeface="Proxima Nova"/>
              </a:rPr>
              <a:t>168 Robinson Road, Singapore 068912</a:t>
            </a:r>
            <a:endParaRPr b="0" i="0" sz="1400" u="none" cap="none" strike="noStrike">
              <a:solidFill>
                <a:srgbClr val="000000"/>
              </a:solidFill>
              <a:latin typeface="Arial"/>
              <a:ea typeface="Arial"/>
              <a:cs typeface="Arial"/>
              <a:sym typeface="Arial"/>
            </a:endParaRPr>
          </a:p>
        </p:txBody>
      </p:sp>
      <p:grpSp>
        <p:nvGrpSpPr>
          <p:cNvPr id="99" name="Google Shape;99;p18"/>
          <p:cNvGrpSpPr/>
          <p:nvPr/>
        </p:nvGrpSpPr>
        <p:grpSpPr>
          <a:xfrm>
            <a:off x="4583035" y="1572074"/>
            <a:ext cx="5034965" cy="4334640"/>
            <a:chOff x="1120181" y="3860464"/>
            <a:chExt cx="4035007" cy="3473774"/>
          </a:xfrm>
        </p:grpSpPr>
        <p:grpSp>
          <p:nvGrpSpPr>
            <p:cNvPr id="100" name="Google Shape;100;p18"/>
            <p:cNvGrpSpPr/>
            <p:nvPr/>
          </p:nvGrpSpPr>
          <p:grpSpPr>
            <a:xfrm>
              <a:off x="1408252" y="4299009"/>
              <a:ext cx="2439863" cy="3035229"/>
              <a:chOff x="1604653" y="3446531"/>
              <a:chExt cx="3287561" cy="4089780"/>
            </a:xfrm>
          </p:grpSpPr>
          <p:sp>
            <p:nvSpPr>
              <p:cNvPr id="101" name="Google Shape;101;p18"/>
              <p:cNvSpPr/>
              <p:nvPr/>
            </p:nvSpPr>
            <p:spPr>
              <a:xfrm>
                <a:off x="1604653" y="3446531"/>
                <a:ext cx="3287561" cy="1632843"/>
              </a:xfrm>
              <a:custGeom>
                <a:rect b="b" l="l" r="r" t="t"/>
                <a:pathLst>
                  <a:path extrusionOk="0" h="20000" w="20000">
                    <a:moveTo>
                      <a:pt x="138" y="7702"/>
                    </a:moveTo>
                    <a:lnTo>
                      <a:pt x="192" y="7702"/>
                    </a:lnTo>
                    <a:lnTo>
                      <a:pt x="259" y="7702"/>
                    </a:lnTo>
                    <a:lnTo>
                      <a:pt x="226" y="7661"/>
                    </a:lnTo>
                    <a:lnTo>
                      <a:pt x="488" y="7661"/>
                    </a:lnTo>
                    <a:lnTo>
                      <a:pt x="401" y="7702"/>
                    </a:lnTo>
                    <a:lnTo>
                      <a:pt x="542" y="7771"/>
                    </a:lnTo>
                    <a:lnTo>
                      <a:pt x="542" y="7948"/>
                    </a:lnTo>
                    <a:lnTo>
                      <a:pt x="556" y="7812"/>
                    </a:lnTo>
                    <a:lnTo>
                      <a:pt x="785" y="7812"/>
                    </a:lnTo>
                    <a:lnTo>
                      <a:pt x="1377" y="8262"/>
                    </a:lnTo>
                    <a:lnTo>
                      <a:pt x="1603" y="8692"/>
                    </a:lnTo>
                    <a:lnTo>
                      <a:pt x="1465" y="9082"/>
                    </a:lnTo>
                    <a:lnTo>
                      <a:pt x="1273" y="9252"/>
                    </a:lnTo>
                    <a:lnTo>
                      <a:pt x="488" y="8795"/>
                    </a:lnTo>
                    <a:lnTo>
                      <a:pt x="872" y="9430"/>
                    </a:lnTo>
                    <a:lnTo>
                      <a:pt x="852" y="9710"/>
                    </a:lnTo>
                    <a:lnTo>
                      <a:pt x="923" y="10174"/>
                    </a:lnTo>
                    <a:lnTo>
                      <a:pt x="1273" y="10454"/>
                    </a:lnTo>
                    <a:lnTo>
                      <a:pt x="1360" y="10386"/>
                    </a:lnTo>
                    <a:lnTo>
                      <a:pt x="1290" y="10174"/>
                    </a:lnTo>
                    <a:lnTo>
                      <a:pt x="1219" y="10099"/>
                    </a:lnTo>
                    <a:lnTo>
                      <a:pt x="1094" y="9894"/>
                    </a:lnTo>
                    <a:lnTo>
                      <a:pt x="1148" y="9710"/>
                    </a:lnTo>
                    <a:lnTo>
                      <a:pt x="1323" y="9894"/>
                    </a:lnTo>
                    <a:lnTo>
                      <a:pt x="1323" y="9990"/>
                    </a:lnTo>
                    <a:lnTo>
                      <a:pt x="1636" y="9990"/>
                    </a:lnTo>
                    <a:lnTo>
                      <a:pt x="1498" y="9464"/>
                    </a:lnTo>
                    <a:lnTo>
                      <a:pt x="1586" y="9252"/>
                    </a:lnTo>
                    <a:lnTo>
                      <a:pt x="1727" y="8972"/>
                    </a:lnTo>
                    <a:lnTo>
                      <a:pt x="1879" y="8972"/>
                    </a:lnTo>
                    <a:lnTo>
                      <a:pt x="2003" y="9150"/>
                    </a:lnTo>
                    <a:lnTo>
                      <a:pt x="2003" y="8720"/>
                    </a:lnTo>
                    <a:lnTo>
                      <a:pt x="1879" y="8549"/>
                    </a:lnTo>
                    <a:lnTo>
                      <a:pt x="1865" y="8051"/>
                    </a:lnTo>
                    <a:lnTo>
                      <a:pt x="1741" y="7948"/>
                    </a:lnTo>
                    <a:lnTo>
                      <a:pt x="2091" y="7982"/>
                    </a:lnTo>
                    <a:lnTo>
                      <a:pt x="2195" y="8228"/>
                    </a:lnTo>
                    <a:lnTo>
                      <a:pt x="2024" y="8330"/>
                    </a:lnTo>
                    <a:lnTo>
                      <a:pt x="2024" y="8440"/>
                    </a:lnTo>
                    <a:lnTo>
                      <a:pt x="2229" y="8720"/>
                    </a:lnTo>
                    <a:lnTo>
                      <a:pt x="2370" y="8617"/>
                    </a:lnTo>
                    <a:lnTo>
                      <a:pt x="2370" y="8330"/>
                    </a:lnTo>
                    <a:lnTo>
                      <a:pt x="2475" y="8262"/>
                    </a:lnTo>
                    <a:lnTo>
                      <a:pt x="2424" y="8160"/>
                    </a:lnTo>
                    <a:lnTo>
                      <a:pt x="2788" y="7771"/>
                    </a:lnTo>
                    <a:lnTo>
                      <a:pt x="2842" y="7948"/>
                    </a:lnTo>
                    <a:lnTo>
                      <a:pt x="2875" y="7812"/>
                    </a:lnTo>
                    <a:lnTo>
                      <a:pt x="2822" y="7771"/>
                    </a:lnTo>
                    <a:lnTo>
                      <a:pt x="2980" y="7525"/>
                    </a:lnTo>
                    <a:lnTo>
                      <a:pt x="3051" y="7525"/>
                    </a:lnTo>
                    <a:lnTo>
                      <a:pt x="2966" y="7593"/>
                    </a:lnTo>
                    <a:lnTo>
                      <a:pt x="3013" y="7812"/>
                    </a:lnTo>
                    <a:lnTo>
                      <a:pt x="2966" y="7982"/>
                    </a:lnTo>
                    <a:lnTo>
                      <a:pt x="2980" y="8051"/>
                    </a:lnTo>
                    <a:lnTo>
                      <a:pt x="3104" y="7880"/>
                    </a:lnTo>
                    <a:lnTo>
                      <a:pt x="3155" y="7948"/>
                    </a:lnTo>
                    <a:lnTo>
                      <a:pt x="3155" y="7702"/>
                    </a:lnTo>
                    <a:lnTo>
                      <a:pt x="3242" y="7661"/>
                    </a:lnTo>
                    <a:lnTo>
                      <a:pt x="3380" y="7661"/>
                    </a:lnTo>
                    <a:lnTo>
                      <a:pt x="3606" y="7422"/>
                    </a:lnTo>
                    <a:lnTo>
                      <a:pt x="3660" y="7702"/>
                    </a:lnTo>
                    <a:lnTo>
                      <a:pt x="3710" y="7702"/>
                    </a:lnTo>
                    <a:lnTo>
                      <a:pt x="3710" y="7525"/>
                    </a:lnTo>
                    <a:lnTo>
                      <a:pt x="3801" y="7422"/>
                    </a:lnTo>
                    <a:lnTo>
                      <a:pt x="3660" y="7060"/>
                    </a:lnTo>
                    <a:lnTo>
                      <a:pt x="3697" y="6958"/>
                    </a:lnTo>
                    <a:lnTo>
                      <a:pt x="4219" y="7060"/>
                    </a:lnTo>
                    <a:lnTo>
                      <a:pt x="4569" y="7238"/>
                    </a:lnTo>
                    <a:lnTo>
                      <a:pt x="4758" y="7525"/>
                    </a:lnTo>
                    <a:lnTo>
                      <a:pt x="4791" y="7129"/>
                    </a:lnTo>
                    <a:lnTo>
                      <a:pt x="4586" y="7033"/>
                    </a:lnTo>
                    <a:lnTo>
                      <a:pt x="4586" y="6849"/>
                    </a:lnTo>
                    <a:lnTo>
                      <a:pt x="4428" y="6849"/>
                    </a:lnTo>
                    <a:lnTo>
                      <a:pt x="4391" y="6671"/>
                    </a:lnTo>
                    <a:lnTo>
                      <a:pt x="4428" y="6671"/>
                    </a:lnTo>
                    <a:lnTo>
                      <a:pt x="4444" y="6637"/>
                    </a:lnTo>
                    <a:lnTo>
                      <a:pt x="4377" y="6221"/>
                    </a:lnTo>
                    <a:lnTo>
                      <a:pt x="4306" y="6323"/>
                    </a:lnTo>
                    <a:lnTo>
                      <a:pt x="4306" y="6111"/>
                    </a:lnTo>
                    <a:lnTo>
                      <a:pt x="4253" y="6180"/>
                    </a:lnTo>
                    <a:lnTo>
                      <a:pt x="4290" y="6002"/>
                    </a:lnTo>
                    <a:lnTo>
                      <a:pt x="4377" y="5900"/>
                    </a:lnTo>
                    <a:lnTo>
                      <a:pt x="4391" y="5579"/>
                    </a:lnTo>
                    <a:lnTo>
                      <a:pt x="4343" y="5012"/>
                    </a:lnTo>
                    <a:lnTo>
                      <a:pt x="4758" y="5012"/>
                    </a:lnTo>
                    <a:lnTo>
                      <a:pt x="4811" y="5299"/>
                    </a:lnTo>
                    <a:lnTo>
                      <a:pt x="4811" y="5722"/>
                    </a:lnTo>
                    <a:lnTo>
                      <a:pt x="4983" y="6043"/>
                    </a:lnTo>
                    <a:lnTo>
                      <a:pt x="5212" y="7060"/>
                    </a:lnTo>
                    <a:lnTo>
                      <a:pt x="5387" y="7204"/>
                    </a:lnTo>
                    <a:lnTo>
                      <a:pt x="5316" y="7313"/>
                    </a:lnTo>
                    <a:lnTo>
                      <a:pt x="5387" y="7593"/>
                    </a:lnTo>
                    <a:lnTo>
                      <a:pt x="5266" y="7982"/>
                    </a:lnTo>
                    <a:lnTo>
                      <a:pt x="5300" y="8119"/>
                    </a:lnTo>
                    <a:lnTo>
                      <a:pt x="5178" y="8228"/>
                    </a:lnTo>
                    <a:lnTo>
                      <a:pt x="5074" y="8051"/>
                    </a:lnTo>
                    <a:lnTo>
                      <a:pt x="4933" y="8160"/>
                    </a:lnTo>
                    <a:lnTo>
                      <a:pt x="5162" y="8330"/>
                    </a:lnTo>
                    <a:lnTo>
                      <a:pt x="5438" y="8262"/>
                    </a:lnTo>
                    <a:lnTo>
                      <a:pt x="5404" y="8119"/>
                    </a:lnTo>
                    <a:lnTo>
                      <a:pt x="5542" y="7880"/>
                    </a:lnTo>
                    <a:lnTo>
                      <a:pt x="5576" y="7525"/>
                    </a:lnTo>
                    <a:lnTo>
                      <a:pt x="5438" y="7060"/>
                    </a:lnTo>
                    <a:lnTo>
                      <a:pt x="5667" y="6849"/>
                    </a:lnTo>
                    <a:lnTo>
                      <a:pt x="5805" y="7033"/>
                    </a:lnTo>
                    <a:lnTo>
                      <a:pt x="5859" y="7422"/>
                    </a:lnTo>
                    <a:lnTo>
                      <a:pt x="6118" y="7491"/>
                    </a:lnTo>
                    <a:lnTo>
                      <a:pt x="5912" y="7422"/>
                    </a:lnTo>
                    <a:lnTo>
                      <a:pt x="5892" y="7204"/>
                    </a:lnTo>
                    <a:lnTo>
                      <a:pt x="5912" y="7129"/>
                    </a:lnTo>
                    <a:lnTo>
                      <a:pt x="5805" y="6849"/>
                    </a:lnTo>
                    <a:lnTo>
                      <a:pt x="5525" y="6740"/>
                    </a:lnTo>
                    <a:lnTo>
                      <a:pt x="5316" y="6924"/>
                    </a:lnTo>
                    <a:lnTo>
                      <a:pt x="5212" y="6501"/>
                    </a:lnTo>
                    <a:lnTo>
                      <a:pt x="5178" y="6002"/>
                    </a:lnTo>
                    <a:lnTo>
                      <a:pt x="4949" y="5722"/>
                    </a:lnTo>
                    <a:lnTo>
                      <a:pt x="4949" y="5469"/>
                    </a:lnTo>
                    <a:lnTo>
                      <a:pt x="5037" y="5367"/>
                    </a:lnTo>
                    <a:lnTo>
                      <a:pt x="4983" y="4841"/>
                    </a:lnTo>
                    <a:lnTo>
                      <a:pt x="5162" y="5189"/>
                    </a:lnTo>
                    <a:lnTo>
                      <a:pt x="5162" y="5442"/>
                    </a:lnTo>
                    <a:lnTo>
                      <a:pt x="5212" y="5654"/>
                    </a:lnTo>
                    <a:lnTo>
                      <a:pt x="5316" y="5722"/>
                    </a:lnTo>
                    <a:lnTo>
                      <a:pt x="5721" y="5831"/>
                    </a:lnTo>
                    <a:lnTo>
                      <a:pt x="5246" y="5367"/>
                    </a:lnTo>
                    <a:lnTo>
                      <a:pt x="5266" y="5258"/>
                    </a:lnTo>
                    <a:lnTo>
                      <a:pt x="5492" y="5258"/>
                    </a:lnTo>
                    <a:lnTo>
                      <a:pt x="5387" y="5189"/>
                    </a:lnTo>
                    <a:lnTo>
                      <a:pt x="5438" y="5012"/>
                    </a:lnTo>
                    <a:lnTo>
                      <a:pt x="5542" y="4978"/>
                    </a:lnTo>
                    <a:lnTo>
                      <a:pt x="5859" y="5189"/>
                    </a:lnTo>
                    <a:lnTo>
                      <a:pt x="6084" y="5189"/>
                    </a:lnTo>
                    <a:lnTo>
                      <a:pt x="6084" y="5367"/>
                    </a:lnTo>
                    <a:lnTo>
                      <a:pt x="6030" y="5442"/>
                    </a:lnTo>
                    <a:lnTo>
                      <a:pt x="6051" y="5579"/>
                    </a:lnTo>
                    <a:lnTo>
                      <a:pt x="6135" y="5756"/>
                    </a:lnTo>
                    <a:lnTo>
                      <a:pt x="6135" y="5654"/>
                    </a:lnTo>
                    <a:lnTo>
                      <a:pt x="6222" y="6043"/>
                    </a:lnTo>
                    <a:lnTo>
                      <a:pt x="6347" y="6111"/>
                    </a:lnTo>
                    <a:lnTo>
                      <a:pt x="6505" y="6221"/>
                    </a:lnTo>
                    <a:lnTo>
                      <a:pt x="6572" y="6111"/>
                    </a:lnTo>
                    <a:lnTo>
                      <a:pt x="6347" y="6043"/>
                    </a:lnTo>
                    <a:lnTo>
                      <a:pt x="6259" y="5934"/>
                    </a:lnTo>
                    <a:lnTo>
                      <a:pt x="6313" y="5756"/>
                    </a:lnTo>
                    <a:lnTo>
                      <a:pt x="6135" y="5469"/>
                    </a:lnTo>
                    <a:lnTo>
                      <a:pt x="6084" y="5162"/>
                    </a:lnTo>
                    <a:lnTo>
                      <a:pt x="5980" y="5087"/>
                    </a:lnTo>
                    <a:lnTo>
                      <a:pt x="5892" y="4910"/>
                    </a:lnTo>
                    <a:lnTo>
                      <a:pt x="5684" y="4841"/>
                    </a:lnTo>
                    <a:lnTo>
                      <a:pt x="5542" y="4561"/>
                    </a:lnTo>
                    <a:lnTo>
                      <a:pt x="5492" y="4268"/>
                    </a:lnTo>
                    <a:lnTo>
                      <a:pt x="6135" y="3878"/>
                    </a:lnTo>
                    <a:lnTo>
                      <a:pt x="6168" y="3960"/>
                    </a:lnTo>
                    <a:lnTo>
                      <a:pt x="6135" y="4063"/>
                    </a:lnTo>
                    <a:lnTo>
                      <a:pt x="6222" y="3988"/>
                    </a:lnTo>
                    <a:lnTo>
                      <a:pt x="6118" y="3708"/>
                    </a:lnTo>
                    <a:lnTo>
                      <a:pt x="6222" y="3776"/>
                    </a:lnTo>
                    <a:lnTo>
                      <a:pt x="6209" y="3708"/>
                    </a:lnTo>
                    <a:lnTo>
                      <a:pt x="5946" y="3598"/>
                    </a:lnTo>
                    <a:lnTo>
                      <a:pt x="6051" y="3496"/>
                    </a:lnTo>
                    <a:lnTo>
                      <a:pt x="5912" y="3428"/>
                    </a:lnTo>
                    <a:lnTo>
                      <a:pt x="5912" y="3319"/>
                    </a:lnTo>
                    <a:lnTo>
                      <a:pt x="5980" y="3319"/>
                    </a:lnTo>
                    <a:lnTo>
                      <a:pt x="5997" y="3141"/>
                    </a:lnTo>
                    <a:lnTo>
                      <a:pt x="6051" y="3141"/>
                    </a:lnTo>
                    <a:lnTo>
                      <a:pt x="5912" y="3073"/>
                    </a:lnTo>
                    <a:lnTo>
                      <a:pt x="6051" y="3073"/>
                    </a:lnTo>
                    <a:lnTo>
                      <a:pt x="6084" y="2684"/>
                    </a:lnTo>
                    <a:lnTo>
                      <a:pt x="6118" y="2786"/>
                    </a:lnTo>
                    <a:lnTo>
                      <a:pt x="6209" y="2608"/>
                    </a:lnTo>
                    <a:lnTo>
                      <a:pt x="6397" y="2581"/>
                    </a:lnTo>
                    <a:lnTo>
                      <a:pt x="6397" y="2472"/>
                    </a:lnTo>
                    <a:lnTo>
                      <a:pt x="6589" y="2301"/>
                    </a:lnTo>
                    <a:lnTo>
                      <a:pt x="6451" y="2219"/>
                    </a:lnTo>
                    <a:lnTo>
                      <a:pt x="6623" y="2117"/>
                    </a:lnTo>
                    <a:lnTo>
                      <a:pt x="6801" y="2048"/>
                    </a:lnTo>
                    <a:lnTo>
                      <a:pt x="6801" y="2219"/>
                    </a:lnTo>
                    <a:lnTo>
                      <a:pt x="6902" y="2117"/>
                    </a:lnTo>
                    <a:lnTo>
                      <a:pt x="6902" y="2219"/>
                    </a:lnTo>
                    <a:lnTo>
                      <a:pt x="6953" y="2048"/>
                    </a:lnTo>
                    <a:lnTo>
                      <a:pt x="6993" y="2048"/>
                    </a:lnTo>
                    <a:lnTo>
                      <a:pt x="7007" y="1728"/>
                    </a:lnTo>
                    <a:lnTo>
                      <a:pt x="7044" y="1871"/>
                    </a:lnTo>
                    <a:lnTo>
                      <a:pt x="7131" y="1837"/>
                    </a:lnTo>
                    <a:lnTo>
                      <a:pt x="6902" y="1482"/>
                    </a:lnTo>
                    <a:lnTo>
                      <a:pt x="7044" y="1550"/>
                    </a:lnTo>
                    <a:lnTo>
                      <a:pt x="7165" y="1407"/>
                    </a:lnTo>
                    <a:lnTo>
                      <a:pt x="7357" y="1482"/>
                    </a:lnTo>
                    <a:lnTo>
                      <a:pt x="7357" y="1202"/>
                    </a:lnTo>
                    <a:lnTo>
                      <a:pt x="7236" y="1379"/>
                    </a:lnTo>
                    <a:lnTo>
                      <a:pt x="7165" y="1311"/>
                    </a:lnTo>
                    <a:lnTo>
                      <a:pt x="7044" y="1093"/>
                    </a:lnTo>
                    <a:lnTo>
                      <a:pt x="7007" y="457"/>
                    </a:lnTo>
                    <a:lnTo>
                      <a:pt x="7077" y="348"/>
                    </a:lnTo>
                    <a:lnTo>
                      <a:pt x="7215" y="389"/>
                    </a:lnTo>
                    <a:lnTo>
                      <a:pt x="7269" y="560"/>
                    </a:lnTo>
                    <a:lnTo>
                      <a:pt x="7182" y="737"/>
                    </a:lnTo>
                    <a:lnTo>
                      <a:pt x="7303" y="813"/>
                    </a:lnTo>
                    <a:lnTo>
                      <a:pt x="7323" y="737"/>
                    </a:lnTo>
                    <a:lnTo>
                      <a:pt x="7374" y="813"/>
                    </a:lnTo>
                    <a:lnTo>
                      <a:pt x="7407" y="990"/>
                    </a:lnTo>
                    <a:lnTo>
                      <a:pt x="7461" y="847"/>
                    </a:lnTo>
                    <a:lnTo>
                      <a:pt x="7549" y="990"/>
                    </a:lnTo>
                    <a:lnTo>
                      <a:pt x="7586" y="1311"/>
                    </a:lnTo>
                    <a:lnTo>
                      <a:pt x="7670" y="1202"/>
                    </a:lnTo>
                    <a:lnTo>
                      <a:pt x="7636" y="1017"/>
                    </a:lnTo>
                    <a:lnTo>
                      <a:pt x="7862" y="847"/>
                    </a:lnTo>
                    <a:lnTo>
                      <a:pt x="7949" y="990"/>
                    </a:lnTo>
                    <a:lnTo>
                      <a:pt x="7949" y="847"/>
                    </a:lnTo>
                    <a:lnTo>
                      <a:pt x="8141" y="737"/>
                    </a:lnTo>
                    <a:lnTo>
                      <a:pt x="8455" y="915"/>
                    </a:lnTo>
                    <a:lnTo>
                      <a:pt x="8508" y="1017"/>
                    </a:lnTo>
                    <a:lnTo>
                      <a:pt x="8508" y="915"/>
                    </a:lnTo>
                    <a:lnTo>
                      <a:pt x="8680" y="1093"/>
                    </a:lnTo>
                    <a:lnTo>
                      <a:pt x="8700" y="1379"/>
                    </a:lnTo>
                    <a:lnTo>
                      <a:pt x="8542" y="1270"/>
                    </a:lnTo>
                    <a:lnTo>
                      <a:pt x="8630" y="1482"/>
                    </a:lnTo>
                    <a:lnTo>
                      <a:pt x="8680" y="1407"/>
                    </a:lnTo>
                    <a:lnTo>
                      <a:pt x="8785" y="1550"/>
                    </a:lnTo>
                    <a:lnTo>
                      <a:pt x="8771" y="1939"/>
                    </a:lnTo>
                    <a:lnTo>
                      <a:pt x="8785" y="2008"/>
                    </a:lnTo>
                    <a:lnTo>
                      <a:pt x="8700" y="2048"/>
                    </a:lnTo>
                    <a:lnTo>
                      <a:pt x="8680" y="2328"/>
                    </a:lnTo>
                    <a:lnTo>
                      <a:pt x="8542" y="2397"/>
                    </a:lnTo>
                    <a:lnTo>
                      <a:pt x="8630" y="2472"/>
                    </a:lnTo>
                    <a:lnTo>
                      <a:pt x="8404" y="2970"/>
                    </a:lnTo>
                    <a:lnTo>
                      <a:pt x="8316" y="2970"/>
                    </a:lnTo>
                    <a:lnTo>
                      <a:pt x="8333" y="3039"/>
                    </a:lnTo>
                    <a:lnTo>
                      <a:pt x="8316" y="3530"/>
                    </a:lnTo>
                    <a:lnTo>
                      <a:pt x="8475" y="3428"/>
                    </a:lnTo>
                    <a:lnTo>
                      <a:pt x="8404" y="3360"/>
                    </a:lnTo>
                    <a:lnTo>
                      <a:pt x="8542" y="3141"/>
                    </a:lnTo>
                    <a:lnTo>
                      <a:pt x="8562" y="3209"/>
                    </a:lnTo>
                    <a:lnTo>
                      <a:pt x="8562" y="3073"/>
                    </a:lnTo>
                    <a:lnTo>
                      <a:pt x="8700" y="3039"/>
                    </a:lnTo>
                    <a:lnTo>
                      <a:pt x="8680" y="2895"/>
                    </a:lnTo>
                    <a:lnTo>
                      <a:pt x="8818" y="2970"/>
                    </a:lnTo>
                    <a:lnTo>
                      <a:pt x="8963" y="2684"/>
                    </a:lnTo>
                    <a:lnTo>
                      <a:pt x="8818" y="2684"/>
                    </a:lnTo>
                    <a:lnTo>
                      <a:pt x="8700" y="2786"/>
                    </a:lnTo>
                    <a:lnTo>
                      <a:pt x="8680" y="2684"/>
                    </a:lnTo>
                    <a:lnTo>
                      <a:pt x="8700" y="2506"/>
                    </a:lnTo>
                    <a:lnTo>
                      <a:pt x="8963" y="2472"/>
                    </a:lnTo>
                    <a:lnTo>
                      <a:pt x="8963" y="2581"/>
                    </a:lnTo>
                    <a:lnTo>
                      <a:pt x="9101" y="2581"/>
                    </a:lnTo>
                    <a:lnTo>
                      <a:pt x="9101" y="2472"/>
                    </a:lnTo>
                    <a:lnTo>
                      <a:pt x="9205" y="2581"/>
                    </a:lnTo>
                    <a:lnTo>
                      <a:pt x="9327" y="2895"/>
                    </a:lnTo>
                    <a:lnTo>
                      <a:pt x="9380" y="2752"/>
                    </a:lnTo>
                    <a:lnTo>
                      <a:pt x="9273" y="2608"/>
                    </a:lnTo>
                    <a:lnTo>
                      <a:pt x="9414" y="2506"/>
                    </a:lnTo>
                    <a:lnTo>
                      <a:pt x="9781" y="2328"/>
                    </a:lnTo>
                    <a:lnTo>
                      <a:pt x="9798" y="2397"/>
                    </a:lnTo>
                    <a:lnTo>
                      <a:pt x="9747" y="2472"/>
                    </a:lnTo>
                    <a:lnTo>
                      <a:pt x="9781" y="2581"/>
                    </a:lnTo>
                    <a:lnTo>
                      <a:pt x="10007" y="2581"/>
                    </a:lnTo>
                    <a:lnTo>
                      <a:pt x="9973" y="2506"/>
                    </a:lnTo>
                    <a:lnTo>
                      <a:pt x="10057" y="2472"/>
                    </a:lnTo>
                    <a:lnTo>
                      <a:pt x="10236" y="2397"/>
                    </a:lnTo>
                    <a:lnTo>
                      <a:pt x="10340" y="2151"/>
                    </a:lnTo>
                    <a:lnTo>
                      <a:pt x="10148" y="2048"/>
                    </a:lnTo>
                    <a:lnTo>
                      <a:pt x="10148" y="1871"/>
                    </a:lnTo>
                    <a:lnTo>
                      <a:pt x="10202" y="1939"/>
                    </a:lnTo>
                    <a:lnTo>
                      <a:pt x="10202" y="1837"/>
                    </a:lnTo>
                    <a:lnTo>
                      <a:pt x="10286" y="1728"/>
                    </a:lnTo>
                    <a:lnTo>
                      <a:pt x="10428" y="1837"/>
                    </a:lnTo>
                    <a:lnTo>
                      <a:pt x="10933" y="1769"/>
                    </a:lnTo>
                    <a:lnTo>
                      <a:pt x="10966" y="1871"/>
                    </a:lnTo>
                    <a:lnTo>
                      <a:pt x="10879" y="2008"/>
                    </a:lnTo>
                    <a:lnTo>
                      <a:pt x="10896" y="2117"/>
                    </a:lnTo>
                    <a:lnTo>
                      <a:pt x="10791" y="2397"/>
                    </a:lnTo>
                    <a:lnTo>
                      <a:pt x="10896" y="2608"/>
                    </a:lnTo>
                    <a:lnTo>
                      <a:pt x="10966" y="2608"/>
                    </a:lnTo>
                    <a:lnTo>
                      <a:pt x="10879" y="2397"/>
                    </a:lnTo>
                    <a:lnTo>
                      <a:pt x="11246" y="2608"/>
                    </a:lnTo>
                    <a:lnTo>
                      <a:pt x="11246" y="2472"/>
                    </a:lnTo>
                    <a:lnTo>
                      <a:pt x="11350" y="2581"/>
                    </a:lnTo>
                    <a:lnTo>
                      <a:pt x="11296" y="2684"/>
                    </a:lnTo>
                    <a:lnTo>
                      <a:pt x="11751" y="3039"/>
                    </a:lnTo>
                    <a:lnTo>
                      <a:pt x="11785" y="2970"/>
                    </a:lnTo>
                    <a:lnTo>
                      <a:pt x="11751" y="2608"/>
                    </a:lnTo>
                    <a:lnTo>
                      <a:pt x="11626" y="2219"/>
                    </a:lnTo>
                    <a:lnTo>
                      <a:pt x="11889" y="2472"/>
                    </a:lnTo>
                    <a:lnTo>
                      <a:pt x="11993" y="2397"/>
                    </a:lnTo>
                    <a:lnTo>
                      <a:pt x="12081" y="2151"/>
                    </a:lnTo>
                    <a:lnTo>
                      <a:pt x="12431" y="2301"/>
                    </a:lnTo>
                    <a:lnTo>
                      <a:pt x="12364" y="2048"/>
                    </a:lnTo>
                    <a:lnTo>
                      <a:pt x="12397" y="1939"/>
                    </a:lnTo>
                    <a:lnTo>
                      <a:pt x="12515" y="2048"/>
                    </a:lnTo>
                    <a:lnTo>
                      <a:pt x="12569" y="1871"/>
                    </a:lnTo>
                    <a:lnTo>
                      <a:pt x="12397" y="1769"/>
                    </a:lnTo>
                    <a:lnTo>
                      <a:pt x="12431" y="1728"/>
                    </a:lnTo>
                    <a:lnTo>
                      <a:pt x="12364" y="1591"/>
                    </a:lnTo>
                    <a:lnTo>
                      <a:pt x="12310" y="1659"/>
                    </a:lnTo>
                    <a:lnTo>
                      <a:pt x="12256" y="1482"/>
                    </a:lnTo>
                    <a:lnTo>
                      <a:pt x="12397" y="1379"/>
                    </a:lnTo>
                    <a:lnTo>
                      <a:pt x="12256" y="1127"/>
                    </a:lnTo>
                    <a:lnTo>
                      <a:pt x="12256" y="1093"/>
                    </a:lnTo>
                    <a:lnTo>
                      <a:pt x="13040" y="990"/>
                    </a:lnTo>
                    <a:lnTo>
                      <a:pt x="13108" y="1093"/>
                    </a:lnTo>
                    <a:lnTo>
                      <a:pt x="12936" y="1017"/>
                    </a:lnTo>
                    <a:lnTo>
                      <a:pt x="12902" y="1270"/>
                    </a:lnTo>
                    <a:lnTo>
                      <a:pt x="13024" y="1127"/>
                    </a:lnTo>
                    <a:lnTo>
                      <a:pt x="13074" y="1270"/>
                    </a:lnTo>
                    <a:lnTo>
                      <a:pt x="12990" y="1311"/>
                    </a:lnTo>
                    <a:lnTo>
                      <a:pt x="13108" y="1482"/>
                    </a:lnTo>
                    <a:lnTo>
                      <a:pt x="13128" y="915"/>
                    </a:lnTo>
                    <a:lnTo>
                      <a:pt x="13444" y="847"/>
                    </a:lnTo>
                    <a:lnTo>
                      <a:pt x="13545" y="990"/>
                    </a:lnTo>
                    <a:lnTo>
                      <a:pt x="13545" y="1017"/>
                    </a:lnTo>
                    <a:lnTo>
                      <a:pt x="13407" y="990"/>
                    </a:lnTo>
                    <a:lnTo>
                      <a:pt x="13444" y="1093"/>
                    </a:lnTo>
                    <a:lnTo>
                      <a:pt x="13754" y="1202"/>
                    </a:lnTo>
                    <a:lnTo>
                      <a:pt x="13774" y="1379"/>
                    </a:lnTo>
                    <a:lnTo>
                      <a:pt x="13808" y="1202"/>
                    </a:lnTo>
                    <a:lnTo>
                      <a:pt x="14051" y="1311"/>
                    </a:lnTo>
                    <a:lnTo>
                      <a:pt x="14000" y="1379"/>
                    </a:lnTo>
                    <a:lnTo>
                      <a:pt x="14175" y="1407"/>
                    </a:lnTo>
                    <a:lnTo>
                      <a:pt x="14505" y="915"/>
                    </a:lnTo>
                    <a:lnTo>
                      <a:pt x="14785" y="847"/>
                    </a:lnTo>
                    <a:lnTo>
                      <a:pt x="15081" y="990"/>
                    </a:lnTo>
                    <a:lnTo>
                      <a:pt x="15273" y="1407"/>
                    </a:lnTo>
                    <a:lnTo>
                      <a:pt x="15502" y="1550"/>
                    </a:lnTo>
                    <a:lnTo>
                      <a:pt x="15502" y="1379"/>
                    </a:lnTo>
                    <a:lnTo>
                      <a:pt x="15586" y="1550"/>
                    </a:lnTo>
                    <a:lnTo>
                      <a:pt x="15586" y="1311"/>
                    </a:lnTo>
                    <a:lnTo>
                      <a:pt x="15778" y="1093"/>
                    </a:lnTo>
                    <a:lnTo>
                      <a:pt x="15916" y="1127"/>
                    </a:lnTo>
                    <a:lnTo>
                      <a:pt x="16145" y="1017"/>
                    </a:lnTo>
                    <a:lnTo>
                      <a:pt x="16178" y="813"/>
                    </a:lnTo>
                    <a:lnTo>
                      <a:pt x="16404" y="1017"/>
                    </a:lnTo>
                    <a:lnTo>
                      <a:pt x="16791" y="1127"/>
                    </a:lnTo>
                    <a:lnTo>
                      <a:pt x="16700" y="847"/>
                    </a:lnTo>
                    <a:lnTo>
                      <a:pt x="16562" y="635"/>
                    </a:lnTo>
                    <a:lnTo>
                      <a:pt x="16475" y="669"/>
                    </a:lnTo>
                    <a:lnTo>
                      <a:pt x="16475" y="526"/>
                    </a:lnTo>
                    <a:lnTo>
                      <a:pt x="16370" y="280"/>
                    </a:lnTo>
                    <a:lnTo>
                      <a:pt x="16771" y="280"/>
                    </a:lnTo>
                    <a:lnTo>
                      <a:pt x="17017" y="0"/>
                    </a:lnTo>
                    <a:lnTo>
                      <a:pt x="17101" y="68"/>
                    </a:lnTo>
                    <a:lnTo>
                      <a:pt x="17067" y="0"/>
                    </a:lnTo>
                    <a:lnTo>
                      <a:pt x="17801" y="178"/>
                    </a:lnTo>
                    <a:lnTo>
                      <a:pt x="17835" y="68"/>
                    </a:lnTo>
                    <a:lnTo>
                      <a:pt x="18098" y="280"/>
                    </a:lnTo>
                    <a:lnTo>
                      <a:pt x="18532" y="457"/>
                    </a:lnTo>
                    <a:lnTo>
                      <a:pt x="18670" y="635"/>
                    </a:lnTo>
                    <a:lnTo>
                      <a:pt x="18657" y="526"/>
                    </a:lnTo>
                    <a:lnTo>
                      <a:pt x="18882" y="669"/>
                    </a:lnTo>
                    <a:lnTo>
                      <a:pt x="19074" y="1093"/>
                    </a:lnTo>
                    <a:lnTo>
                      <a:pt x="19249" y="1270"/>
                    </a:lnTo>
                    <a:lnTo>
                      <a:pt x="19249" y="1127"/>
                    </a:lnTo>
                    <a:lnTo>
                      <a:pt x="19303" y="1311"/>
                    </a:lnTo>
                    <a:lnTo>
                      <a:pt x="19249" y="1017"/>
                    </a:lnTo>
                    <a:lnTo>
                      <a:pt x="19020" y="737"/>
                    </a:lnTo>
                    <a:lnTo>
                      <a:pt x="19108" y="737"/>
                    </a:lnTo>
                    <a:lnTo>
                      <a:pt x="19212" y="813"/>
                    </a:lnTo>
                    <a:lnTo>
                      <a:pt x="19266" y="737"/>
                    </a:lnTo>
                    <a:lnTo>
                      <a:pt x="19212" y="669"/>
                    </a:lnTo>
                    <a:lnTo>
                      <a:pt x="19354" y="635"/>
                    </a:lnTo>
                    <a:lnTo>
                      <a:pt x="19859" y="990"/>
                    </a:lnTo>
                    <a:lnTo>
                      <a:pt x="19805" y="1270"/>
                    </a:lnTo>
                    <a:lnTo>
                      <a:pt x="19896" y="1482"/>
                    </a:lnTo>
                    <a:lnTo>
                      <a:pt x="19700" y="1311"/>
                    </a:lnTo>
                    <a:lnTo>
                      <a:pt x="19859" y="1659"/>
                    </a:lnTo>
                    <a:lnTo>
                      <a:pt x="19579" y="1591"/>
                    </a:lnTo>
                    <a:lnTo>
                      <a:pt x="19717" y="1728"/>
                    </a:lnTo>
                    <a:lnTo>
                      <a:pt x="19751" y="1837"/>
                    </a:lnTo>
                    <a:lnTo>
                      <a:pt x="19717" y="1939"/>
                    </a:lnTo>
                    <a:lnTo>
                      <a:pt x="19842" y="2048"/>
                    </a:lnTo>
                    <a:lnTo>
                      <a:pt x="19791" y="2328"/>
                    </a:lnTo>
                    <a:lnTo>
                      <a:pt x="19997" y="2581"/>
                    </a:lnTo>
                    <a:lnTo>
                      <a:pt x="19929" y="2506"/>
                    </a:lnTo>
                    <a:lnTo>
                      <a:pt x="19943" y="2752"/>
                    </a:lnTo>
                    <a:lnTo>
                      <a:pt x="19805" y="2506"/>
                    </a:lnTo>
                    <a:lnTo>
                      <a:pt x="19859" y="2752"/>
                    </a:lnTo>
                    <a:lnTo>
                      <a:pt x="19579" y="2397"/>
                    </a:lnTo>
                    <a:lnTo>
                      <a:pt x="19562" y="2506"/>
                    </a:lnTo>
                    <a:lnTo>
                      <a:pt x="19421" y="2397"/>
                    </a:lnTo>
                    <a:lnTo>
                      <a:pt x="19266" y="2048"/>
                    </a:lnTo>
                    <a:lnTo>
                      <a:pt x="19125" y="2048"/>
                    </a:lnTo>
                    <a:lnTo>
                      <a:pt x="19108" y="1939"/>
                    </a:lnTo>
                    <a:lnTo>
                      <a:pt x="19108" y="2151"/>
                    </a:lnTo>
                    <a:lnTo>
                      <a:pt x="18966" y="2219"/>
                    </a:lnTo>
                    <a:lnTo>
                      <a:pt x="18795" y="1939"/>
                    </a:lnTo>
                    <a:lnTo>
                      <a:pt x="18710" y="1550"/>
                    </a:lnTo>
                    <a:lnTo>
                      <a:pt x="18744" y="1769"/>
                    </a:lnTo>
                    <a:lnTo>
                      <a:pt x="18657" y="1659"/>
                    </a:lnTo>
                    <a:lnTo>
                      <a:pt x="18670" y="1769"/>
                    </a:lnTo>
                    <a:lnTo>
                      <a:pt x="18657" y="1837"/>
                    </a:lnTo>
                    <a:lnTo>
                      <a:pt x="18882" y="2328"/>
                    </a:lnTo>
                    <a:lnTo>
                      <a:pt x="18899" y="2970"/>
                    </a:lnTo>
                    <a:lnTo>
                      <a:pt x="18882" y="3209"/>
                    </a:lnTo>
                    <a:lnTo>
                      <a:pt x="18848" y="3141"/>
                    </a:lnTo>
                    <a:lnTo>
                      <a:pt x="18761" y="3209"/>
                    </a:lnTo>
                    <a:lnTo>
                      <a:pt x="18532" y="2970"/>
                    </a:lnTo>
                    <a:lnTo>
                      <a:pt x="18481" y="3073"/>
                    </a:lnTo>
                    <a:lnTo>
                      <a:pt x="18603" y="3039"/>
                    </a:lnTo>
                    <a:lnTo>
                      <a:pt x="18620" y="3141"/>
                    </a:lnTo>
                    <a:lnTo>
                      <a:pt x="18519" y="3141"/>
                    </a:lnTo>
                    <a:lnTo>
                      <a:pt x="18566" y="3496"/>
                    </a:lnTo>
                    <a:lnTo>
                      <a:pt x="18657" y="3209"/>
                    </a:lnTo>
                    <a:lnTo>
                      <a:pt x="18828" y="3496"/>
                    </a:lnTo>
                    <a:lnTo>
                      <a:pt x="18882" y="3360"/>
                    </a:lnTo>
                    <a:lnTo>
                      <a:pt x="18966" y="3530"/>
                    </a:lnTo>
                    <a:lnTo>
                      <a:pt x="18966" y="3639"/>
                    </a:lnTo>
                    <a:lnTo>
                      <a:pt x="19020" y="3639"/>
                    </a:lnTo>
                    <a:lnTo>
                      <a:pt x="19108" y="3878"/>
                    </a:lnTo>
                    <a:lnTo>
                      <a:pt x="19074" y="3878"/>
                    </a:lnTo>
                    <a:lnTo>
                      <a:pt x="19074" y="3988"/>
                    </a:lnTo>
                    <a:lnTo>
                      <a:pt x="19125" y="3988"/>
                    </a:lnTo>
                    <a:lnTo>
                      <a:pt x="19421" y="4452"/>
                    </a:lnTo>
                    <a:lnTo>
                      <a:pt x="19441" y="4841"/>
                    </a:lnTo>
                    <a:lnTo>
                      <a:pt x="19158" y="4630"/>
                    </a:lnTo>
                    <a:lnTo>
                      <a:pt x="19195" y="4800"/>
                    </a:lnTo>
                    <a:lnTo>
                      <a:pt x="18987" y="5189"/>
                    </a:lnTo>
                    <a:lnTo>
                      <a:pt x="18966" y="5545"/>
                    </a:lnTo>
                    <a:lnTo>
                      <a:pt x="18899" y="5654"/>
                    </a:lnTo>
                    <a:lnTo>
                      <a:pt x="18848" y="5579"/>
                    </a:lnTo>
                    <a:lnTo>
                      <a:pt x="18848" y="5900"/>
                    </a:lnTo>
                    <a:lnTo>
                      <a:pt x="18828" y="5900"/>
                    </a:lnTo>
                    <a:lnTo>
                      <a:pt x="18848" y="5934"/>
                    </a:lnTo>
                    <a:lnTo>
                      <a:pt x="18828" y="6002"/>
                    </a:lnTo>
                    <a:lnTo>
                      <a:pt x="18848" y="6180"/>
                    </a:lnTo>
                    <a:lnTo>
                      <a:pt x="18795" y="6180"/>
                    </a:lnTo>
                    <a:lnTo>
                      <a:pt x="18828" y="6221"/>
                    </a:lnTo>
                    <a:lnTo>
                      <a:pt x="18744" y="6740"/>
                    </a:lnTo>
                    <a:lnTo>
                      <a:pt x="18795" y="7060"/>
                    </a:lnTo>
                    <a:lnTo>
                      <a:pt x="18710" y="7033"/>
                    </a:lnTo>
                    <a:lnTo>
                      <a:pt x="18519" y="6671"/>
                    </a:lnTo>
                    <a:lnTo>
                      <a:pt x="18394" y="6740"/>
                    </a:lnTo>
                    <a:lnTo>
                      <a:pt x="18290" y="6958"/>
                    </a:lnTo>
                    <a:lnTo>
                      <a:pt x="18256" y="7491"/>
                    </a:lnTo>
                    <a:lnTo>
                      <a:pt x="18168" y="6958"/>
                    </a:lnTo>
                    <a:lnTo>
                      <a:pt x="18098" y="7525"/>
                    </a:lnTo>
                    <a:lnTo>
                      <a:pt x="18010" y="7422"/>
                    </a:lnTo>
                    <a:lnTo>
                      <a:pt x="17926" y="7491"/>
                    </a:lnTo>
                    <a:lnTo>
                      <a:pt x="17886" y="7593"/>
                    </a:lnTo>
                    <a:lnTo>
                      <a:pt x="18010" y="8051"/>
                    </a:lnTo>
                    <a:lnTo>
                      <a:pt x="17939" y="8051"/>
                    </a:lnTo>
                    <a:lnTo>
                      <a:pt x="17976" y="8617"/>
                    </a:lnTo>
                    <a:lnTo>
                      <a:pt x="18064" y="8904"/>
                    </a:lnTo>
                    <a:lnTo>
                      <a:pt x="18114" y="8972"/>
                    </a:lnTo>
                    <a:lnTo>
                      <a:pt x="18098" y="8863"/>
                    </a:lnTo>
                    <a:lnTo>
                      <a:pt x="18236" y="8904"/>
                    </a:lnTo>
                    <a:lnTo>
                      <a:pt x="18290" y="9464"/>
                    </a:lnTo>
                    <a:lnTo>
                      <a:pt x="18306" y="9607"/>
                    </a:lnTo>
                    <a:lnTo>
                      <a:pt x="18374" y="9539"/>
                    </a:lnTo>
                    <a:lnTo>
                      <a:pt x="18465" y="9894"/>
                    </a:lnTo>
                    <a:lnTo>
                      <a:pt x="18428" y="9990"/>
                    </a:lnTo>
                    <a:lnTo>
                      <a:pt x="18374" y="9921"/>
                    </a:lnTo>
                    <a:lnTo>
                      <a:pt x="18374" y="9642"/>
                    </a:lnTo>
                    <a:lnTo>
                      <a:pt x="18306" y="9751"/>
                    </a:lnTo>
                    <a:lnTo>
                      <a:pt x="18374" y="10563"/>
                    </a:lnTo>
                    <a:lnTo>
                      <a:pt x="18481" y="10741"/>
                    </a:lnTo>
                    <a:lnTo>
                      <a:pt x="18465" y="10953"/>
                    </a:lnTo>
                    <a:lnTo>
                      <a:pt x="18374" y="10912"/>
                    </a:lnTo>
                    <a:lnTo>
                      <a:pt x="18290" y="11192"/>
                    </a:lnTo>
                    <a:lnTo>
                      <a:pt x="18306" y="11512"/>
                    </a:lnTo>
                    <a:lnTo>
                      <a:pt x="18428" y="11833"/>
                    </a:lnTo>
                    <a:lnTo>
                      <a:pt x="18340" y="11833"/>
                    </a:lnTo>
                    <a:lnTo>
                      <a:pt x="18256" y="11970"/>
                    </a:lnTo>
                    <a:lnTo>
                      <a:pt x="18202" y="11943"/>
                    </a:lnTo>
                    <a:lnTo>
                      <a:pt x="18290" y="12571"/>
                    </a:lnTo>
                    <a:lnTo>
                      <a:pt x="18290" y="12864"/>
                    </a:lnTo>
                    <a:lnTo>
                      <a:pt x="18202" y="13247"/>
                    </a:lnTo>
                    <a:lnTo>
                      <a:pt x="17556" y="10843"/>
                    </a:lnTo>
                    <a:lnTo>
                      <a:pt x="17384" y="9990"/>
                    </a:lnTo>
                    <a:lnTo>
                      <a:pt x="17438" y="9539"/>
                    </a:lnTo>
                    <a:lnTo>
                      <a:pt x="17367" y="9184"/>
                    </a:lnTo>
                    <a:lnTo>
                      <a:pt x="17438" y="9252"/>
                    </a:lnTo>
                    <a:lnTo>
                      <a:pt x="17438" y="9082"/>
                    </a:lnTo>
                    <a:lnTo>
                      <a:pt x="17505" y="9013"/>
                    </a:lnTo>
                    <a:lnTo>
                      <a:pt x="17609" y="7880"/>
                    </a:lnTo>
                    <a:lnTo>
                      <a:pt x="17609" y="7238"/>
                    </a:lnTo>
                    <a:lnTo>
                      <a:pt x="17781" y="6849"/>
                    </a:lnTo>
                    <a:lnTo>
                      <a:pt x="17697" y="6780"/>
                    </a:lnTo>
                    <a:lnTo>
                      <a:pt x="17731" y="6637"/>
                    </a:lnTo>
                    <a:lnTo>
                      <a:pt x="17556" y="5900"/>
                    </a:lnTo>
                    <a:lnTo>
                      <a:pt x="17663" y="5756"/>
                    </a:lnTo>
                    <a:lnTo>
                      <a:pt x="17697" y="5722"/>
                    </a:lnTo>
                    <a:lnTo>
                      <a:pt x="17522" y="5579"/>
                    </a:lnTo>
                    <a:lnTo>
                      <a:pt x="17418" y="5756"/>
                    </a:lnTo>
                    <a:lnTo>
                      <a:pt x="17522" y="6323"/>
                    </a:lnTo>
                    <a:lnTo>
                      <a:pt x="17576" y="6391"/>
                    </a:lnTo>
                    <a:lnTo>
                      <a:pt x="17556" y="6501"/>
                    </a:lnTo>
                    <a:lnTo>
                      <a:pt x="17505" y="6391"/>
                    </a:lnTo>
                    <a:lnTo>
                      <a:pt x="17471" y="6460"/>
                    </a:lnTo>
                    <a:lnTo>
                      <a:pt x="17384" y="7129"/>
                    </a:lnTo>
                    <a:lnTo>
                      <a:pt x="17330" y="7238"/>
                    </a:lnTo>
                    <a:lnTo>
                      <a:pt x="17293" y="7033"/>
                    </a:lnTo>
                    <a:lnTo>
                      <a:pt x="17242" y="7060"/>
                    </a:lnTo>
                    <a:lnTo>
                      <a:pt x="17141" y="6391"/>
                    </a:lnTo>
                    <a:lnTo>
                      <a:pt x="17067" y="6637"/>
                    </a:lnTo>
                    <a:lnTo>
                      <a:pt x="16963" y="6501"/>
                    </a:lnTo>
                    <a:lnTo>
                      <a:pt x="16879" y="6740"/>
                    </a:lnTo>
                    <a:lnTo>
                      <a:pt x="16791" y="6671"/>
                    </a:lnTo>
                    <a:lnTo>
                      <a:pt x="16700" y="8119"/>
                    </a:lnTo>
                    <a:lnTo>
                      <a:pt x="16737" y="8412"/>
                    </a:lnTo>
                    <a:lnTo>
                      <a:pt x="16845" y="8330"/>
                    </a:lnTo>
                    <a:lnTo>
                      <a:pt x="16912" y="8515"/>
                    </a:lnTo>
                    <a:lnTo>
                      <a:pt x="16687" y="8549"/>
                    </a:lnTo>
                    <a:lnTo>
                      <a:pt x="16650" y="8795"/>
                    </a:lnTo>
                    <a:lnTo>
                      <a:pt x="16599" y="8720"/>
                    </a:lnTo>
                    <a:lnTo>
                      <a:pt x="16458" y="8904"/>
                    </a:lnTo>
                    <a:lnTo>
                      <a:pt x="16404" y="8795"/>
                    </a:lnTo>
                    <a:lnTo>
                      <a:pt x="16549" y="8617"/>
                    </a:lnTo>
                    <a:lnTo>
                      <a:pt x="16370" y="8515"/>
                    </a:lnTo>
                    <a:lnTo>
                      <a:pt x="16320" y="8515"/>
                    </a:lnTo>
                    <a:lnTo>
                      <a:pt x="16320" y="8617"/>
                    </a:lnTo>
                    <a:lnTo>
                      <a:pt x="16108" y="8515"/>
                    </a:lnTo>
                    <a:lnTo>
                      <a:pt x="16054" y="8617"/>
                    </a:lnTo>
                    <a:lnTo>
                      <a:pt x="16054" y="8795"/>
                    </a:lnTo>
                    <a:lnTo>
                      <a:pt x="16040" y="8863"/>
                    </a:lnTo>
                    <a:lnTo>
                      <a:pt x="15970" y="8795"/>
                    </a:lnTo>
                    <a:lnTo>
                      <a:pt x="15916" y="8904"/>
                    </a:lnTo>
                    <a:lnTo>
                      <a:pt x="15744" y="8863"/>
                    </a:lnTo>
                    <a:lnTo>
                      <a:pt x="15724" y="9013"/>
                    </a:lnTo>
                    <a:lnTo>
                      <a:pt x="15673" y="8904"/>
                    </a:lnTo>
                    <a:lnTo>
                      <a:pt x="15310" y="9082"/>
                    </a:lnTo>
                    <a:lnTo>
                      <a:pt x="15013" y="10843"/>
                    </a:lnTo>
                    <a:lnTo>
                      <a:pt x="15013" y="10953"/>
                    </a:lnTo>
                    <a:lnTo>
                      <a:pt x="15081" y="11021"/>
                    </a:lnTo>
                    <a:lnTo>
                      <a:pt x="14993" y="11089"/>
                    </a:lnTo>
                    <a:lnTo>
                      <a:pt x="14822" y="12113"/>
                    </a:lnTo>
                    <a:lnTo>
                      <a:pt x="14939" y="12154"/>
                    </a:lnTo>
                    <a:lnTo>
                      <a:pt x="15081" y="12113"/>
                    </a:lnTo>
                    <a:lnTo>
                      <a:pt x="15131" y="12571"/>
                    </a:lnTo>
                    <a:lnTo>
                      <a:pt x="15185" y="12434"/>
                    </a:lnTo>
                    <a:lnTo>
                      <a:pt x="15152" y="12332"/>
                    </a:lnTo>
                    <a:lnTo>
                      <a:pt x="15219" y="12223"/>
                    </a:lnTo>
                    <a:lnTo>
                      <a:pt x="15239" y="12612"/>
                    </a:lnTo>
                    <a:lnTo>
                      <a:pt x="15360" y="12400"/>
                    </a:lnTo>
                    <a:lnTo>
                      <a:pt x="15377" y="12612"/>
                    </a:lnTo>
                    <a:lnTo>
                      <a:pt x="15414" y="12434"/>
                    </a:lnTo>
                    <a:lnTo>
                      <a:pt x="15360" y="12154"/>
                    </a:lnTo>
                    <a:lnTo>
                      <a:pt x="15515" y="12113"/>
                    </a:lnTo>
                    <a:lnTo>
                      <a:pt x="15832" y="12612"/>
                    </a:lnTo>
                    <a:lnTo>
                      <a:pt x="15832" y="12714"/>
                    </a:lnTo>
                    <a:lnTo>
                      <a:pt x="15778" y="12714"/>
                    </a:lnTo>
                    <a:lnTo>
                      <a:pt x="15953" y="13172"/>
                    </a:lnTo>
                    <a:lnTo>
                      <a:pt x="15916" y="13602"/>
                    </a:lnTo>
                    <a:lnTo>
                      <a:pt x="16108" y="15193"/>
                    </a:lnTo>
                    <a:lnTo>
                      <a:pt x="16007" y="15862"/>
                    </a:lnTo>
                    <a:lnTo>
                      <a:pt x="16007" y="16422"/>
                    </a:lnTo>
                    <a:lnTo>
                      <a:pt x="15811" y="17596"/>
                    </a:lnTo>
                    <a:lnTo>
                      <a:pt x="15640" y="17986"/>
                    </a:lnTo>
                    <a:lnTo>
                      <a:pt x="15515" y="18054"/>
                    </a:lnTo>
                    <a:lnTo>
                      <a:pt x="15414" y="17986"/>
                    </a:lnTo>
                    <a:lnTo>
                      <a:pt x="15377" y="17876"/>
                    </a:lnTo>
                    <a:lnTo>
                      <a:pt x="15310" y="17876"/>
                    </a:lnTo>
                    <a:lnTo>
                      <a:pt x="15185" y="18334"/>
                    </a:lnTo>
                    <a:lnTo>
                      <a:pt x="15185" y="18266"/>
                    </a:lnTo>
                    <a:lnTo>
                      <a:pt x="15185" y="18156"/>
                    </a:lnTo>
                    <a:lnTo>
                      <a:pt x="15219" y="17801"/>
                    </a:lnTo>
                    <a:lnTo>
                      <a:pt x="15098" y="17132"/>
                    </a:lnTo>
                    <a:lnTo>
                      <a:pt x="15185" y="16886"/>
                    </a:lnTo>
                    <a:lnTo>
                      <a:pt x="15360" y="17023"/>
                    </a:lnTo>
                    <a:lnTo>
                      <a:pt x="15360" y="16033"/>
                    </a:lnTo>
                    <a:lnTo>
                      <a:pt x="15377" y="15930"/>
                    </a:lnTo>
                    <a:lnTo>
                      <a:pt x="15377" y="15644"/>
                    </a:lnTo>
                    <a:lnTo>
                      <a:pt x="15377" y="15364"/>
                    </a:lnTo>
                    <a:lnTo>
                      <a:pt x="15273" y="15473"/>
                    </a:lnTo>
                    <a:lnTo>
                      <a:pt x="15131" y="15575"/>
                    </a:lnTo>
                    <a:lnTo>
                      <a:pt x="15081" y="15753"/>
                    </a:lnTo>
                    <a:lnTo>
                      <a:pt x="14939" y="15821"/>
                    </a:lnTo>
                    <a:lnTo>
                      <a:pt x="14872" y="15821"/>
                    </a:lnTo>
                    <a:lnTo>
                      <a:pt x="14731" y="15261"/>
                    </a:lnTo>
                    <a:lnTo>
                      <a:pt x="14505" y="15015"/>
                    </a:lnTo>
                    <a:lnTo>
                      <a:pt x="14421" y="15015"/>
                    </a:lnTo>
                    <a:lnTo>
                      <a:pt x="14279" y="15015"/>
                    </a:lnTo>
                    <a:lnTo>
                      <a:pt x="14229" y="14906"/>
                    </a:lnTo>
                    <a:lnTo>
                      <a:pt x="14175" y="14735"/>
                    </a:lnTo>
                    <a:lnTo>
                      <a:pt x="14088" y="14374"/>
                    </a:lnTo>
                    <a:lnTo>
                      <a:pt x="13983" y="14162"/>
                    </a:lnTo>
                    <a:lnTo>
                      <a:pt x="13721" y="13424"/>
                    </a:lnTo>
                    <a:lnTo>
                      <a:pt x="13670" y="13349"/>
                    </a:lnTo>
                    <a:lnTo>
                      <a:pt x="13582" y="13315"/>
                    </a:lnTo>
                    <a:lnTo>
                      <a:pt x="13407" y="13247"/>
                    </a:lnTo>
                    <a:lnTo>
                      <a:pt x="13320" y="13172"/>
                    </a:lnTo>
                    <a:lnTo>
                      <a:pt x="13253" y="13247"/>
                    </a:lnTo>
                    <a:lnTo>
                      <a:pt x="12990" y="13452"/>
                    </a:lnTo>
                    <a:lnTo>
                      <a:pt x="12936" y="13745"/>
                    </a:lnTo>
                    <a:lnTo>
                      <a:pt x="12990" y="13745"/>
                    </a:lnTo>
                    <a:lnTo>
                      <a:pt x="13040" y="13882"/>
                    </a:lnTo>
                    <a:lnTo>
                      <a:pt x="13074" y="13991"/>
                    </a:lnTo>
                    <a:lnTo>
                      <a:pt x="13024" y="14551"/>
                    </a:lnTo>
                    <a:lnTo>
                      <a:pt x="12990" y="14906"/>
                    </a:lnTo>
                    <a:lnTo>
                      <a:pt x="13040" y="15084"/>
                    </a:lnTo>
                    <a:lnTo>
                      <a:pt x="12902" y="15364"/>
                    </a:lnTo>
                    <a:lnTo>
                      <a:pt x="12798" y="15295"/>
                    </a:lnTo>
                    <a:lnTo>
                      <a:pt x="12727" y="15295"/>
                    </a:lnTo>
                    <a:lnTo>
                      <a:pt x="12569" y="15295"/>
                    </a:lnTo>
                    <a:lnTo>
                      <a:pt x="12310" y="15125"/>
                    </a:lnTo>
                    <a:lnTo>
                      <a:pt x="12219" y="15541"/>
                    </a:lnTo>
                    <a:lnTo>
                      <a:pt x="11923" y="15753"/>
                    </a:lnTo>
                    <a:lnTo>
                      <a:pt x="11717" y="15753"/>
                    </a:lnTo>
                    <a:lnTo>
                      <a:pt x="11626" y="15753"/>
                    </a:lnTo>
                    <a:lnTo>
                      <a:pt x="11525" y="15644"/>
                    </a:lnTo>
                    <a:lnTo>
                      <a:pt x="11488" y="15541"/>
                    </a:lnTo>
                    <a:lnTo>
                      <a:pt x="11246" y="15364"/>
                    </a:lnTo>
                    <a:lnTo>
                      <a:pt x="11125" y="15295"/>
                    </a:lnTo>
                    <a:lnTo>
                      <a:pt x="10879" y="15473"/>
                    </a:lnTo>
                    <a:lnTo>
                      <a:pt x="10741" y="15473"/>
                    </a:lnTo>
                    <a:lnTo>
                      <a:pt x="10532" y="15015"/>
                    </a:lnTo>
                    <a:lnTo>
                      <a:pt x="10094" y="14804"/>
                    </a:lnTo>
                    <a:lnTo>
                      <a:pt x="10094" y="14906"/>
                    </a:lnTo>
                    <a:lnTo>
                      <a:pt x="10024" y="15084"/>
                    </a:lnTo>
                    <a:lnTo>
                      <a:pt x="10007" y="15125"/>
                    </a:lnTo>
                    <a:lnTo>
                      <a:pt x="10057" y="15405"/>
                    </a:lnTo>
                    <a:lnTo>
                      <a:pt x="10094" y="15575"/>
                    </a:lnTo>
                    <a:lnTo>
                      <a:pt x="10148" y="15753"/>
                    </a:lnTo>
                    <a:lnTo>
                      <a:pt x="9886" y="15821"/>
                    </a:lnTo>
                    <a:lnTo>
                      <a:pt x="9694" y="15821"/>
                    </a:lnTo>
                    <a:lnTo>
                      <a:pt x="9569" y="15753"/>
                    </a:lnTo>
                    <a:lnTo>
                      <a:pt x="9556" y="15575"/>
                    </a:lnTo>
                    <a:lnTo>
                      <a:pt x="9380" y="15644"/>
                    </a:lnTo>
                    <a:lnTo>
                      <a:pt x="9327" y="15541"/>
                    </a:lnTo>
                    <a:lnTo>
                      <a:pt x="9155" y="15575"/>
                    </a:lnTo>
                    <a:lnTo>
                      <a:pt x="9067" y="15685"/>
                    </a:lnTo>
                    <a:lnTo>
                      <a:pt x="9047" y="15753"/>
                    </a:lnTo>
                    <a:lnTo>
                      <a:pt x="8963" y="15930"/>
                    </a:lnTo>
                    <a:lnTo>
                      <a:pt x="8963" y="16033"/>
                    </a:lnTo>
                    <a:lnTo>
                      <a:pt x="8771" y="16217"/>
                    </a:lnTo>
                    <a:lnTo>
                      <a:pt x="8734" y="16320"/>
                    </a:lnTo>
                    <a:lnTo>
                      <a:pt x="8646" y="16395"/>
                    </a:lnTo>
                    <a:lnTo>
                      <a:pt x="8404" y="16285"/>
                    </a:lnTo>
                    <a:lnTo>
                      <a:pt x="8141" y="16033"/>
                    </a:lnTo>
                    <a:lnTo>
                      <a:pt x="7737" y="15930"/>
                    </a:lnTo>
                    <a:lnTo>
                      <a:pt x="7441" y="15295"/>
                    </a:lnTo>
                    <a:lnTo>
                      <a:pt x="6953" y="14660"/>
                    </a:lnTo>
                    <a:lnTo>
                      <a:pt x="6505" y="14804"/>
                    </a:lnTo>
                    <a:lnTo>
                      <a:pt x="6209" y="14271"/>
                    </a:lnTo>
                    <a:lnTo>
                      <a:pt x="5805" y="14483"/>
                    </a:lnTo>
                    <a:lnTo>
                      <a:pt x="5387" y="14442"/>
                    </a:lnTo>
                    <a:lnTo>
                      <a:pt x="4758" y="14660"/>
                    </a:lnTo>
                    <a:lnTo>
                      <a:pt x="4653" y="15821"/>
                    </a:lnTo>
                    <a:lnTo>
                      <a:pt x="4758" y="16320"/>
                    </a:lnTo>
                    <a:lnTo>
                      <a:pt x="3835" y="16108"/>
                    </a:lnTo>
                    <a:lnTo>
                      <a:pt x="3488" y="15930"/>
                    </a:lnTo>
                    <a:lnTo>
                      <a:pt x="3189" y="16033"/>
                    </a:lnTo>
                    <a:lnTo>
                      <a:pt x="3013" y="17064"/>
                    </a:lnTo>
                    <a:lnTo>
                      <a:pt x="3155" y="17064"/>
                    </a:lnTo>
                    <a:lnTo>
                      <a:pt x="3330" y="18054"/>
                    </a:lnTo>
                    <a:lnTo>
                      <a:pt x="3468" y="18054"/>
                    </a:lnTo>
                    <a:lnTo>
                      <a:pt x="3347" y="18266"/>
                    </a:lnTo>
                    <a:lnTo>
                      <a:pt x="3209" y="18334"/>
                    </a:lnTo>
                    <a:lnTo>
                      <a:pt x="3118" y="18791"/>
                    </a:lnTo>
                    <a:lnTo>
                      <a:pt x="3209" y="18791"/>
                    </a:lnTo>
                    <a:lnTo>
                      <a:pt x="3155" y="18826"/>
                    </a:lnTo>
                    <a:lnTo>
                      <a:pt x="3242" y="18976"/>
                    </a:lnTo>
                    <a:lnTo>
                      <a:pt x="3276" y="19078"/>
                    </a:lnTo>
                    <a:lnTo>
                      <a:pt x="3276" y="19358"/>
                    </a:lnTo>
                    <a:lnTo>
                      <a:pt x="3347" y="19577"/>
                    </a:lnTo>
                    <a:lnTo>
                      <a:pt x="3488" y="19925"/>
                    </a:lnTo>
                    <a:lnTo>
                      <a:pt x="3276" y="19993"/>
                    </a:lnTo>
                    <a:lnTo>
                      <a:pt x="3155" y="19747"/>
                    </a:lnTo>
                    <a:lnTo>
                      <a:pt x="2737" y="19283"/>
                    </a:lnTo>
                    <a:lnTo>
                      <a:pt x="2229" y="19283"/>
                    </a:lnTo>
                    <a:lnTo>
                      <a:pt x="2091" y="19078"/>
                    </a:lnTo>
                    <a:lnTo>
                      <a:pt x="1970" y="18894"/>
                    </a:lnTo>
                    <a:lnTo>
                      <a:pt x="1778" y="18655"/>
                    </a:lnTo>
                    <a:lnTo>
                      <a:pt x="1778" y="18546"/>
                    </a:lnTo>
                    <a:lnTo>
                      <a:pt x="1970" y="18054"/>
                    </a:lnTo>
                    <a:lnTo>
                      <a:pt x="2057" y="18054"/>
                    </a:lnTo>
                    <a:lnTo>
                      <a:pt x="2091" y="17801"/>
                    </a:lnTo>
                    <a:lnTo>
                      <a:pt x="2024" y="17692"/>
                    </a:lnTo>
                    <a:lnTo>
                      <a:pt x="1879" y="17876"/>
                    </a:lnTo>
                    <a:lnTo>
                      <a:pt x="1832" y="17692"/>
                    </a:lnTo>
                    <a:lnTo>
                      <a:pt x="2162" y="17487"/>
                    </a:lnTo>
                    <a:lnTo>
                      <a:pt x="2057" y="16886"/>
                    </a:lnTo>
                    <a:lnTo>
                      <a:pt x="1832" y="16886"/>
                    </a:lnTo>
                    <a:lnTo>
                      <a:pt x="1586" y="16497"/>
                    </a:lnTo>
                    <a:lnTo>
                      <a:pt x="1239" y="16422"/>
                    </a:lnTo>
                    <a:lnTo>
                      <a:pt x="923" y="16285"/>
                    </a:lnTo>
                    <a:lnTo>
                      <a:pt x="956" y="15930"/>
                    </a:lnTo>
                    <a:lnTo>
                      <a:pt x="872" y="15575"/>
                    </a:lnTo>
                    <a:lnTo>
                      <a:pt x="923" y="15541"/>
                    </a:lnTo>
                    <a:lnTo>
                      <a:pt x="1044" y="15644"/>
                    </a:lnTo>
                    <a:lnTo>
                      <a:pt x="993" y="15261"/>
                    </a:lnTo>
                    <a:lnTo>
                      <a:pt x="872" y="15015"/>
                    </a:lnTo>
                    <a:lnTo>
                      <a:pt x="764" y="14374"/>
                    </a:lnTo>
                    <a:lnTo>
                      <a:pt x="401" y="14271"/>
                    </a:lnTo>
                    <a:lnTo>
                      <a:pt x="455" y="13745"/>
                    </a:lnTo>
                    <a:lnTo>
                      <a:pt x="330" y="13452"/>
                    </a:lnTo>
                    <a:lnTo>
                      <a:pt x="226" y="13424"/>
                    </a:lnTo>
                    <a:lnTo>
                      <a:pt x="138" y="13144"/>
                    </a:lnTo>
                    <a:lnTo>
                      <a:pt x="138" y="12960"/>
                    </a:lnTo>
                    <a:lnTo>
                      <a:pt x="88" y="12714"/>
                    </a:lnTo>
                    <a:lnTo>
                      <a:pt x="121" y="12680"/>
                    </a:lnTo>
                    <a:lnTo>
                      <a:pt x="192" y="12680"/>
                    </a:lnTo>
                    <a:lnTo>
                      <a:pt x="192" y="12571"/>
                    </a:lnTo>
                    <a:lnTo>
                      <a:pt x="330" y="12434"/>
                    </a:lnTo>
                    <a:lnTo>
                      <a:pt x="488" y="12503"/>
                    </a:lnTo>
                    <a:lnTo>
                      <a:pt x="418" y="12332"/>
                    </a:lnTo>
                    <a:lnTo>
                      <a:pt x="313" y="12332"/>
                    </a:lnTo>
                    <a:lnTo>
                      <a:pt x="259" y="12045"/>
                    </a:lnTo>
                    <a:lnTo>
                      <a:pt x="172" y="12154"/>
                    </a:lnTo>
                    <a:lnTo>
                      <a:pt x="455" y="11478"/>
                    </a:lnTo>
                    <a:lnTo>
                      <a:pt x="626" y="10912"/>
                    </a:lnTo>
                    <a:lnTo>
                      <a:pt x="542" y="10775"/>
                    </a:lnTo>
                    <a:lnTo>
                      <a:pt x="488" y="10741"/>
                    </a:lnTo>
                    <a:lnTo>
                      <a:pt x="364" y="10563"/>
                    </a:lnTo>
                    <a:lnTo>
                      <a:pt x="401" y="10283"/>
                    </a:lnTo>
                    <a:lnTo>
                      <a:pt x="330" y="10208"/>
                    </a:lnTo>
                    <a:lnTo>
                      <a:pt x="330" y="10099"/>
                    </a:lnTo>
                    <a:lnTo>
                      <a:pt x="330" y="9990"/>
                    </a:lnTo>
                    <a:lnTo>
                      <a:pt x="276" y="9990"/>
                    </a:lnTo>
                    <a:lnTo>
                      <a:pt x="276" y="9894"/>
                    </a:lnTo>
                    <a:lnTo>
                      <a:pt x="276" y="9819"/>
                    </a:lnTo>
                    <a:lnTo>
                      <a:pt x="313" y="9464"/>
                    </a:lnTo>
                    <a:lnTo>
                      <a:pt x="138" y="8863"/>
                    </a:lnTo>
                    <a:lnTo>
                      <a:pt x="192" y="8549"/>
                    </a:lnTo>
                    <a:lnTo>
                      <a:pt x="138" y="8440"/>
                    </a:lnTo>
                    <a:lnTo>
                      <a:pt x="54" y="8330"/>
                    </a:lnTo>
                    <a:lnTo>
                      <a:pt x="34" y="8160"/>
                    </a:lnTo>
                    <a:lnTo>
                      <a:pt x="0" y="8051"/>
                    </a:lnTo>
                    <a:lnTo>
                      <a:pt x="138" y="7702"/>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2" name="Google Shape;102;p18"/>
              <p:cNvSpPr/>
              <p:nvPr/>
            </p:nvSpPr>
            <p:spPr>
              <a:xfrm>
                <a:off x="2490191" y="5151884"/>
                <a:ext cx="323774" cy="271909"/>
              </a:xfrm>
              <a:custGeom>
                <a:rect b="b" l="l" r="r" t="t"/>
                <a:pathLst>
                  <a:path extrusionOk="0" h="20000" w="20000">
                    <a:moveTo>
                      <a:pt x="13618" y="0"/>
                    </a:moveTo>
                    <a:lnTo>
                      <a:pt x="14471" y="861"/>
                    </a:lnTo>
                    <a:lnTo>
                      <a:pt x="14881" y="1066"/>
                    </a:lnTo>
                    <a:lnTo>
                      <a:pt x="15358" y="4262"/>
                    </a:lnTo>
                    <a:lnTo>
                      <a:pt x="16280" y="3607"/>
                    </a:lnTo>
                    <a:lnTo>
                      <a:pt x="17133" y="2787"/>
                    </a:lnTo>
                    <a:lnTo>
                      <a:pt x="18225" y="2131"/>
                    </a:lnTo>
                    <a:lnTo>
                      <a:pt x="19078" y="2541"/>
                    </a:lnTo>
                    <a:lnTo>
                      <a:pt x="19420" y="2541"/>
                    </a:lnTo>
                    <a:lnTo>
                      <a:pt x="19966" y="2787"/>
                    </a:lnTo>
                    <a:lnTo>
                      <a:pt x="19420" y="2787"/>
                    </a:lnTo>
                    <a:lnTo>
                      <a:pt x="19625" y="3197"/>
                    </a:lnTo>
                    <a:lnTo>
                      <a:pt x="19966" y="3607"/>
                    </a:lnTo>
                    <a:lnTo>
                      <a:pt x="17679" y="3607"/>
                    </a:lnTo>
                    <a:lnTo>
                      <a:pt x="16792" y="3852"/>
                    </a:lnTo>
                    <a:lnTo>
                      <a:pt x="15904" y="4467"/>
                    </a:lnTo>
                    <a:lnTo>
                      <a:pt x="15734" y="5287"/>
                    </a:lnTo>
                    <a:lnTo>
                      <a:pt x="15904" y="6967"/>
                    </a:lnTo>
                    <a:lnTo>
                      <a:pt x="15734" y="8279"/>
                    </a:lnTo>
                    <a:lnTo>
                      <a:pt x="15358" y="8893"/>
                    </a:lnTo>
                    <a:lnTo>
                      <a:pt x="15734" y="9959"/>
                    </a:lnTo>
                    <a:lnTo>
                      <a:pt x="14471" y="9959"/>
                    </a:lnTo>
                    <a:lnTo>
                      <a:pt x="13959" y="9959"/>
                    </a:lnTo>
                    <a:lnTo>
                      <a:pt x="14334" y="10820"/>
                    </a:lnTo>
                    <a:lnTo>
                      <a:pt x="14471" y="11475"/>
                    </a:lnTo>
                    <a:lnTo>
                      <a:pt x="13618" y="12090"/>
                    </a:lnTo>
                    <a:lnTo>
                      <a:pt x="13618" y="13156"/>
                    </a:lnTo>
                    <a:lnTo>
                      <a:pt x="13413" y="13770"/>
                    </a:lnTo>
                    <a:lnTo>
                      <a:pt x="13618" y="14836"/>
                    </a:lnTo>
                    <a:lnTo>
                      <a:pt x="13072" y="15492"/>
                    </a:lnTo>
                    <a:lnTo>
                      <a:pt x="12560" y="15287"/>
                    </a:lnTo>
                    <a:lnTo>
                      <a:pt x="12218" y="15287"/>
                    </a:lnTo>
                    <a:lnTo>
                      <a:pt x="11672" y="14836"/>
                    </a:lnTo>
                    <a:lnTo>
                      <a:pt x="11331" y="15287"/>
                    </a:lnTo>
                    <a:lnTo>
                      <a:pt x="11126" y="15902"/>
                    </a:lnTo>
                    <a:lnTo>
                      <a:pt x="10273" y="15902"/>
                    </a:lnTo>
                    <a:lnTo>
                      <a:pt x="9898" y="15902"/>
                    </a:lnTo>
                    <a:lnTo>
                      <a:pt x="9727" y="16107"/>
                    </a:lnTo>
                    <a:lnTo>
                      <a:pt x="9386" y="16516"/>
                    </a:lnTo>
                    <a:lnTo>
                      <a:pt x="9386" y="18689"/>
                    </a:lnTo>
                    <a:lnTo>
                      <a:pt x="7611" y="19303"/>
                    </a:lnTo>
                    <a:lnTo>
                      <a:pt x="6212" y="19713"/>
                    </a:lnTo>
                    <a:lnTo>
                      <a:pt x="5666" y="19959"/>
                    </a:lnTo>
                    <a:lnTo>
                      <a:pt x="4778" y="19959"/>
                    </a:lnTo>
                    <a:lnTo>
                      <a:pt x="3720" y="19959"/>
                    </a:lnTo>
                    <a:lnTo>
                      <a:pt x="1604" y="19303"/>
                    </a:lnTo>
                    <a:lnTo>
                      <a:pt x="1945" y="17828"/>
                    </a:lnTo>
                    <a:lnTo>
                      <a:pt x="2457" y="16967"/>
                    </a:lnTo>
                    <a:lnTo>
                      <a:pt x="2321" y="15902"/>
                    </a:lnTo>
                    <a:lnTo>
                      <a:pt x="922" y="15492"/>
                    </a:lnTo>
                    <a:lnTo>
                      <a:pt x="922" y="13770"/>
                    </a:lnTo>
                    <a:lnTo>
                      <a:pt x="205" y="12090"/>
                    </a:lnTo>
                    <a:lnTo>
                      <a:pt x="546" y="11475"/>
                    </a:lnTo>
                    <a:lnTo>
                      <a:pt x="205" y="11066"/>
                    </a:lnTo>
                    <a:lnTo>
                      <a:pt x="0" y="9959"/>
                    </a:lnTo>
                    <a:lnTo>
                      <a:pt x="546" y="9754"/>
                    </a:lnTo>
                    <a:lnTo>
                      <a:pt x="205" y="9344"/>
                    </a:lnTo>
                    <a:lnTo>
                      <a:pt x="546" y="8074"/>
                    </a:lnTo>
                    <a:lnTo>
                      <a:pt x="546" y="6557"/>
                    </a:lnTo>
                    <a:lnTo>
                      <a:pt x="2321" y="7213"/>
                    </a:lnTo>
                    <a:lnTo>
                      <a:pt x="2321" y="8074"/>
                    </a:lnTo>
                    <a:lnTo>
                      <a:pt x="3720" y="6557"/>
                    </a:lnTo>
                    <a:lnTo>
                      <a:pt x="3379" y="6393"/>
                    </a:lnTo>
                    <a:lnTo>
                      <a:pt x="5666" y="4877"/>
                    </a:lnTo>
                    <a:lnTo>
                      <a:pt x="5666" y="3197"/>
                    </a:lnTo>
                    <a:lnTo>
                      <a:pt x="6724" y="2787"/>
                    </a:lnTo>
                    <a:lnTo>
                      <a:pt x="7952" y="3197"/>
                    </a:lnTo>
                    <a:lnTo>
                      <a:pt x="9898" y="3852"/>
                    </a:lnTo>
                    <a:lnTo>
                      <a:pt x="11331" y="2787"/>
                    </a:lnTo>
                    <a:lnTo>
                      <a:pt x="11672" y="3197"/>
                    </a:lnTo>
                    <a:lnTo>
                      <a:pt x="12014" y="2541"/>
                    </a:lnTo>
                    <a:lnTo>
                      <a:pt x="13413" y="1926"/>
                    </a:lnTo>
                    <a:lnTo>
                      <a:pt x="13072" y="1516"/>
                    </a:lnTo>
                    <a:lnTo>
                      <a:pt x="13618" y="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3" name="Google Shape;103;p18"/>
              <p:cNvSpPr/>
              <p:nvPr/>
            </p:nvSpPr>
            <p:spPr>
              <a:xfrm>
                <a:off x="3183402" y="5492118"/>
                <a:ext cx="121762" cy="150594"/>
              </a:xfrm>
              <a:custGeom>
                <a:rect b="b" l="l" r="r" t="t"/>
                <a:pathLst>
                  <a:path extrusionOk="0" h="20000" w="20000">
                    <a:moveTo>
                      <a:pt x="6147" y="17704"/>
                    </a:moveTo>
                    <a:lnTo>
                      <a:pt x="3303" y="10741"/>
                    </a:lnTo>
                    <a:lnTo>
                      <a:pt x="3761" y="8815"/>
                    </a:lnTo>
                    <a:lnTo>
                      <a:pt x="1284" y="8074"/>
                    </a:lnTo>
                    <a:lnTo>
                      <a:pt x="0" y="6963"/>
                    </a:lnTo>
                    <a:lnTo>
                      <a:pt x="1284" y="6519"/>
                    </a:lnTo>
                    <a:lnTo>
                      <a:pt x="1284" y="4963"/>
                    </a:lnTo>
                    <a:lnTo>
                      <a:pt x="3761" y="4963"/>
                    </a:lnTo>
                    <a:lnTo>
                      <a:pt x="2385" y="3778"/>
                    </a:lnTo>
                    <a:lnTo>
                      <a:pt x="1284" y="3778"/>
                    </a:lnTo>
                    <a:lnTo>
                      <a:pt x="0" y="2741"/>
                    </a:lnTo>
                    <a:lnTo>
                      <a:pt x="917" y="0"/>
                    </a:lnTo>
                    <a:lnTo>
                      <a:pt x="2385" y="0"/>
                    </a:lnTo>
                    <a:lnTo>
                      <a:pt x="4679" y="1556"/>
                    </a:lnTo>
                    <a:lnTo>
                      <a:pt x="7064" y="2741"/>
                    </a:lnTo>
                    <a:lnTo>
                      <a:pt x="7523" y="4593"/>
                    </a:lnTo>
                    <a:lnTo>
                      <a:pt x="7064" y="4963"/>
                    </a:lnTo>
                    <a:lnTo>
                      <a:pt x="16147" y="4593"/>
                    </a:lnTo>
                    <a:lnTo>
                      <a:pt x="17064" y="5778"/>
                    </a:lnTo>
                    <a:lnTo>
                      <a:pt x="16147" y="6519"/>
                    </a:lnTo>
                    <a:lnTo>
                      <a:pt x="16147" y="7704"/>
                    </a:lnTo>
                    <a:lnTo>
                      <a:pt x="13670" y="8074"/>
                    </a:lnTo>
                    <a:lnTo>
                      <a:pt x="13303" y="9556"/>
                    </a:lnTo>
                    <a:lnTo>
                      <a:pt x="12202" y="10000"/>
                    </a:lnTo>
                    <a:lnTo>
                      <a:pt x="13303" y="12667"/>
                    </a:lnTo>
                    <a:lnTo>
                      <a:pt x="13670" y="12667"/>
                    </a:lnTo>
                    <a:lnTo>
                      <a:pt x="14679" y="13037"/>
                    </a:lnTo>
                    <a:lnTo>
                      <a:pt x="15138" y="13037"/>
                    </a:lnTo>
                    <a:lnTo>
                      <a:pt x="17064" y="11481"/>
                    </a:lnTo>
                    <a:lnTo>
                      <a:pt x="17064" y="13037"/>
                    </a:lnTo>
                    <a:lnTo>
                      <a:pt x="18440" y="14519"/>
                    </a:lnTo>
                    <a:lnTo>
                      <a:pt x="19358" y="16148"/>
                    </a:lnTo>
                    <a:lnTo>
                      <a:pt x="19908" y="19926"/>
                    </a:lnTo>
                    <a:lnTo>
                      <a:pt x="18440" y="19556"/>
                    </a:lnTo>
                    <a:lnTo>
                      <a:pt x="17431" y="19926"/>
                    </a:lnTo>
                    <a:lnTo>
                      <a:pt x="17064" y="18000"/>
                    </a:lnTo>
                    <a:lnTo>
                      <a:pt x="16147" y="15704"/>
                    </a:lnTo>
                    <a:lnTo>
                      <a:pt x="13670" y="13778"/>
                    </a:lnTo>
                    <a:lnTo>
                      <a:pt x="11284" y="13037"/>
                    </a:lnTo>
                    <a:lnTo>
                      <a:pt x="10826" y="11481"/>
                    </a:lnTo>
                    <a:lnTo>
                      <a:pt x="8440" y="10741"/>
                    </a:lnTo>
                    <a:lnTo>
                      <a:pt x="8440" y="11926"/>
                    </a:lnTo>
                    <a:lnTo>
                      <a:pt x="9908" y="11926"/>
                    </a:lnTo>
                    <a:lnTo>
                      <a:pt x="10826" y="13778"/>
                    </a:lnTo>
                    <a:lnTo>
                      <a:pt x="9908" y="14519"/>
                    </a:lnTo>
                    <a:lnTo>
                      <a:pt x="10826" y="15704"/>
                    </a:lnTo>
                    <a:lnTo>
                      <a:pt x="9908" y="17704"/>
                    </a:lnTo>
                    <a:lnTo>
                      <a:pt x="8440" y="16148"/>
                    </a:lnTo>
                    <a:lnTo>
                      <a:pt x="8440" y="15704"/>
                    </a:lnTo>
                    <a:lnTo>
                      <a:pt x="7523" y="16148"/>
                    </a:lnTo>
                    <a:lnTo>
                      <a:pt x="8440" y="17704"/>
                    </a:lnTo>
                    <a:lnTo>
                      <a:pt x="7064" y="17704"/>
                    </a:lnTo>
                    <a:lnTo>
                      <a:pt x="6147" y="1770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4" name="Google Shape;104;p18"/>
              <p:cNvSpPr/>
              <p:nvPr/>
            </p:nvSpPr>
            <p:spPr>
              <a:xfrm>
                <a:off x="3191703" y="5446103"/>
                <a:ext cx="81635" cy="37650"/>
              </a:xfrm>
              <a:custGeom>
                <a:rect b="b" l="l" r="r" t="t"/>
                <a:pathLst>
                  <a:path extrusionOk="0" h="20000" w="20000">
                    <a:moveTo>
                      <a:pt x="0" y="10588"/>
                    </a:moveTo>
                    <a:lnTo>
                      <a:pt x="3673" y="7647"/>
                    </a:lnTo>
                    <a:lnTo>
                      <a:pt x="5034" y="0"/>
                    </a:lnTo>
                    <a:lnTo>
                      <a:pt x="8435" y="2941"/>
                    </a:lnTo>
                    <a:lnTo>
                      <a:pt x="12789" y="2941"/>
                    </a:lnTo>
                    <a:lnTo>
                      <a:pt x="14150" y="0"/>
                    </a:lnTo>
                    <a:lnTo>
                      <a:pt x="16190" y="4706"/>
                    </a:lnTo>
                    <a:lnTo>
                      <a:pt x="16190" y="10588"/>
                    </a:lnTo>
                    <a:lnTo>
                      <a:pt x="18367" y="12059"/>
                    </a:lnTo>
                    <a:lnTo>
                      <a:pt x="19864" y="19706"/>
                    </a:lnTo>
                    <a:lnTo>
                      <a:pt x="10612" y="19706"/>
                    </a:lnTo>
                    <a:lnTo>
                      <a:pt x="10612" y="17941"/>
                    </a:lnTo>
                    <a:lnTo>
                      <a:pt x="7075" y="19706"/>
                    </a:lnTo>
                    <a:lnTo>
                      <a:pt x="2857" y="17941"/>
                    </a:lnTo>
                    <a:lnTo>
                      <a:pt x="0" y="15000"/>
                    </a:lnTo>
                    <a:lnTo>
                      <a:pt x="0" y="1058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5" name="Google Shape;105;p18"/>
              <p:cNvSpPr/>
              <p:nvPr/>
            </p:nvSpPr>
            <p:spPr>
              <a:xfrm>
                <a:off x="3289943" y="5437736"/>
                <a:ext cx="224152" cy="499195"/>
              </a:xfrm>
              <a:custGeom>
                <a:rect b="b" l="l" r="r" t="t"/>
                <a:pathLst>
                  <a:path extrusionOk="0" h="20000" w="20000">
                    <a:moveTo>
                      <a:pt x="1034" y="7031"/>
                    </a:moveTo>
                    <a:lnTo>
                      <a:pt x="1823" y="7031"/>
                    </a:lnTo>
                    <a:lnTo>
                      <a:pt x="1330" y="6116"/>
                    </a:lnTo>
                    <a:lnTo>
                      <a:pt x="2069" y="6004"/>
                    </a:lnTo>
                    <a:lnTo>
                      <a:pt x="2069" y="5067"/>
                    </a:lnTo>
                    <a:lnTo>
                      <a:pt x="3350" y="5067"/>
                    </a:lnTo>
                    <a:lnTo>
                      <a:pt x="4138" y="4286"/>
                    </a:lnTo>
                    <a:lnTo>
                      <a:pt x="4138" y="3683"/>
                    </a:lnTo>
                    <a:lnTo>
                      <a:pt x="4138" y="3326"/>
                    </a:lnTo>
                    <a:lnTo>
                      <a:pt x="5123" y="3013"/>
                    </a:lnTo>
                    <a:lnTo>
                      <a:pt x="5123" y="2188"/>
                    </a:lnTo>
                    <a:lnTo>
                      <a:pt x="6650" y="1496"/>
                    </a:lnTo>
                    <a:lnTo>
                      <a:pt x="8473" y="1272"/>
                    </a:lnTo>
                    <a:lnTo>
                      <a:pt x="8670" y="1496"/>
                    </a:lnTo>
                    <a:lnTo>
                      <a:pt x="9212" y="1272"/>
                    </a:lnTo>
                    <a:lnTo>
                      <a:pt x="8670" y="692"/>
                    </a:lnTo>
                    <a:lnTo>
                      <a:pt x="9212" y="357"/>
                    </a:lnTo>
                    <a:lnTo>
                      <a:pt x="9458" y="357"/>
                    </a:lnTo>
                    <a:lnTo>
                      <a:pt x="9458" y="0"/>
                    </a:lnTo>
                    <a:lnTo>
                      <a:pt x="10788" y="0"/>
                    </a:lnTo>
                    <a:lnTo>
                      <a:pt x="11773" y="580"/>
                    </a:lnTo>
                    <a:lnTo>
                      <a:pt x="11773" y="915"/>
                    </a:lnTo>
                    <a:lnTo>
                      <a:pt x="12512" y="915"/>
                    </a:lnTo>
                    <a:lnTo>
                      <a:pt x="13300" y="2768"/>
                    </a:lnTo>
                    <a:lnTo>
                      <a:pt x="12808" y="3237"/>
                    </a:lnTo>
                    <a:lnTo>
                      <a:pt x="12808" y="3326"/>
                    </a:lnTo>
                    <a:lnTo>
                      <a:pt x="12512" y="3326"/>
                    </a:lnTo>
                    <a:lnTo>
                      <a:pt x="11281" y="3683"/>
                    </a:lnTo>
                    <a:lnTo>
                      <a:pt x="11773" y="4152"/>
                    </a:lnTo>
                    <a:lnTo>
                      <a:pt x="10788" y="4152"/>
                    </a:lnTo>
                    <a:lnTo>
                      <a:pt x="11281" y="4621"/>
                    </a:lnTo>
                    <a:lnTo>
                      <a:pt x="11773" y="5067"/>
                    </a:lnTo>
                    <a:lnTo>
                      <a:pt x="12512" y="4844"/>
                    </a:lnTo>
                    <a:lnTo>
                      <a:pt x="12808" y="4844"/>
                    </a:lnTo>
                    <a:lnTo>
                      <a:pt x="14089" y="4844"/>
                    </a:lnTo>
                    <a:lnTo>
                      <a:pt x="13793" y="5067"/>
                    </a:lnTo>
                    <a:lnTo>
                      <a:pt x="14089" y="5201"/>
                    </a:lnTo>
                    <a:lnTo>
                      <a:pt x="14581" y="6004"/>
                    </a:lnTo>
                    <a:lnTo>
                      <a:pt x="15813" y="6004"/>
                    </a:lnTo>
                    <a:lnTo>
                      <a:pt x="15813" y="6563"/>
                    </a:lnTo>
                    <a:lnTo>
                      <a:pt x="15320" y="7031"/>
                    </a:lnTo>
                    <a:lnTo>
                      <a:pt x="17340" y="7254"/>
                    </a:lnTo>
                    <a:lnTo>
                      <a:pt x="17340" y="7522"/>
                    </a:lnTo>
                    <a:lnTo>
                      <a:pt x="17340" y="7612"/>
                    </a:lnTo>
                    <a:lnTo>
                      <a:pt x="17931" y="7612"/>
                    </a:lnTo>
                    <a:lnTo>
                      <a:pt x="18670" y="7857"/>
                    </a:lnTo>
                    <a:lnTo>
                      <a:pt x="19951" y="7857"/>
                    </a:lnTo>
                    <a:lnTo>
                      <a:pt x="19163" y="8080"/>
                    </a:lnTo>
                    <a:lnTo>
                      <a:pt x="18670" y="8192"/>
                    </a:lnTo>
                    <a:lnTo>
                      <a:pt x="19163" y="8438"/>
                    </a:lnTo>
                    <a:lnTo>
                      <a:pt x="18128" y="8527"/>
                    </a:lnTo>
                    <a:lnTo>
                      <a:pt x="17931" y="8772"/>
                    </a:lnTo>
                    <a:lnTo>
                      <a:pt x="16601" y="8996"/>
                    </a:lnTo>
                    <a:lnTo>
                      <a:pt x="16108" y="9353"/>
                    </a:lnTo>
                    <a:lnTo>
                      <a:pt x="15320" y="9129"/>
                    </a:lnTo>
                    <a:lnTo>
                      <a:pt x="15813" y="9442"/>
                    </a:lnTo>
                    <a:lnTo>
                      <a:pt x="13793" y="9710"/>
                    </a:lnTo>
                    <a:lnTo>
                      <a:pt x="13300" y="9933"/>
                    </a:lnTo>
                    <a:lnTo>
                      <a:pt x="12808" y="10268"/>
                    </a:lnTo>
                    <a:lnTo>
                      <a:pt x="12808" y="10848"/>
                    </a:lnTo>
                    <a:lnTo>
                      <a:pt x="12512" y="10960"/>
                    </a:lnTo>
                    <a:lnTo>
                      <a:pt x="12512" y="11183"/>
                    </a:lnTo>
                    <a:lnTo>
                      <a:pt x="12808" y="11183"/>
                    </a:lnTo>
                    <a:lnTo>
                      <a:pt x="13300" y="11540"/>
                    </a:lnTo>
                    <a:lnTo>
                      <a:pt x="14828" y="12679"/>
                    </a:lnTo>
                    <a:lnTo>
                      <a:pt x="15320" y="13036"/>
                    </a:lnTo>
                    <a:lnTo>
                      <a:pt x="15813" y="13638"/>
                    </a:lnTo>
                    <a:lnTo>
                      <a:pt x="15320" y="13862"/>
                    </a:lnTo>
                    <a:lnTo>
                      <a:pt x="15320" y="14308"/>
                    </a:lnTo>
                    <a:lnTo>
                      <a:pt x="14828" y="14777"/>
                    </a:lnTo>
                    <a:lnTo>
                      <a:pt x="14828" y="15134"/>
                    </a:lnTo>
                    <a:lnTo>
                      <a:pt x="17143" y="16272"/>
                    </a:lnTo>
                    <a:lnTo>
                      <a:pt x="17143" y="16741"/>
                    </a:lnTo>
                    <a:lnTo>
                      <a:pt x="17931" y="17879"/>
                    </a:lnTo>
                    <a:lnTo>
                      <a:pt x="17340" y="18482"/>
                    </a:lnTo>
                    <a:lnTo>
                      <a:pt x="16601" y="19397"/>
                    </a:lnTo>
                    <a:lnTo>
                      <a:pt x="16601" y="19754"/>
                    </a:lnTo>
                    <a:lnTo>
                      <a:pt x="16108" y="19978"/>
                    </a:lnTo>
                    <a:lnTo>
                      <a:pt x="15813" y="19397"/>
                    </a:lnTo>
                    <a:lnTo>
                      <a:pt x="16108" y="19063"/>
                    </a:lnTo>
                    <a:lnTo>
                      <a:pt x="16108" y="18125"/>
                    </a:lnTo>
                    <a:lnTo>
                      <a:pt x="15813" y="18125"/>
                    </a:lnTo>
                    <a:lnTo>
                      <a:pt x="16108" y="17879"/>
                    </a:lnTo>
                    <a:lnTo>
                      <a:pt x="16108" y="16964"/>
                    </a:lnTo>
                    <a:lnTo>
                      <a:pt x="14828" y="15826"/>
                    </a:lnTo>
                    <a:lnTo>
                      <a:pt x="14828" y="16272"/>
                    </a:lnTo>
                    <a:lnTo>
                      <a:pt x="14581" y="16272"/>
                    </a:lnTo>
                    <a:lnTo>
                      <a:pt x="14089" y="15357"/>
                    </a:lnTo>
                    <a:lnTo>
                      <a:pt x="13793" y="14308"/>
                    </a:lnTo>
                    <a:lnTo>
                      <a:pt x="13300" y="13638"/>
                    </a:lnTo>
                    <a:lnTo>
                      <a:pt x="13300" y="13036"/>
                    </a:lnTo>
                    <a:lnTo>
                      <a:pt x="12512" y="13036"/>
                    </a:lnTo>
                    <a:lnTo>
                      <a:pt x="12020" y="12679"/>
                    </a:lnTo>
                    <a:lnTo>
                      <a:pt x="11773" y="12366"/>
                    </a:lnTo>
                    <a:lnTo>
                      <a:pt x="11281" y="12455"/>
                    </a:lnTo>
                    <a:lnTo>
                      <a:pt x="11281" y="13036"/>
                    </a:lnTo>
                    <a:lnTo>
                      <a:pt x="10493" y="13393"/>
                    </a:lnTo>
                    <a:lnTo>
                      <a:pt x="8670" y="13862"/>
                    </a:lnTo>
                    <a:lnTo>
                      <a:pt x="8473" y="13973"/>
                    </a:lnTo>
                    <a:lnTo>
                      <a:pt x="7438" y="13862"/>
                    </a:lnTo>
                    <a:lnTo>
                      <a:pt x="7931" y="13638"/>
                    </a:lnTo>
                    <a:lnTo>
                      <a:pt x="7438" y="13862"/>
                    </a:lnTo>
                    <a:lnTo>
                      <a:pt x="6650" y="13862"/>
                    </a:lnTo>
                    <a:lnTo>
                      <a:pt x="6650" y="13638"/>
                    </a:lnTo>
                    <a:lnTo>
                      <a:pt x="5862" y="13862"/>
                    </a:lnTo>
                    <a:lnTo>
                      <a:pt x="5862" y="12679"/>
                    </a:lnTo>
                    <a:lnTo>
                      <a:pt x="6453" y="11763"/>
                    </a:lnTo>
                    <a:lnTo>
                      <a:pt x="5862" y="11183"/>
                    </a:lnTo>
                    <a:lnTo>
                      <a:pt x="4631" y="10491"/>
                    </a:lnTo>
                    <a:lnTo>
                      <a:pt x="4631" y="10625"/>
                    </a:lnTo>
                    <a:lnTo>
                      <a:pt x="3350" y="10045"/>
                    </a:lnTo>
                    <a:lnTo>
                      <a:pt x="4138" y="10268"/>
                    </a:lnTo>
                    <a:lnTo>
                      <a:pt x="4631" y="10045"/>
                    </a:lnTo>
                    <a:lnTo>
                      <a:pt x="3350" y="9710"/>
                    </a:lnTo>
                    <a:lnTo>
                      <a:pt x="3054" y="9353"/>
                    </a:lnTo>
                    <a:lnTo>
                      <a:pt x="2562" y="9129"/>
                    </a:lnTo>
                    <a:lnTo>
                      <a:pt x="1823" y="8996"/>
                    </a:lnTo>
                    <a:lnTo>
                      <a:pt x="1330" y="8996"/>
                    </a:lnTo>
                    <a:lnTo>
                      <a:pt x="0" y="8192"/>
                    </a:lnTo>
                    <a:lnTo>
                      <a:pt x="542" y="8080"/>
                    </a:lnTo>
                    <a:lnTo>
                      <a:pt x="1330" y="8192"/>
                    </a:lnTo>
                    <a:lnTo>
                      <a:pt x="1034" y="703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6" name="Google Shape;106;p18"/>
              <p:cNvSpPr/>
              <p:nvPr/>
            </p:nvSpPr>
            <p:spPr>
              <a:xfrm>
                <a:off x="3865543" y="6066612"/>
                <a:ext cx="23522" cy="29281"/>
              </a:xfrm>
              <a:custGeom>
                <a:rect b="b" l="l" r="r" t="t"/>
                <a:pathLst>
                  <a:path extrusionOk="0" h="20000" w="20000">
                    <a:moveTo>
                      <a:pt x="0" y="5769"/>
                    </a:moveTo>
                    <a:lnTo>
                      <a:pt x="11905" y="0"/>
                    </a:lnTo>
                    <a:lnTo>
                      <a:pt x="11905" y="5769"/>
                    </a:lnTo>
                    <a:lnTo>
                      <a:pt x="19524" y="13462"/>
                    </a:lnTo>
                    <a:lnTo>
                      <a:pt x="11905" y="13462"/>
                    </a:lnTo>
                    <a:lnTo>
                      <a:pt x="2857" y="19615"/>
                    </a:lnTo>
                    <a:lnTo>
                      <a:pt x="0" y="576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7" name="Google Shape;107;p18"/>
              <p:cNvSpPr/>
              <p:nvPr/>
            </p:nvSpPr>
            <p:spPr>
              <a:xfrm>
                <a:off x="3966549" y="5513034"/>
                <a:ext cx="44276" cy="100397"/>
              </a:xfrm>
              <a:custGeom>
                <a:rect b="b" l="l" r="r" t="t"/>
                <a:pathLst>
                  <a:path extrusionOk="0" h="20000" w="20000">
                    <a:moveTo>
                      <a:pt x="10380" y="19890"/>
                    </a:moveTo>
                    <a:lnTo>
                      <a:pt x="9114" y="19890"/>
                    </a:lnTo>
                    <a:lnTo>
                      <a:pt x="9114" y="18132"/>
                    </a:lnTo>
                    <a:lnTo>
                      <a:pt x="4051" y="16484"/>
                    </a:lnTo>
                    <a:lnTo>
                      <a:pt x="0" y="12967"/>
                    </a:lnTo>
                    <a:lnTo>
                      <a:pt x="0" y="10220"/>
                    </a:lnTo>
                    <a:lnTo>
                      <a:pt x="2532" y="8022"/>
                    </a:lnTo>
                    <a:lnTo>
                      <a:pt x="9114" y="1648"/>
                    </a:lnTo>
                    <a:lnTo>
                      <a:pt x="12911" y="0"/>
                    </a:lnTo>
                    <a:lnTo>
                      <a:pt x="19747" y="1648"/>
                    </a:lnTo>
                    <a:lnTo>
                      <a:pt x="19747" y="4505"/>
                    </a:lnTo>
                    <a:lnTo>
                      <a:pt x="16962" y="6264"/>
                    </a:lnTo>
                    <a:lnTo>
                      <a:pt x="15696" y="12967"/>
                    </a:lnTo>
                    <a:lnTo>
                      <a:pt x="12911" y="16484"/>
                    </a:lnTo>
                    <a:lnTo>
                      <a:pt x="10380" y="1989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8" name="Google Shape;108;p18"/>
              <p:cNvSpPr/>
              <p:nvPr/>
            </p:nvSpPr>
            <p:spPr>
              <a:xfrm>
                <a:off x="2776608" y="4523010"/>
                <a:ext cx="1355980" cy="1140620"/>
              </a:xfrm>
              <a:custGeom>
                <a:rect b="b" l="l" r="r" t="t"/>
                <a:pathLst>
                  <a:path extrusionOk="0" h="20000" w="20000">
                    <a:moveTo>
                      <a:pt x="14841" y="108"/>
                    </a:moveTo>
                    <a:lnTo>
                      <a:pt x="15004" y="0"/>
                    </a:lnTo>
                    <a:lnTo>
                      <a:pt x="15216" y="108"/>
                    </a:lnTo>
                    <a:lnTo>
                      <a:pt x="15641" y="205"/>
                    </a:lnTo>
                    <a:lnTo>
                      <a:pt x="15853" y="254"/>
                    </a:lnTo>
                    <a:lnTo>
                      <a:pt x="15976" y="362"/>
                    </a:lnTo>
                    <a:lnTo>
                      <a:pt x="16612" y="1418"/>
                    </a:lnTo>
                    <a:lnTo>
                      <a:pt x="16873" y="1721"/>
                    </a:lnTo>
                    <a:lnTo>
                      <a:pt x="17078" y="2230"/>
                    </a:lnTo>
                    <a:lnTo>
                      <a:pt x="17208" y="2484"/>
                    </a:lnTo>
                    <a:lnTo>
                      <a:pt x="17331" y="2641"/>
                    </a:lnTo>
                    <a:lnTo>
                      <a:pt x="17673" y="2641"/>
                    </a:lnTo>
                    <a:lnTo>
                      <a:pt x="17878" y="2641"/>
                    </a:lnTo>
                    <a:lnTo>
                      <a:pt x="18424" y="2983"/>
                    </a:lnTo>
                    <a:lnTo>
                      <a:pt x="18776" y="3795"/>
                    </a:lnTo>
                    <a:lnTo>
                      <a:pt x="18939" y="3795"/>
                    </a:lnTo>
                    <a:lnTo>
                      <a:pt x="19273" y="3697"/>
                    </a:lnTo>
                    <a:lnTo>
                      <a:pt x="19396" y="3443"/>
                    </a:lnTo>
                    <a:lnTo>
                      <a:pt x="19739" y="3296"/>
                    </a:lnTo>
                    <a:lnTo>
                      <a:pt x="19992" y="3139"/>
                    </a:lnTo>
                    <a:lnTo>
                      <a:pt x="19992" y="3540"/>
                    </a:lnTo>
                    <a:lnTo>
                      <a:pt x="19992" y="3941"/>
                    </a:lnTo>
                    <a:lnTo>
                      <a:pt x="19951" y="4098"/>
                    </a:lnTo>
                    <a:lnTo>
                      <a:pt x="19951" y="5516"/>
                    </a:lnTo>
                    <a:lnTo>
                      <a:pt x="19527" y="5320"/>
                    </a:lnTo>
                    <a:lnTo>
                      <a:pt x="19314" y="5672"/>
                    </a:lnTo>
                    <a:lnTo>
                      <a:pt x="19608" y="6631"/>
                    </a:lnTo>
                    <a:lnTo>
                      <a:pt x="19527" y="7139"/>
                    </a:lnTo>
                    <a:lnTo>
                      <a:pt x="19527" y="7296"/>
                    </a:lnTo>
                    <a:lnTo>
                      <a:pt x="19396" y="7139"/>
                    </a:lnTo>
                    <a:lnTo>
                      <a:pt x="19273" y="7042"/>
                    </a:lnTo>
                    <a:lnTo>
                      <a:pt x="19273" y="7296"/>
                    </a:lnTo>
                    <a:lnTo>
                      <a:pt x="19110" y="7443"/>
                    </a:lnTo>
                    <a:lnTo>
                      <a:pt x="19061" y="7638"/>
                    </a:lnTo>
                    <a:lnTo>
                      <a:pt x="18939" y="7697"/>
                    </a:lnTo>
                    <a:lnTo>
                      <a:pt x="18776" y="7795"/>
                    </a:lnTo>
                    <a:lnTo>
                      <a:pt x="18776" y="7844"/>
                    </a:lnTo>
                    <a:lnTo>
                      <a:pt x="18857" y="8039"/>
                    </a:lnTo>
                    <a:lnTo>
                      <a:pt x="18727" y="8039"/>
                    </a:lnTo>
                    <a:lnTo>
                      <a:pt x="18514" y="8039"/>
                    </a:lnTo>
                    <a:lnTo>
                      <a:pt x="18392" y="7844"/>
                    </a:lnTo>
                    <a:lnTo>
                      <a:pt x="18220" y="7941"/>
                    </a:lnTo>
                    <a:lnTo>
                      <a:pt x="18220" y="8196"/>
                    </a:lnTo>
                    <a:lnTo>
                      <a:pt x="18180" y="8352"/>
                    </a:lnTo>
                    <a:lnTo>
                      <a:pt x="18049" y="8499"/>
                    </a:lnTo>
                    <a:lnTo>
                      <a:pt x="17755" y="8753"/>
                    </a:lnTo>
                    <a:lnTo>
                      <a:pt x="17624" y="9164"/>
                    </a:lnTo>
                    <a:lnTo>
                      <a:pt x="17331" y="9262"/>
                    </a:lnTo>
                    <a:lnTo>
                      <a:pt x="17159" y="9418"/>
                    </a:lnTo>
                    <a:lnTo>
                      <a:pt x="16955" y="9672"/>
                    </a:lnTo>
                    <a:lnTo>
                      <a:pt x="16743" y="9917"/>
                    </a:lnTo>
                    <a:lnTo>
                      <a:pt x="16653" y="9819"/>
                    </a:lnTo>
                    <a:lnTo>
                      <a:pt x="16776" y="9672"/>
                    </a:lnTo>
                    <a:lnTo>
                      <a:pt x="16776" y="9565"/>
                    </a:lnTo>
                    <a:lnTo>
                      <a:pt x="16873" y="9516"/>
                    </a:lnTo>
                    <a:lnTo>
                      <a:pt x="16743" y="9418"/>
                    </a:lnTo>
                    <a:lnTo>
                      <a:pt x="16653" y="9262"/>
                    </a:lnTo>
                    <a:lnTo>
                      <a:pt x="16873" y="8753"/>
                    </a:lnTo>
                    <a:lnTo>
                      <a:pt x="16612" y="8499"/>
                    </a:lnTo>
                    <a:lnTo>
                      <a:pt x="16318" y="8704"/>
                    </a:lnTo>
                    <a:lnTo>
                      <a:pt x="16106" y="9164"/>
                    </a:lnTo>
                    <a:lnTo>
                      <a:pt x="15894" y="9418"/>
                    </a:lnTo>
                    <a:lnTo>
                      <a:pt x="15853" y="9672"/>
                    </a:lnTo>
                    <a:lnTo>
                      <a:pt x="15722" y="9770"/>
                    </a:lnTo>
                    <a:lnTo>
                      <a:pt x="15429" y="9770"/>
                    </a:lnTo>
                    <a:lnTo>
                      <a:pt x="15510" y="10171"/>
                    </a:lnTo>
                    <a:lnTo>
                      <a:pt x="15641" y="10474"/>
                    </a:lnTo>
                    <a:lnTo>
                      <a:pt x="15771" y="10435"/>
                    </a:lnTo>
                    <a:lnTo>
                      <a:pt x="15976" y="10572"/>
                    </a:lnTo>
                    <a:lnTo>
                      <a:pt x="16057" y="10836"/>
                    </a:lnTo>
                    <a:lnTo>
                      <a:pt x="16188" y="10983"/>
                    </a:lnTo>
                    <a:lnTo>
                      <a:pt x="16318" y="10875"/>
                    </a:lnTo>
                    <a:lnTo>
                      <a:pt x="16522" y="10631"/>
                    </a:lnTo>
                    <a:lnTo>
                      <a:pt x="16653" y="10474"/>
                    </a:lnTo>
                    <a:lnTo>
                      <a:pt x="16955" y="10631"/>
                    </a:lnTo>
                    <a:lnTo>
                      <a:pt x="17159" y="10631"/>
                    </a:lnTo>
                    <a:lnTo>
                      <a:pt x="17331" y="10631"/>
                    </a:lnTo>
                    <a:lnTo>
                      <a:pt x="17331" y="10983"/>
                    </a:lnTo>
                    <a:lnTo>
                      <a:pt x="17159" y="10875"/>
                    </a:lnTo>
                    <a:lnTo>
                      <a:pt x="16776" y="11139"/>
                    </a:lnTo>
                    <a:lnTo>
                      <a:pt x="16873" y="11237"/>
                    </a:lnTo>
                    <a:lnTo>
                      <a:pt x="16612" y="11638"/>
                    </a:lnTo>
                    <a:lnTo>
                      <a:pt x="16400" y="12039"/>
                    </a:lnTo>
                    <a:lnTo>
                      <a:pt x="16400" y="12293"/>
                    </a:lnTo>
                    <a:lnTo>
                      <a:pt x="16776" y="12557"/>
                    </a:lnTo>
                    <a:lnTo>
                      <a:pt x="17078" y="13154"/>
                    </a:lnTo>
                    <a:lnTo>
                      <a:pt x="17208" y="13262"/>
                    </a:lnTo>
                    <a:lnTo>
                      <a:pt x="17290" y="13516"/>
                    </a:lnTo>
                    <a:lnTo>
                      <a:pt x="17494" y="13770"/>
                    </a:lnTo>
                    <a:lnTo>
                      <a:pt x="17624" y="13917"/>
                    </a:lnTo>
                    <a:lnTo>
                      <a:pt x="17290" y="13819"/>
                    </a:lnTo>
                    <a:lnTo>
                      <a:pt x="17159" y="13770"/>
                    </a:lnTo>
                    <a:lnTo>
                      <a:pt x="17078" y="13819"/>
                    </a:lnTo>
                    <a:lnTo>
                      <a:pt x="17208" y="13819"/>
                    </a:lnTo>
                    <a:lnTo>
                      <a:pt x="17412" y="14073"/>
                    </a:lnTo>
                    <a:lnTo>
                      <a:pt x="17673" y="14416"/>
                    </a:lnTo>
                    <a:lnTo>
                      <a:pt x="17494" y="14474"/>
                    </a:lnTo>
                    <a:lnTo>
                      <a:pt x="17412" y="14680"/>
                    </a:lnTo>
                    <a:lnTo>
                      <a:pt x="17208" y="14680"/>
                    </a:lnTo>
                    <a:lnTo>
                      <a:pt x="17159" y="14826"/>
                    </a:lnTo>
                    <a:lnTo>
                      <a:pt x="17290" y="14729"/>
                    </a:lnTo>
                    <a:lnTo>
                      <a:pt x="17290" y="14875"/>
                    </a:lnTo>
                    <a:lnTo>
                      <a:pt x="17543" y="14729"/>
                    </a:lnTo>
                    <a:lnTo>
                      <a:pt x="17755" y="14875"/>
                    </a:lnTo>
                    <a:lnTo>
                      <a:pt x="17837" y="14973"/>
                    </a:lnTo>
                    <a:lnTo>
                      <a:pt x="17673" y="15130"/>
                    </a:lnTo>
                    <a:lnTo>
                      <a:pt x="17837" y="15130"/>
                    </a:lnTo>
                    <a:lnTo>
                      <a:pt x="17837" y="15276"/>
                    </a:lnTo>
                    <a:lnTo>
                      <a:pt x="17673" y="15276"/>
                    </a:lnTo>
                    <a:lnTo>
                      <a:pt x="17755" y="15374"/>
                    </a:lnTo>
                    <a:lnTo>
                      <a:pt x="17755" y="15531"/>
                    </a:lnTo>
                    <a:lnTo>
                      <a:pt x="17673" y="15531"/>
                    </a:lnTo>
                    <a:lnTo>
                      <a:pt x="17673" y="15638"/>
                    </a:lnTo>
                    <a:lnTo>
                      <a:pt x="17837" y="15736"/>
                    </a:lnTo>
                    <a:lnTo>
                      <a:pt x="17673" y="15795"/>
                    </a:lnTo>
                    <a:lnTo>
                      <a:pt x="17673" y="15736"/>
                    </a:lnTo>
                    <a:lnTo>
                      <a:pt x="17624" y="15795"/>
                    </a:lnTo>
                    <a:lnTo>
                      <a:pt x="17494" y="16196"/>
                    </a:lnTo>
                    <a:lnTo>
                      <a:pt x="17331" y="16597"/>
                    </a:lnTo>
                    <a:lnTo>
                      <a:pt x="17208" y="16597"/>
                    </a:lnTo>
                    <a:lnTo>
                      <a:pt x="17208" y="16694"/>
                    </a:lnTo>
                    <a:lnTo>
                      <a:pt x="17290" y="16792"/>
                    </a:lnTo>
                    <a:lnTo>
                      <a:pt x="17208" y="16949"/>
                    </a:lnTo>
                    <a:lnTo>
                      <a:pt x="17208" y="17213"/>
                    </a:lnTo>
                    <a:lnTo>
                      <a:pt x="17208" y="17359"/>
                    </a:lnTo>
                    <a:lnTo>
                      <a:pt x="17078" y="17614"/>
                    </a:lnTo>
                    <a:lnTo>
                      <a:pt x="16955" y="17770"/>
                    </a:lnTo>
                    <a:lnTo>
                      <a:pt x="16743" y="17868"/>
                    </a:lnTo>
                    <a:lnTo>
                      <a:pt x="16776" y="17917"/>
                    </a:lnTo>
                    <a:lnTo>
                      <a:pt x="16612" y="18171"/>
                    </a:lnTo>
                    <a:lnTo>
                      <a:pt x="16441" y="18269"/>
                    </a:lnTo>
                    <a:lnTo>
                      <a:pt x="16400" y="18269"/>
                    </a:lnTo>
                    <a:lnTo>
                      <a:pt x="16269" y="18670"/>
                    </a:lnTo>
                    <a:lnTo>
                      <a:pt x="15976" y="18729"/>
                    </a:lnTo>
                    <a:lnTo>
                      <a:pt x="15894" y="18826"/>
                    </a:lnTo>
                    <a:lnTo>
                      <a:pt x="15771" y="18729"/>
                    </a:lnTo>
                    <a:lnTo>
                      <a:pt x="15722" y="18826"/>
                    </a:lnTo>
                    <a:lnTo>
                      <a:pt x="15641" y="18729"/>
                    </a:lnTo>
                    <a:lnTo>
                      <a:pt x="15429" y="18924"/>
                    </a:lnTo>
                    <a:lnTo>
                      <a:pt x="15216" y="18670"/>
                    </a:lnTo>
                    <a:lnTo>
                      <a:pt x="15306" y="19071"/>
                    </a:lnTo>
                    <a:lnTo>
                      <a:pt x="14955" y="19227"/>
                    </a:lnTo>
                    <a:lnTo>
                      <a:pt x="14873" y="19130"/>
                    </a:lnTo>
                    <a:lnTo>
                      <a:pt x="14873" y="19227"/>
                    </a:lnTo>
                    <a:lnTo>
                      <a:pt x="14751" y="19335"/>
                    </a:lnTo>
                    <a:lnTo>
                      <a:pt x="14620" y="19374"/>
                    </a:lnTo>
                    <a:lnTo>
                      <a:pt x="14416" y="19491"/>
                    </a:lnTo>
                    <a:lnTo>
                      <a:pt x="14204" y="19589"/>
                    </a:lnTo>
                    <a:lnTo>
                      <a:pt x="14204" y="19491"/>
                    </a:lnTo>
                    <a:lnTo>
                      <a:pt x="14122" y="19736"/>
                    </a:lnTo>
                    <a:lnTo>
                      <a:pt x="14286" y="19892"/>
                    </a:lnTo>
                    <a:lnTo>
                      <a:pt x="14073" y="19990"/>
                    </a:lnTo>
                    <a:lnTo>
                      <a:pt x="13992" y="19628"/>
                    </a:lnTo>
                    <a:lnTo>
                      <a:pt x="13951" y="19491"/>
                    </a:lnTo>
                    <a:lnTo>
                      <a:pt x="14073" y="19374"/>
                    </a:lnTo>
                    <a:lnTo>
                      <a:pt x="13869" y="19227"/>
                    </a:lnTo>
                    <a:lnTo>
                      <a:pt x="13780" y="19374"/>
                    </a:lnTo>
                    <a:lnTo>
                      <a:pt x="13649" y="19335"/>
                    </a:lnTo>
                    <a:lnTo>
                      <a:pt x="13527" y="19227"/>
                    </a:lnTo>
                    <a:lnTo>
                      <a:pt x="13437" y="19227"/>
                    </a:lnTo>
                    <a:lnTo>
                      <a:pt x="13437" y="19374"/>
                    </a:lnTo>
                    <a:lnTo>
                      <a:pt x="13314" y="19374"/>
                    </a:lnTo>
                    <a:lnTo>
                      <a:pt x="13233" y="19335"/>
                    </a:lnTo>
                    <a:lnTo>
                      <a:pt x="13061" y="19374"/>
                    </a:lnTo>
                    <a:lnTo>
                      <a:pt x="12767" y="18973"/>
                    </a:lnTo>
                    <a:lnTo>
                      <a:pt x="12849" y="18729"/>
                    </a:lnTo>
                    <a:lnTo>
                      <a:pt x="12767" y="18729"/>
                    </a:lnTo>
                    <a:lnTo>
                      <a:pt x="12433" y="18670"/>
                    </a:lnTo>
                    <a:lnTo>
                      <a:pt x="12302" y="18513"/>
                    </a:lnTo>
                    <a:lnTo>
                      <a:pt x="12090" y="18572"/>
                    </a:lnTo>
                    <a:lnTo>
                      <a:pt x="12090" y="18729"/>
                    </a:lnTo>
                    <a:lnTo>
                      <a:pt x="11878" y="18826"/>
                    </a:lnTo>
                    <a:lnTo>
                      <a:pt x="11796" y="18973"/>
                    </a:lnTo>
                    <a:lnTo>
                      <a:pt x="11665" y="18826"/>
                    </a:lnTo>
                    <a:lnTo>
                      <a:pt x="11535" y="18826"/>
                    </a:lnTo>
                    <a:lnTo>
                      <a:pt x="11453" y="18924"/>
                    </a:lnTo>
                    <a:lnTo>
                      <a:pt x="11331" y="18924"/>
                    </a:lnTo>
                    <a:lnTo>
                      <a:pt x="11282" y="18924"/>
                    </a:lnTo>
                    <a:lnTo>
                      <a:pt x="11200" y="18973"/>
                    </a:lnTo>
                    <a:lnTo>
                      <a:pt x="11078" y="18973"/>
                    </a:lnTo>
                    <a:lnTo>
                      <a:pt x="10988" y="19071"/>
                    </a:lnTo>
                    <a:lnTo>
                      <a:pt x="11078" y="19589"/>
                    </a:lnTo>
                    <a:lnTo>
                      <a:pt x="10865" y="19589"/>
                    </a:lnTo>
                    <a:lnTo>
                      <a:pt x="10865" y="19491"/>
                    </a:lnTo>
                    <a:lnTo>
                      <a:pt x="10653" y="19491"/>
                    </a:lnTo>
                    <a:lnTo>
                      <a:pt x="10531" y="19374"/>
                    </a:lnTo>
                    <a:lnTo>
                      <a:pt x="10441" y="19374"/>
                    </a:lnTo>
                    <a:lnTo>
                      <a:pt x="10441" y="19335"/>
                    </a:lnTo>
                    <a:lnTo>
                      <a:pt x="10441" y="19227"/>
                    </a:lnTo>
                    <a:lnTo>
                      <a:pt x="10098" y="19130"/>
                    </a:lnTo>
                    <a:lnTo>
                      <a:pt x="10180" y="18924"/>
                    </a:lnTo>
                    <a:lnTo>
                      <a:pt x="10180" y="18670"/>
                    </a:lnTo>
                    <a:lnTo>
                      <a:pt x="9976" y="18670"/>
                    </a:lnTo>
                    <a:lnTo>
                      <a:pt x="9894" y="18318"/>
                    </a:lnTo>
                    <a:lnTo>
                      <a:pt x="9845" y="18269"/>
                    </a:lnTo>
                    <a:lnTo>
                      <a:pt x="9894" y="18171"/>
                    </a:lnTo>
                    <a:lnTo>
                      <a:pt x="9682" y="18171"/>
                    </a:lnTo>
                    <a:lnTo>
                      <a:pt x="9633" y="18171"/>
                    </a:lnTo>
                    <a:lnTo>
                      <a:pt x="9510" y="18269"/>
                    </a:lnTo>
                    <a:lnTo>
                      <a:pt x="9429" y="18073"/>
                    </a:lnTo>
                    <a:lnTo>
                      <a:pt x="9347" y="17868"/>
                    </a:lnTo>
                    <a:lnTo>
                      <a:pt x="9510" y="17868"/>
                    </a:lnTo>
                    <a:lnTo>
                      <a:pt x="9429" y="17653"/>
                    </a:lnTo>
                    <a:lnTo>
                      <a:pt x="9633" y="17506"/>
                    </a:lnTo>
                    <a:lnTo>
                      <a:pt x="9682" y="17506"/>
                    </a:lnTo>
                    <a:lnTo>
                      <a:pt x="9682" y="17457"/>
                    </a:lnTo>
                    <a:lnTo>
                      <a:pt x="9763" y="17252"/>
                    </a:lnTo>
                    <a:lnTo>
                      <a:pt x="9633" y="16450"/>
                    </a:lnTo>
                    <a:lnTo>
                      <a:pt x="9510" y="16450"/>
                    </a:lnTo>
                    <a:lnTo>
                      <a:pt x="9510" y="16293"/>
                    </a:lnTo>
                    <a:lnTo>
                      <a:pt x="9347" y="16039"/>
                    </a:lnTo>
                    <a:lnTo>
                      <a:pt x="9127" y="16039"/>
                    </a:lnTo>
                    <a:lnTo>
                      <a:pt x="9127" y="16196"/>
                    </a:lnTo>
                    <a:lnTo>
                      <a:pt x="8996" y="16039"/>
                    </a:lnTo>
                    <a:lnTo>
                      <a:pt x="8873" y="16039"/>
                    </a:lnTo>
                    <a:lnTo>
                      <a:pt x="8873" y="15941"/>
                    </a:lnTo>
                    <a:lnTo>
                      <a:pt x="8751" y="16039"/>
                    </a:lnTo>
                    <a:lnTo>
                      <a:pt x="8792" y="15892"/>
                    </a:lnTo>
                    <a:lnTo>
                      <a:pt x="8792" y="15736"/>
                    </a:lnTo>
                    <a:lnTo>
                      <a:pt x="8661" y="15736"/>
                    </a:lnTo>
                    <a:lnTo>
                      <a:pt x="8751" y="15531"/>
                    </a:lnTo>
                    <a:lnTo>
                      <a:pt x="8661" y="15491"/>
                    </a:lnTo>
                    <a:lnTo>
                      <a:pt x="8539" y="15531"/>
                    </a:lnTo>
                    <a:lnTo>
                      <a:pt x="8408" y="15736"/>
                    </a:lnTo>
                    <a:lnTo>
                      <a:pt x="8073" y="15638"/>
                    </a:lnTo>
                    <a:lnTo>
                      <a:pt x="7910" y="15736"/>
                    </a:lnTo>
                    <a:lnTo>
                      <a:pt x="7861" y="15892"/>
                    </a:lnTo>
                    <a:lnTo>
                      <a:pt x="7559" y="15941"/>
                    </a:lnTo>
                    <a:lnTo>
                      <a:pt x="7559" y="16137"/>
                    </a:lnTo>
                    <a:lnTo>
                      <a:pt x="7527" y="16196"/>
                    </a:lnTo>
                    <a:lnTo>
                      <a:pt x="7445" y="16293"/>
                    </a:lnTo>
                    <a:lnTo>
                      <a:pt x="7224" y="16352"/>
                    </a:lnTo>
                    <a:lnTo>
                      <a:pt x="7094" y="16352"/>
                    </a:lnTo>
                    <a:lnTo>
                      <a:pt x="6971" y="16196"/>
                    </a:lnTo>
                    <a:lnTo>
                      <a:pt x="6890" y="16293"/>
                    </a:lnTo>
                    <a:lnTo>
                      <a:pt x="6637" y="16293"/>
                    </a:lnTo>
                    <a:lnTo>
                      <a:pt x="6424" y="16196"/>
                    </a:lnTo>
                    <a:lnTo>
                      <a:pt x="6343" y="16450"/>
                    </a:lnTo>
                    <a:lnTo>
                      <a:pt x="6122" y="16548"/>
                    </a:lnTo>
                    <a:lnTo>
                      <a:pt x="6122" y="16293"/>
                    </a:lnTo>
                    <a:lnTo>
                      <a:pt x="5918" y="16352"/>
                    </a:lnTo>
                    <a:lnTo>
                      <a:pt x="5535" y="16352"/>
                    </a:lnTo>
                    <a:lnTo>
                      <a:pt x="5322" y="16293"/>
                    </a:lnTo>
                    <a:lnTo>
                      <a:pt x="5241" y="16352"/>
                    </a:lnTo>
                    <a:lnTo>
                      <a:pt x="4906" y="16196"/>
                    </a:lnTo>
                    <a:lnTo>
                      <a:pt x="4776" y="16196"/>
                    </a:lnTo>
                    <a:lnTo>
                      <a:pt x="4776" y="15941"/>
                    </a:lnTo>
                    <a:lnTo>
                      <a:pt x="4653" y="16039"/>
                    </a:lnTo>
                    <a:lnTo>
                      <a:pt x="4441" y="15941"/>
                    </a:lnTo>
                    <a:lnTo>
                      <a:pt x="4351" y="15736"/>
                    </a:lnTo>
                    <a:lnTo>
                      <a:pt x="4220" y="15736"/>
                    </a:lnTo>
                    <a:lnTo>
                      <a:pt x="4139" y="15795"/>
                    </a:lnTo>
                    <a:lnTo>
                      <a:pt x="4016" y="15531"/>
                    </a:lnTo>
                    <a:lnTo>
                      <a:pt x="3420" y="15237"/>
                    </a:lnTo>
                    <a:lnTo>
                      <a:pt x="3208" y="15130"/>
                    </a:lnTo>
                    <a:lnTo>
                      <a:pt x="2751" y="14826"/>
                    </a:lnTo>
                    <a:lnTo>
                      <a:pt x="2669" y="14729"/>
                    </a:lnTo>
                    <a:lnTo>
                      <a:pt x="2449" y="14826"/>
                    </a:lnTo>
                    <a:lnTo>
                      <a:pt x="2318" y="14416"/>
                    </a:lnTo>
                    <a:lnTo>
                      <a:pt x="2318" y="14220"/>
                    </a:lnTo>
                    <a:lnTo>
                      <a:pt x="2237" y="14220"/>
                    </a:lnTo>
                    <a:lnTo>
                      <a:pt x="2196" y="14073"/>
                    </a:lnTo>
                    <a:lnTo>
                      <a:pt x="2237" y="14015"/>
                    </a:lnTo>
                    <a:lnTo>
                      <a:pt x="2367" y="14171"/>
                    </a:lnTo>
                    <a:lnTo>
                      <a:pt x="2571" y="13917"/>
                    </a:lnTo>
                    <a:lnTo>
                      <a:pt x="2449" y="13770"/>
                    </a:lnTo>
                    <a:lnTo>
                      <a:pt x="2318" y="13672"/>
                    </a:lnTo>
                    <a:lnTo>
                      <a:pt x="2237" y="13359"/>
                    </a:lnTo>
                    <a:lnTo>
                      <a:pt x="2196" y="13154"/>
                    </a:lnTo>
                    <a:lnTo>
                      <a:pt x="2114" y="12958"/>
                    </a:lnTo>
                    <a:lnTo>
                      <a:pt x="1853" y="12597"/>
                    </a:lnTo>
                    <a:lnTo>
                      <a:pt x="1771" y="12597"/>
                    </a:lnTo>
                    <a:lnTo>
                      <a:pt x="1437" y="12293"/>
                    </a:lnTo>
                    <a:lnTo>
                      <a:pt x="1224" y="12039"/>
                    </a:lnTo>
                    <a:lnTo>
                      <a:pt x="759" y="11795"/>
                    </a:lnTo>
                    <a:lnTo>
                      <a:pt x="547" y="11892"/>
                    </a:lnTo>
                    <a:lnTo>
                      <a:pt x="465" y="11795"/>
                    </a:lnTo>
                    <a:lnTo>
                      <a:pt x="416" y="11697"/>
                    </a:lnTo>
                    <a:lnTo>
                      <a:pt x="547" y="11697"/>
                    </a:lnTo>
                    <a:lnTo>
                      <a:pt x="669" y="11540"/>
                    </a:lnTo>
                    <a:lnTo>
                      <a:pt x="465" y="10983"/>
                    </a:lnTo>
                    <a:lnTo>
                      <a:pt x="253" y="10875"/>
                    </a:lnTo>
                    <a:lnTo>
                      <a:pt x="131" y="10875"/>
                    </a:lnTo>
                    <a:lnTo>
                      <a:pt x="0" y="10474"/>
                    </a:lnTo>
                    <a:lnTo>
                      <a:pt x="131" y="10474"/>
                    </a:lnTo>
                    <a:lnTo>
                      <a:pt x="82" y="10171"/>
                    </a:lnTo>
                    <a:lnTo>
                      <a:pt x="416" y="9917"/>
                    </a:lnTo>
                    <a:lnTo>
                      <a:pt x="588" y="9819"/>
                    </a:lnTo>
                    <a:lnTo>
                      <a:pt x="669" y="9917"/>
                    </a:lnTo>
                    <a:lnTo>
                      <a:pt x="971" y="9819"/>
                    </a:lnTo>
                    <a:lnTo>
                      <a:pt x="1012" y="9565"/>
                    </a:lnTo>
                    <a:lnTo>
                      <a:pt x="1437" y="9516"/>
                    </a:lnTo>
                    <a:lnTo>
                      <a:pt x="1567" y="9262"/>
                    </a:lnTo>
                    <a:lnTo>
                      <a:pt x="2114" y="8900"/>
                    </a:lnTo>
                    <a:lnTo>
                      <a:pt x="2196" y="8196"/>
                    </a:lnTo>
                    <a:lnTo>
                      <a:pt x="1853" y="7296"/>
                    </a:lnTo>
                    <a:lnTo>
                      <a:pt x="1690" y="7296"/>
                    </a:lnTo>
                    <a:lnTo>
                      <a:pt x="2237" y="6983"/>
                    </a:lnTo>
                    <a:lnTo>
                      <a:pt x="2449" y="7042"/>
                    </a:lnTo>
                    <a:lnTo>
                      <a:pt x="2571" y="6885"/>
                    </a:lnTo>
                    <a:lnTo>
                      <a:pt x="2449" y="6778"/>
                    </a:lnTo>
                    <a:lnTo>
                      <a:pt x="2539" y="5917"/>
                    </a:lnTo>
                    <a:lnTo>
                      <a:pt x="3257" y="5917"/>
                    </a:lnTo>
                    <a:lnTo>
                      <a:pt x="3420" y="5721"/>
                    </a:lnTo>
                    <a:lnTo>
                      <a:pt x="3257" y="5115"/>
                    </a:lnTo>
                    <a:lnTo>
                      <a:pt x="3469" y="5017"/>
                    </a:lnTo>
                    <a:lnTo>
                      <a:pt x="3633" y="4919"/>
                    </a:lnTo>
                    <a:lnTo>
                      <a:pt x="3673" y="4606"/>
                    </a:lnTo>
                    <a:lnTo>
                      <a:pt x="3886" y="4499"/>
                    </a:lnTo>
                    <a:lnTo>
                      <a:pt x="3886" y="4763"/>
                    </a:lnTo>
                    <a:lnTo>
                      <a:pt x="4016" y="4861"/>
                    </a:lnTo>
                    <a:lnTo>
                      <a:pt x="4098" y="4919"/>
                    </a:lnTo>
                    <a:lnTo>
                      <a:pt x="4220" y="5017"/>
                    </a:lnTo>
                    <a:lnTo>
                      <a:pt x="4441" y="5320"/>
                    </a:lnTo>
                    <a:lnTo>
                      <a:pt x="4571" y="5115"/>
                    </a:lnTo>
                    <a:lnTo>
                      <a:pt x="4653" y="5164"/>
                    </a:lnTo>
                    <a:lnTo>
                      <a:pt x="4694" y="5320"/>
                    </a:lnTo>
                    <a:lnTo>
                      <a:pt x="4776" y="5262"/>
                    </a:lnTo>
                    <a:lnTo>
                      <a:pt x="5029" y="5565"/>
                    </a:lnTo>
                    <a:lnTo>
                      <a:pt x="5241" y="5917"/>
                    </a:lnTo>
                    <a:lnTo>
                      <a:pt x="5241" y="6181"/>
                    </a:lnTo>
                    <a:lnTo>
                      <a:pt x="5322" y="6377"/>
                    </a:lnTo>
                    <a:lnTo>
                      <a:pt x="5241" y="6474"/>
                    </a:lnTo>
                    <a:lnTo>
                      <a:pt x="5322" y="6738"/>
                    </a:lnTo>
                    <a:lnTo>
                      <a:pt x="5657" y="6885"/>
                    </a:lnTo>
                    <a:lnTo>
                      <a:pt x="6122" y="6983"/>
                    </a:lnTo>
                    <a:lnTo>
                      <a:pt x="6343" y="6983"/>
                    </a:lnTo>
                    <a:lnTo>
                      <a:pt x="6678" y="7237"/>
                    </a:lnTo>
                    <a:lnTo>
                      <a:pt x="7012" y="7394"/>
                    </a:lnTo>
                    <a:lnTo>
                      <a:pt x="7094" y="7394"/>
                    </a:lnTo>
                    <a:lnTo>
                      <a:pt x="7224" y="7540"/>
                    </a:lnTo>
                    <a:lnTo>
                      <a:pt x="7445" y="8039"/>
                    </a:lnTo>
                    <a:lnTo>
                      <a:pt x="7649" y="8303"/>
                    </a:lnTo>
                    <a:lnTo>
                      <a:pt x="7992" y="8303"/>
                    </a:lnTo>
                    <a:lnTo>
                      <a:pt x="8073" y="8196"/>
                    </a:lnTo>
                    <a:lnTo>
                      <a:pt x="8751" y="8196"/>
                    </a:lnTo>
                    <a:lnTo>
                      <a:pt x="8873" y="8098"/>
                    </a:lnTo>
                    <a:lnTo>
                      <a:pt x="9429" y="8098"/>
                    </a:lnTo>
                    <a:lnTo>
                      <a:pt x="9551" y="8303"/>
                    </a:lnTo>
                    <a:lnTo>
                      <a:pt x="10229" y="8499"/>
                    </a:lnTo>
                    <a:lnTo>
                      <a:pt x="10441" y="8499"/>
                    </a:lnTo>
                    <a:lnTo>
                      <a:pt x="10563" y="8597"/>
                    </a:lnTo>
                    <a:lnTo>
                      <a:pt x="10784" y="8597"/>
                    </a:lnTo>
                    <a:lnTo>
                      <a:pt x="11200" y="8196"/>
                    </a:lnTo>
                    <a:lnTo>
                      <a:pt x="12212" y="8039"/>
                    </a:lnTo>
                    <a:lnTo>
                      <a:pt x="12335" y="7844"/>
                    </a:lnTo>
                    <a:lnTo>
                      <a:pt x="12514" y="7697"/>
                    </a:lnTo>
                    <a:lnTo>
                      <a:pt x="12555" y="7394"/>
                    </a:lnTo>
                    <a:lnTo>
                      <a:pt x="12767" y="7237"/>
                    </a:lnTo>
                    <a:lnTo>
                      <a:pt x="12767" y="6885"/>
                    </a:lnTo>
                    <a:lnTo>
                      <a:pt x="12637" y="6738"/>
                    </a:lnTo>
                    <a:lnTo>
                      <a:pt x="12637" y="6474"/>
                    </a:lnTo>
                    <a:lnTo>
                      <a:pt x="12686" y="6328"/>
                    </a:lnTo>
                    <a:lnTo>
                      <a:pt x="12849" y="6377"/>
                    </a:lnTo>
                    <a:lnTo>
                      <a:pt x="13102" y="6377"/>
                    </a:lnTo>
                    <a:lnTo>
                      <a:pt x="13404" y="6377"/>
                    </a:lnTo>
                    <a:lnTo>
                      <a:pt x="13437" y="6328"/>
                    </a:lnTo>
                    <a:lnTo>
                      <a:pt x="13527" y="5976"/>
                    </a:lnTo>
                    <a:lnTo>
                      <a:pt x="13739" y="5976"/>
                    </a:lnTo>
                    <a:lnTo>
                      <a:pt x="13992" y="5672"/>
                    </a:lnTo>
                    <a:lnTo>
                      <a:pt x="13992" y="5516"/>
                    </a:lnTo>
                    <a:lnTo>
                      <a:pt x="14122" y="5320"/>
                    </a:lnTo>
                    <a:lnTo>
                      <a:pt x="14204" y="5320"/>
                    </a:lnTo>
                    <a:lnTo>
                      <a:pt x="14286" y="5418"/>
                    </a:lnTo>
                    <a:lnTo>
                      <a:pt x="14335" y="5418"/>
                    </a:lnTo>
                    <a:lnTo>
                      <a:pt x="14335" y="5262"/>
                    </a:lnTo>
                    <a:lnTo>
                      <a:pt x="14416" y="5262"/>
                    </a:lnTo>
                    <a:lnTo>
                      <a:pt x="14539" y="5017"/>
                    </a:lnTo>
                    <a:lnTo>
                      <a:pt x="14841" y="4919"/>
                    </a:lnTo>
                    <a:lnTo>
                      <a:pt x="15086" y="5017"/>
                    </a:lnTo>
                    <a:lnTo>
                      <a:pt x="15176" y="4919"/>
                    </a:lnTo>
                    <a:lnTo>
                      <a:pt x="15004" y="4655"/>
                    </a:lnTo>
                    <a:lnTo>
                      <a:pt x="14873" y="4499"/>
                    </a:lnTo>
                    <a:lnTo>
                      <a:pt x="14620" y="4254"/>
                    </a:lnTo>
                    <a:lnTo>
                      <a:pt x="14416" y="4098"/>
                    </a:lnTo>
                    <a:lnTo>
                      <a:pt x="14204" y="4205"/>
                    </a:lnTo>
                    <a:lnTo>
                      <a:pt x="14073" y="4460"/>
                    </a:lnTo>
                    <a:lnTo>
                      <a:pt x="13951" y="4362"/>
                    </a:lnTo>
                    <a:lnTo>
                      <a:pt x="13739" y="4362"/>
                    </a:lnTo>
                    <a:lnTo>
                      <a:pt x="13649" y="4460"/>
                    </a:lnTo>
                    <a:lnTo>
                      <a:pt x="13437" y="4205"/>
                    </a:lnTo>
                    <a:lnTo>
                      <a:pt x="13527" y="4098"/>
                    </a:lnTo>
                    <a:lnTo>
                      <a:pt x="13527" y="3941"/>
                    </a:lnTo>
                    <a:lnTo>
                      <a:pt x="13527" y="3296"/>
                    </a:lnTo>
                    <a:lnTo>
                      <a:pt x="13567" y="3042"/>
                    </a:lnTo>
                    <a:lnTo>
                      <a:pt x="13739" y="3042"/>
                    </a:lnTo>
                    <a:lnTo>
                      <a:pt x="13992" y="3139"/>
                    </a:lnTo>
                    <a:lnTo>
                      <a:pt x="14335" y="2738"/>
                    </a:lnTo>
                    <a:lnTo>
                      <a:pt x="14204" y="2484"/>
                    </a:lnTo>
                    <a:lnTo>
                      <a:pt x="14286" y="1976"/>
                    </a:lnTo>
                    <a:lnTo>
                      <a:pt x="14416" y="1164"/>
                    </a:lnTo>
                    <a:lnTo>
                      <a:pt x="14335" y="1017"/>
                    </a:lnTo>
                    <a:lnTo>
                      <a:pt x="14204" y="822"/>
                    </a:lnTo>
                    <a:lnTo>
                      <a:pt x="14073" y="822"/>
                    </a:lnTo>
                    <a:lnTo>
                      <a:pt x="14204" y="401"/>
                    </a:lnTo>
                    <a:lnTo>
                      <a:pt x="14841" y="10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09" name="Google Shape;109;p18"/>
              <p:cNvSpPr/>
              <p:nvPr/>
            </p:nvSpPr>
            <p:spPr>
              <a:xfrm>
                <a:off x="2707426" y="5241126"/>
                <a:ext cx="689060" cy="747399"/>
              </a:xfrm>
              <a:custGeom>
                <a:rect b="b" l="l" r="r" t="t"/>
                <a:pathLst>
                  <a:path extrusionOk="0" h="20000" w="20000">
                    <a:moveTo>
                      <a:pt x="5498" y="0"/>
                    </a:moveTo>
                    <a:lnTo>
                      <a:pt x="5659" y="0"/>
                    </a:lnTo>
                    <a:lnTo>
                      <a:pt x="6158" y="552"/>
                    </a:lnTo>
                    <a:lnTo>
                      <a:pt x="6318" y="850"/>
                    </a:lnTo>
                    <a:lnTo>
                      <a:pt x="6415" y="1163"/>
                    </a:lnTo>
                    <a:lnTo>
                      <a:pt x="6576" y="1626"/>
                    </a:lnTo>
                    <a:lnTo>
                      <a:pt x="6833" y="1775"/>
                    </a:lnTo>
                    <a:lnTo>
                      <a:pt x="7074" y="2013"/>
                    </a:lnTo>
                    <a:lnTo>
                      <a:pt x="6672" y="2401"/>
                    </a:lnTo>
                    <a:lnTo>
                      <a:pt x="6415" y="2163"/>
                    </a:lnTo>
                    <a:lnTo>
                      <a:pt x="6318" y="2237"/>
                    </a:lnTo>
                    <a:lnTo>
                      <a:pt x="6415" y="2476"/>
                    </a:lnTo>
                    <a:lnTo>
                      <a:pt x="6576" y="2476"/>
                    </a:lnTo>
                    <a:lnTo>
                      <a:pt x="6576" y="2774"/>
                    </a:lnTo>
                    <a:lnTo>
                      <a:pt x="6833" y="3386"/>
                    </a:lnTo>
                    <a:lnTo>
                      <a:pt x="7251" y="3236"/>
                    </a:lnTo>
                    <a:lnTo>
                      <a:pt x="7412" y="3386"/>
                    </a:lnTo>
                    <a:lnTo>
                      <a:pt x="8328" y="3863"/>
                    </a:lnTo>
                    <a:lnTo>
                      <a:pt x="8087" y="4400"/>
                    </a:lnTo>
                    <a:lnTo>
                      <a:pt x="7926" y="4638"/>
                    </a:lnTo>
                    <a:lnTo>
                      <a:pt x="8087" y="4877"/>
                    </a:lnTo>
                    <a:lnTo>
                      <a:pt x="7749" y="5026"/>
                    </a:lnTo>
                    <a:lnTo>
                      <a:pt x="8087" y="5250"/>
                    </a:lnTo>
                    <a:lnTo>
                      <a:pt x="8585" y="5488"/>
                    </a:lnTo>
                    <a:lnTo>
                      <a:pt x="9164" y="5712"/>
                    </a:lnTo>
                    <a:lnTo>
                      <a:pt x="9662" y="5861"/>
                    </a:lnTo>
                    <a:lnTo>
                      <a:pt x="10498" y="6100"/>
                    </a:lnTo>
                    <a:lnTo>
                      <a:pt x="11158" y="6249"/>
                    </a:lnTo>
                    <a:lnTo>
                      <a:pt x="11254" y="6398"/>
                    </a:lnTo>
                    <a:lnTo>
                      <a:pt x="11672" y="6637"/>
                    </a:lnTo>
                    <a:lnTo>
                      <a:pt x="11913" y="6488"/>
                    </a:lnTo>
                    <a:lnTo>
                      <a:pt x="12235" y="6711"/>
                    </a:lnTo>
                    <a:lnTo>
                      <a:pt x="12331" y="6711"/>
                    </a:lnTo>
                    <a:lnTo>
                      <a:pt x="12749" y="6711"/>
                    </a:lnTo>
                    <a:lnTo>
                      <a:pt x="12990" y="6711"/>
                    </a:lnTo>
                    <a:lnTo>
                      <a:pt x="12990" y="6861"/>
                    </a:lnTo>
                    <a:lnTo>
                      <a:pt x="13650" y="6861"/>
                    </a:lnTo>
                    <a:lnTo>
                      <a:pt x="13585" y="6100"/>
                    </a:lnTo>
                    <a:lnTo>
                      <a:pt x="13650" y="5712"/>
                    </a:lnTo>
                    <a:lnTo>
                      <a:pt x="14068" y="5638"/>
                    </a:lnTo>
                    <a:lnTo>
                      <a:pt x="14068" y="6025"/>
                    </a:lnTo>
                    <a:lnTo>
                      <a:pt x="14068" y="6249"/>
                    </a:lnTo>
                    <a:lnTo>
                      <a:pt x="14405" y="6398"/>
                    </a:lnTo>
                    <a:lnTo>
                      <a:pt x="14904" y="6488"/>
                    </a:lnTo>
                    <a:lnTo>
                      <a:pt x="15322" y="6398"/>
                    </a:lnTo>
                    <a:lnTo>
                      <a:pt x="15322" y="6488"/>
                    </a:lnTo>
                    <a:lnTo>
                      <a:pt x="16415" y="6488"/>
                    </a:lnTo>
                    <a:lnTo>
                      <a:pt x="16238" y="6100"/>
                    </a:lnTo>
                    <a:lnTo>
                      <a:pt x="15981" y="6025"/>
                    </a:lnTo>
                    <a:lnTo>
                      <a:pt x="15981" y="5712"/>
                    </a:lnTo>
                    <a:lnTo>
                      <a:pt x="16238" y="5712"/>
                    </a:lnTo>
                    <a:lnTo>
                      <a:pt x="16672" y="5638"/>
                    </a:lnTo>
                    <a:lnTo>
                      <a:pt x="16833" y="5488"/>
                    </a:lnTo>
                    <a:lnTo>
                      <a:pt x="16897" y="5399"/>
                    </a:lnTo>
                    <a:lnTo>
                      <a:pt x="16897" y="5101"/>
                    </a:lnTo>
                    <a:lnTo>
                      <a:pt x="17492" y="5026"/>
                    </a:lnTo>
                    <a:lnTo>
                      <a:pt x="17588" y="4787"/>
                    </a:lnTo>
                    <a:lnTo>
                      <a:pt x="17910" y="4638"/>
                    </a:lnTo>
                    <a:lnTo>
                      <a:pt x="18569" y="4787"/>
                    </a:lnTo>
                    <a:lnTo>
                      <a:pt x="18810" y="4474"/>
                    </a:lnTo>
                    <a:lnTo>
                      <a:pt x="19068" y="4400"/>
                    </a:lnTo>
                    <a:lnTo>
                      <a:pt x="19244" y="4474"/>
                    </a:lnTo>
                    <a:lnTo>
                      <a:pt x="19068" y="4787"/>
                    </a:lnTo>
                    <a:lnTo>
                      <a:pt x="19325" y="4787"/>
                    </a:lnTo>
                    <a:lnTo>
                      <a:pt x="19325" y="5026"/>
                    </a:lnTo>
                    <a:lnTo>
                      <a:pt x="19244" y="5250"/>
                    </a:lnTo>
                    <a:lnTo>
                      <a:pt x="19486" y="5101"/>
                    </a:lnTo>
                    <a:lnTo>
                      <a:pt x="19486" y="5250"/>
                    </a:lnTo>
                    <a:lnTo>
                      <a:pt x="19727" y="5250"/>
                    </a:lnTo>
                    <a:lnTo>
                      <a:pt x="19984" y="5488"/>
                    </a:lnTo>
                    <a:lnTo>
                      <a:pt x="19904" y="5488"/>
                    </a:lnTo>
                    <a:lnTo>
                      <a:pt x="19727" y="5712"/>
                    </a:lnTo>
                    <a:lnTo>
                      <a:pt x="19904" y="6100"/>
                    </a:lnTo>
                    <a:lnTo>
                      <a:pt x="19727" y="6249"/>
                    </a:lnTo>
                    <a:lnTo>
                      <a:pt x="19662" y="6100"/>
                    </a:lnTo>
                    <a:lnTo>
                      <a:pt x="19068" y="6249"/>
                    </a:lnTo>
                    <a:lnTo>
                      <a:pt x="18569" y="6711"/>
                    </a:lnTo>
                    <a:lnTo>
                      <a:pt x="18569" y="7263"/>
                    </a:lnTo>
                    <a:lnTo>
                      <a:pt x="18248" y="7487"/>
                    </a:lnTo>
                    <a:lnTo>
                      <a:pt x="18248" y="7711"/>
                    </a:lnTo>
                    <a:lnTo>
                      <a:pt x="18248" y="8113"/>
                    </a:lnTo>
                    <a:lnTo>
                      <a:pt x="17990" y="8650"/>
                    </a:lnTo>
                    <a:lnTo>
                      <a:pt x="17588" y="8650"/>
                    </a:lnTo>
                    <a:lnTo>
                      <a:pt x="17588" y="9262"/>
                    </a:lnTo>
                    <a:lnTo>
                      <a:pt x="17331" y="9336"/>
                    </a:lnTo>
                    <a:lnTo>
                      <a:pt x="17492" y="9963"/>
                    </a:lnTo>
                    <a:lnTo>
                      <a:pt x="17235" y="9963"/>
                    </a:lnTo>
                    <a:lnTo>
                      <a:pt x="17074" y="9650"/>
                    </a:lnTo>
                    <a:lnTo>
                      <a:pt x="16833" y="9336"/>
                    </a:lnTo>
                    <a:lnTo>
                      <a:pt x="16833" y="9023"/>
                    </a:lnTo>
                    <a:lnTo>
                      <a:pt x="16495" y="9336"/>
                    </a:lnTo>
                    <a:lnTo>
                      <a:pt x="16415" y="9336"/>
                    </a:lnTo>
                    <a:lnTo>
                      <a:pt x="16238" y="9262"/>
                    </a:lnTo>
                    <a:lnTo>
                      <a:pt x="16158" y="9262"/>
                    </a:lnTo>
                    <a:lnTo>
                      <a:pt x="15981" y="8725"/>
                    </a:lnTo>
                    <a:lnTo>
                      <a:pt x="16158" y="8650"/>
                    </a:lnTo>
                    <a:lnTo>
                      <a:pt x="16238" y="8352"/>
                    </a:lnTo>
                    <a:lnTo>
                      <a:pt x="16672" y="8262"/>
                    </a:lnTo>
                    <a:lnTo>
                      <a:pt x="16672" y="8024"/>
                    </a:lnTo>
                    <a:lnTo>
                      <a:pt x="16833" y="7875"/>
                    </a:lnTo>
                    <a:lnTo>
                      <a:pt x="16672" y="7651"/>
                    </a:lnTo>
                    <a:lnTo>
                      <a:pt x="15064" y="7711"/>
                    </a:lnTo>
                    <a:lnTo>
                      <a:pt x="15161" y="7651"/>
                    </a:lnTo>
                    <a:lnTo>
                      <a:pt x="15064" y="7263"/>
                    </a:lnTo>
                    <a:lnTo>
                      <a:pt x="14662" y="7040"/>
                    </a:lnTo>
                    <a:lnTo>
                      <a:pt x="14244" y="6711"/>
                    </a:lnTo>
                    <a:lnTo>
                      <a:pt x="14003" y="6711"/>
                    </a:lnTo>
                    <a:lnTo>
                      <a:pt x="13842" y="7263"/>
                    </a:lnTo>
                    <a:lnTo>
                      <a:pt x="14068" y="7487"/>
                    </a:lnTo>
                    <a:lnTo>
                      <a:pt x="14244" y="7487"/>
                    </a:lnTo>
                    <a:lnTo>
                      <a:pt x="14502" y="7711"/>
                    </a:lnTo>
                    <a:lnTo>
                      <a:pt x="14068" y="7711"/>
                    </a:lnTo>
                    <a:lnTo>
                      <a:pt x="14068" y="8024"/>
                    </a:lnTo>
                    <a:lnTo>
                      <a:pt x="13842" y="8113"/>
                    </a:lnTo>
                    <a:lnTo>
                      <a:pt x="14068" y="8352"/>
                    </a:lnTo>
                    <a:lnTo>
                      <a:pt x="14502" y="8501"/>
                    </a:lnTo>
                    <a:lnTo>
                      <a:pt x="14405" y="8874"/>
                    </a:lnTo>
                    <a:lnTo>
                      <a:pt x="14904" y="10276"/>
                    </a:lnTo>
                    <a:lnTo>
                      <a:pt x="14502" y="10336"/>
                    </a:lnTo>
                    <a:lnTo>
                      <a:pt x="14502" y="10112"/>
                    </a:lnTo>
                    <a:lnTo>
                      <a:pt x="14244" y="10500"/>
                    </a:lnTo>
                    <a:lnTo>
                      <a:pt x="14068" y="10336"/>
                    </a:lnTo>
                    <a:lnTo>
                      <a:pt x="14068" y="9963"/>
                    </a:lnTo>
                    <a:lnTo>
                      <a:pt x="14003" y="9963"/>
                    </a:lnTo>
                    <a:lnTo>
                      <a:pt x="14003" y="10276"/>
                    </a:lnTo>
                    <a:lnTo>
                      <a:pt x="13408" y="10500"/>
                    </a:lnTo>
                    <a:lnTo>
                      <a:pt x="13151" y="10664"/>
                    </a:lnTo>
                    <a:lnTo>
                      <a:pt x="13151" y="10723"/>
                    </a:lnTo>
                    <a:lnTo>
                      <a:pt x="13328" y="11126"/>
                    </a:lnTo>
                    <a:lnTo>
                      <a:pt x="13151" y="11350"/>
                    </a:lnTo>
                    <a:lnTo>
                      <a:pt x="12990" y="11499"/>
                    </a:lnTo>
                    <a:lnTo>
                      <a:pt x="12910" y="11738"/>
                    </a:lnTo>
                    <a:lnTo>
                      <a:pt x="12331" y="11887"/>
                    </a:lnTo>
                    <a:lnTo>
                      <a:pt x="12331" y="11738"/>
                    </a:lnTo>
                    <a:lnTo>
                      <a:pt x="12074" y="11887"/>
                    </a:lnTo>
                    <a:lnTo>
                      <a:pt x="12235" y="11887"/>
                    </a:lnTo>
                    <a:lnTo>
                      <a:pt x="11576" y="12737"/>
                    </a:lnTo>
                    <a:lnTo>
                      <a:pt x="10997" y="13125"/>
                    </a:lnTo>
                    <a:lnTo>
                      <a:pt x="10498" y="13587"/>
                    </a:lnTo>
                    <a:lnTo>
                      <a:pt x="10161" y="13900"/>
                    </a:lnTo>
                    <a:lnTo>
                      <a:pt x="10322" y="13960"/>
                    </a:lnTo>
                    <a:lnTo>
                      <a:pt x="9839" y="14198"/>
                    </a:lnTo>
                    <a:lnTo>
                      <a:pt x="9502" y="14362"/>
                    </a:lnTo>
                    <a:lnTo>
                      <a:pt x="9244" y="14601"/>
                    </a:lnTo>
                    <a:lnTo>
                      <a:pt x="9164" y="14601"/>
                    </a:lnTo>
                    <a:lnTo>
                      <a:pt x="8842" y="14750"/>
                    </a:lnTo>
                    <a:lnTo>
                      <a:pt x="8746" y="15213"/>
                    </a:lnTo>
                    <a:lnTo>
                      <a:pt x="8842" y="15600"/>
                    </a:lnTo>
                    <a:lnTo>
                      <a:pt x="8842" y="15824"/>
                    </a:lnTo>
                    <a:lnTo>
                      <a:pt x="8842" y="16212"/>
                    </a:lnTo>
                    <a:lnTo>
                      <a:pt x="8746" y="16212"/>
                    </a:lnTo>
                    <a:lnTo>
                      <a:pt x="9003" y="16585"/>
                    </a:lnTo>
                    <a:lnTo>
                      <a:pt x="8746" y="17136"/>
                    </a:lnTo>
                    <a:lnTo>
                      <a:pt x="8585" y="17435"/>
                    </a:lnTo>
                    <a:lnTo>
                      <a:pt x="8746" y="18449"/>
                    </a:lnTo>
                    <a:lnTo>
                      <a:pt x="8328" y="18449"/>
                    </a:lnTo>
                    <a:lnTo>
                      <a:pt x="8087" y="18986"/>
                    </a:lnTo>
                    <a:lnTo>
                      <a:pt x="8424" y="19075"/>
                    </a:lnTo>
                    <a:lnTo>
                      <a:pt x="8328" y="19224"/>
                    </a:lnTo>
                    <a:lnTo>
                      <a:pt x="7749" y="19224"/>
                    </a:lnTo>
                    <a:lnTo>
                      <a:pt x="7492" y="19448"/>
                    </a:lnTo>
                    <a:lnTo>
                      <a:pt x="7492" y="19687"/>
                    </a:lnTo>
                    <a:lnTo>
                      <a:pt x="7074" y="19985"/>
                    </a:lnTo>
                    <a:lnTo>
                      <a:pt x="6158" y="18747"/>
                    </a:lnTo>
                    <a:lnTo>
                      <a:pt x="6318" y="18837"/>
                    </a:lnTo>
                    <a:lnTo>
                      <a:pt x="5756" y="17763"/>
                    </a:lnTo>
                    <a:lnTo>
                      <a:pt x="5338" y="17136"/>
                    </a:lnTo>
                    <a:lnTo>
                      <a:pt x="4839" y="16122"/>
                    </a:lnTo>
                    <a:lnTo>
                      <a:pt x="4582" y="15362"/>
                    </a:lnTo>
                    <a:lnTo>
                      <a:pt x="4180" y="14750"/>
                    </a:lnTo>
                    <a:lnTo>
                      <a:pt x="3489" y="12886"/>
                    </a:lnTo>
                    <a:lnTo>
                      <a:pt x="3328" y="12349"/>
                    </a:lnTo>
                    <a:lnTo>
                      <a:pt x="3167" y="11499"/>
                    </a:lnTo>
                    <a:lnTo>
                      <a:pt x="3167" y="10962"/>
                    </a:lnTo>
                    <a:lnTo>
                      <a:pt x="3087" y="10723"/>
                    </a:lnTo>
                    <a:lnTo>
                      <a:pt x="3087" y="10664"/>
                    </a:lnTo>
                    <a:lnTo>
                      <a:pt x="3167" y="10500"/>
                    </a:lnTo>
                    <a:lnTo>
                      <a:pt x="3087" y="10336"/>
                    </a:lnTo>
                    <a:lnTo>
                      <a:pt x="2926" y="10112"/>
                    </a:lnTo>
                    <a:lnTo>
                      <a:pt x="3167" y="10112"/>
                    </a:lnTo>
                    <a:lnTo>
                      <a:pt x="3167" y="9963"/>
                    </a:lnTo>
                    <a:lnTo>
                      <a:pt x="2830" y="9963"/>
                    </a:lnTo>
                    <a:lnTo>
                      <a:pt x="2830" y="10276"/>
                    </a:lnTo>
                    <a:lnTo>
                      <a:pt x="2508" y="10336"/>
                    </a:lnTo>
                    <a:lnTo>
                      <a:pt x="2830" y="10500"/>
                    </a:lnTo>
                    <a:lnTo>
                      <a:pt x="2669" y="10887"/>
                    </a:lnTo>
                    <a:lnTo>
                      <a:pt x="1849" y="11126"/>
                    </a:lnTo>
                    <a:lnTo>
                      <a:pt x="1350" y="10887"/>
                    </a:lnTo>
                    <a:lnTo>
                      <a:pt x="434" y="9963"/>
                    </a:lnTo>
                    <a:lnTo>
                      <a:pt x="675" y="9963"/>
                    </a:lnTo>
                    <a:lnTo>
                      <a:pt x="1350" y="9724"/>
                    </a:lnTo>
                    <a:lnTo>
                      <a:pt x="1350" y="9500"/>
                    </a:lnTo>
                    <a:lnTo>
                      <a:pt x="756" y="9724"/>
                    </a:lnTo>
                    <a:lnTo>
                      <a:pt x="96" y="9336"/>
                    </a:lnTo>
                    <a:lnTo>
                      <a:pt x="0" y="9023"/>
                    </a:lnTo>
                    <a:lnTo>
                      <a:pt x="96" y="8874"/>
                    </a:lnTo>
                    <a:lnTo>
                      <a:pt x="0" y="8874"/>
                    </a:lnTo>
                    <a:lnTo>
                      <a:pt x="0" y="8725"/>
                    </a:lnTo>
                    <a:lnTo>
                      <a:pt x="257" y="8725"/>
                    </a:lnTo>
                    <a:lnTo>
                      <a:pt x="257" y="8650"/>
                    </a:lnTo>
                    <a:lnTo>
                      <a:pt x="916" y="8650"/>
                    </a:lnTo>
                    <a:lnTo>
                      <a:pt x="1158" y="8650"/>
                    </a:lnTo>
                    <a:lnTo>
                      <a:pt x="1415" y="8501"/>
                    </a:lnTo>
                    <a:lnTo>
                      <a:pt x="1592" y="8650"/>
                    </a:lnTo>
                    <a:lnTo>
                      <a:pt x="1752" y="8501"/>
                    </a:lnTo>
                    <a:lnTo>
                      <a:pt x="1752" y="8352"/>
                    </a:lnTo>
                    <a:lnTo>
                      <a:pt x="1350" y="7487"/>
                    </a:lnTo>
                    <a:lnTo>
                      <a:pt x="1093" y="7412"/>
                    </a:lnTo>
                    <a:lnTo>
                      <a:pt x="1093" y="6711"/>
                    </a:lnTo>
                    <a:lnTo>
                      <a:pt x="498" y="6637"/>
                    </a:lnTo>
                    <a:lnTo>
                      <a:pt x="916" y="6025"/>
                    </a:lnTo>
                    <a:lnTo>
                      <a:pt x="1093" y="5861"/>
                    </a:lnTo>
                    <a:lnTo>
                      <a:pt x="1158" y="5712"/>
                    </a:lnTo>
                    <a:lnTo>
                      <a:pt x="1350" y="6025"/>
                    </a:lnTo>
                    <a:lnTo>
                      <a:pt x="2170" y="5712"/>
                    </a:lnTo>
                    <a:lnTo>
                      <a:pt x="2251" y="5638"/>
                    </a:lnTo>
                    <a:lnTo>
                      <a:pt x="2412" y="5488"/>
                    </a:lnTo>
                    <a:lnTo>
                      <a:pt x="2412" y="5101"/>
                    </a:lnTo>
                    <a:lnTo>
                      <a:pt x="3087" y="4787"/>
                    </a:lnTo>
                    <a:lnTo>
                      <a:pt x="3087" y="4400"/>
                    </a:lnTo>
                    <a:lnTo>
                      <a:pt x="3328" y="4087"/>
                    </a:lnTo>
                    <a:lnTo>
                      <a:pt x="3585" y="3624"/>
                    </a:lnTo>
                    <a:lnTo>
                      <a:pt x="3923" y="3386"/>
                    </a:lnTo>
                    <a:lnTo>
                      <a:pt x="3585" y="3013"/>
                    </a:lnTo>
                    <a:lnTo>
                      <a:pt x="3923" y="2774"/>
                    </a:lnTo>
                    <a:lnTo>
                      <a:pt x="4180" y="2625"/>
                    </a:lnTo>
                    <a:lnTo>
                      <a:pt x="4180" y="2401"/>
                    </a:lnTo>
                    <a:lnTo>
                      <a:pt x="3585" y="2237"/>
                    </a:lnTo>
                    <a:lnTo>
                      <a:pt x="3489" y="2013"/>
                    </a:lnTo>
                    <a:lnTo>
                      <a:pt x="3167" y="1864"/>
                    </a:lnTo>
                    <a:lnTo>
                      <a:pt x="3167" y="1223"/>
                    </a:lnTo>
                    <a:lnTo>
                      <a:pt x="2830" y="850"/>
                    </a:lnTo>
                    <a:lnTo>
                      <a:pt x="3087" y="611"/>
                    </a:lnTo>
                    <a:lnTo>
                      <a:pt x="3746" y="611"/>
                    </a:lnTo>
                    <a:lnTo>
                      <a:pt x="4180" y="776"/>
                    </a:lnTo>
                    <a:lnTo>
                      <a:pt x="4839" y="552"/>
                    </a:lnTo>
                    <a:lnTo>
                      <a:pt x="5338" y="149"/>
                    </a:lnTo>
                    <a:lnTo>
                      <a:pt x="5498" y="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0" name="Google Shape;110;p18"/>
              <p:cNvSpPr/>
              <p:nvPr/>
            </p:nvSpPr>
            <p:spPr>
              <a:xfrm>
                <a:off x="4279255" y="6201867"/>
                <a:ext cx="243522" cy="234260"/>
              </a:xfrm>
              <a:custGeom>
                <a:rect b="b" l="l" r="r" t="t"/>
                <a:pathLst>
                  <a:path extrusionOk="0" h="20000" w="20000">
                    <a:moveTo>
                      <a:pt x="19955" y="5667"/>
                    </a:moveTo>
                    <a:lnTo>
                      <a:pt x="19683" y="19952"/>
                    </a:lnTo>
                    <a:lnTo>
                      <a:pt x="17642" y="17524"/>
                    </a:lnTo>
                    <a:lnTo>
                      <a:pt x="16689" y="18000"/>
                    </a:lnTo>
                    <a:lnTo>
                      <a:pt x="15737" y="17524"/>
                    </a:lnTo>
                    <a:lnTo>
                      <a:pt x="15737" y="16238"/>
                    </a:lnTo>
                    <a:lnTo>
                      <a:pt x="15057" y="14810"/>
                    </a:lnTo>
                    <a:lnTo>
                      <a:pt x="15057" y="14048"/>
                    </a:lnTo>
                    <a:lnTo>
                      <a:pt x="13832" y="11810"/>
                    </a:lnTo>
                    <a:lnTo>
                      <a:pt x="12426" y="10810"/>
                    </a:lnTo>
                    <a:lnTo>
                      <a:pt x="9841" y="9619"/>
                    </a:lnTo>
                    <a:lnTo>
                      <a:pt x="8254" y="9143"/>
                    </a:lnTo>
                    <a:lnTo>
                      <a:pt x="7528" y="8381"/>
                    </a:lnTo>
                    <a:lnTo>
                      <a:pt x="7800" y="8381"/>
                    </a:lnTo>
                    <a:lnTo>
                      <a:pt x="7800" y="7905"/>
                    </a:lnTo>
                    <a:lnTo>
                      <a:pt x="7528" y="7905"/>
                    </a:lnTo>
                    <a:lnTo>
                      <a:pt x="6349" y="7905"/>
                    </a:lnTo>
                    <a:lnTo>
                      <a:pt x="6349" y="7619"/>
                    </a:lnTo>
                    <a:lnTo>
                      <a:pt x="5850" y="7905"/>
                    </a:lnTo>
                    <a:lnTo>
                      <a:pt x="5170" y="7143"/>
                    </a:lnTo>
                    <a:lnTo>
                      <a:pt x="5669" y="6429"/>
                    </a:lnTo>
                    <a:lnTo>
                      <a:pt x="5669" y="5905"/>
                    </a:lnTo>
                    <a:lnTo>
                      <a:pt x="5170" y="6429"/>
                    </a:lnTo>
                    <a:lnTo>
                      <a:pt x="4943" y="7143"/>
                    </a:lnTo>
                    <a:lnTo>
                      <a:pt x="4490" y="7905"/>
                    </a:lnTo>
                    <a:lnTo>
                      <a:pt x="3810" y="8381"/>
                    </a:lnTo>
                    <a:lnTo>
                      <a:pt x="3265" y="7619"/>
                    </a:lnTo>
                    <a:lnTo>
                      <a:pt x="3810" y="6619"/>
                    </a:lnTo>
                    <a:lnTo>
                      <a:pt x="3265" y="6429"/>
                    </a:lnTo>
                    <a:lnTo>
                      <a:pt x="2812" y="5905"/>
                    </a:lnTo>
                    <a:lnTo>
                      <a:pt x="1859" y="5905"/>
                    </a:lnTo>
                    <a:lnTo>
                      <a:pt x="2585" y="5667"/>
                    </a:lnTo>
                    <a:lnTo>
                      <a:pt x="3265" y="5667"/>
                    </a:lnTo>
                    <a:lnTo>
                      <a:pt x="4490" y="5143"/>
                    </a:lnTo>
                    <a:lnTo>
                      <a:pt x="4943" y="5143"/>
                    </a:lnTo>
                    <a:lnTo>
                      <a:pt x="5170" y="5143"/>
                    </a:lnTo>
                    <a:lnTo>
                      <a:pt x="5669" y="4667"/>
                    </a:lnTo>
                    <a:lnTo>
                      <a:pt x="5170" y="4476"/>
                    </a:lnTo>
                    <a:lnTo>
                      <a:pt x="3991" y="4476"/>
                    </a:lnTo>
                    <a:lnTo>
                      <a:pt x="2585" y="4667"/>
                    </a:lnTo>
                    <a:lnTo>
                      <a:pt x="2132" y="3714"/>
                    </a:lnTo>
                    <a:lnTo>
                      <a:pt x="2132" y="3190"/>
                    </a:lnTo>
                    <a:lnTo>
                      <a:pt x="1406" y="2714"/>
                    </a:lnTo>
                    <a:lnTo>
                      <a:pt x="0" y="2429"/>
                    </a:lnTo>
                    <a:lnTo>
                      <a:pt x="0" y="1952"/>
                    </a:lnTo>
                    <a:lnTo>
                      <a:pt x="272" y="1238"/>
                    </a:lnTo>
                    <a:lnTo>
                      <a:pt x="1406" y="762"/>
                    </a:lnTo>
                    <a:lnTo>
                      <a:pt x="2812" y="0"/>
                    </a:lnTo>
                    <a:lnTo>
                      <a:pt x="3991" y="762"/>
                    </a:lnTo>
                    <a:lnTo>
                      <a:pt x="5669" y="1238"/>
                    </a:lnTo>
                    <a:lnTo>
                      <a:pt x="5850" y="1476"/>
                    </a:lnTo>
                    <a:lnTo>
                      <a:pt x="6349" y="2714"/>
                    </a:lnTo>
                    <a:lnTo>
                      <a:pt x="5850" y="3714"/>
                    </a:lnTo>
                    <a:lnTo>
                      <a:pt x="6803" y="5667"/>
                    </a:lnTo>
                    <a:lnTo>
                      <a:pt x="6803" y="5143"/>
                    </a:lnTo>
                    <a:lnTo>
                      <a:pt x="7075" y="5143"/>
                    </a:lnTo>
                    <a:lnTo>
                      <a:pt x="7528" y="5667"/>
                    </a:lnTo>
                    <a:lnTo>
                      <a:pt x="7528" y="5905"/>
                    </a:lnTo>
                    <a:lnTo>
                      <a:pt x="7528" y="6429"/>
                    </a:lnTo>
                    <a:lnTo>
                      <a:pt x="8254" y="7143"/>
                    </a:lnTo>
                    <a:lnTo>
                      <a:pt x="8934" y="6619"/>
                    </a:lnTo>
                    <a:lnTo>
                      <a:pt x="10567" y="4667"/>
                    </a:lnTo>
                    <a:lnTo>
                      <a:pt x="12426" y="4476"/>
                    </a:lnTo>
                    <a:lnTo>
                      <a:pt x="11973" y="3714"/>
                    </a:lnTo>
                    <a:lnTo>
                      <a:pt x="13651" y="2714"/>
                    </a:lnTo>
                    <a:lnTo>
                      <a:pt x="16689" y="4476"/>
                    </a:lnTo>
                    <a:lnTo>
                      <a:pt x="18549" y="4667"/>
                    </a:lnTo>
                    <a:lnTo>
                      <a:pt x="19955" y="566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1" name="Google Shape;111;p18"/>
              <p:cNvSpPr/>
              <p:nvPr/>
            </p:nvSpPr>
            <p:spPr>
              <a:xfrm>
                <a:off x="3972084" y="6150276"/>
                <a:ext cx="160503" cy="191032"/>
              </a:xfrm>
              <a:custGeom>
                <a:rect b="b" l="l" r="r" t="t"/>
                <a:pathLst>
                  <a:path extrusionOk="0" h="20000" w="20000">
                    <a:moveTo>
                      <a:pt x="3574" y="19942"/>
                    </a:moveTo>
                    <a:lnTo>
                      <a:pt x="2131" y="19592"/>
                    </a:lnTo>
                    <a:lnTo>
                      <a:pt x="2131" y="18717"/>
                    </a:lnTo>
                    <a:lnTo>
                      <a:pt x="2818" y="17201"/>
                    </a:lnTo>
                    <a:lnTo>
                      <a:pt x="2131" y="15102"/>
                    </a:lnTo>
                    <a:lnTo>
                      <a:pt x="2131" y="14227"/>
                    </a:lnTo>
                    <a:lnTo>
                      <a:pt x="412" y="14227"/>
                    </a:lnTo>
                    <a:lnTo>
                      <a:pt x="412" y="12653"/>
                    </a:lnTo>
                    <a:lnTo>
                      <a:pt x="0" y="12420"/>
                    </a:lnTo>
                    <a:lnTo>
                      <a:pt x="1100" y="11778"/>
                    </a:lnTo>
                    <a:lnTo>
                      <a:pt x="1787" y="10904"/>
                    </a:lnTo>
                    <a:lnTo>
                      <a:pt x="2131" y="10029"/>
                    </a:lnTo>
                    <a:lnTo>
                      <a:pt x="1787" y="8746"/>
                    </a:lnTo>
                    <a:lnTo>
                      <a:pt x="2131" y="7289"/>
                    </a:lnTo>
                    <a:lnTo>
                      <a:pt x="3574" y="6939"/>
                    </a:lnTo>
                    <a:lnTo>
                      <a:pt x="3918" y="4898"/>
                    </a:lnTo>
                    <a:lnTo>
                      <a:pt x="3918" y="4548"/>
                    </a:lnTo>
                    <a:lnTo>
                      <a:pt x="4674" y="2449"/>
                    </a:lnTo>
                    <a:lnTo>
                      <a:pt x="4948" y="2157"/>
                    </a:lnTo>
                    <a:lnTo>
                      <a:pt x="5704" y="3032"/>
                    </a:lnTo>
                    <a:lnTo>
                      <a:pt x="6460" y="2449"/>
                    </a:lnTo>
                    <a:lnTo>
                      <a:pt x="6735" y="1574"/>
                    </a:lnTo>
                    <a:lnTo>
                      <a:pt x="8591" y="1574"/>
                    </a:lnTo>
                    <a:lnTo>
                      <a:pt x="8591" y="2157"/>
                    </a:lnTo>
                    <a:lnTo>
                      <a:pt x="11065" y="2157"/>
                    </a:lnTo>
                    <a:lnTo>
                      <a:pt x="13883" y="2449"/>
                    </a:lnTo>
                    <a:lnTo>
                      <a:pt x="17113" y="2449"/>
                    </a:lnTo>
                    <a:lnTo>
                      <a:pt x="18832" y="933"/>
                    </a:lnTo>
                    <a:lnTo>
                      <a:pt x="19588" y="0"/>
                    </a:lnTo>
                    <a:lnTo>
                      <a:pt x="19931" y="641"/>
                    </a:lnTo>
                    <a:lnTo>
                      <a:pt x="19588" y="2157"/>
                    </a:lnTo>
                    <a:lnTo>
                      <a:pt x="18557" y="3032"/>
                    </a:lnTo>
                    <a:lnTo>
                      <a:pt x="17801" y="3965"/>
                    </a:lnTo>
                    <a:lnTo>
                      <a:pt x="14914" y="3965"/>
                    </a:lnTo>
                    <a:lnTo>
                      <a:pt x="13883" y="3965"/>
                    </a:lnTo>
                    <a:lnTo>
                      <a:pt x="11065" y="3965"/>
                    </a:lnTo>
                    <a:lnTo>
                      <a:pt x="9278" y="3615"/>
                    </a:lnTo>
                    <a:lnTo>
                      <a:pt x="7835" y="3615"/>
                    </a:lnTo>
                    <a:lnTo>
                      <a:pt x="6460" y="3615"/>
                    </a:lnTo>
                    <a:lnTo>
                      <a:pt x="4948" y="3615"/>
                    </a:lnTo>
                    <a:lnTo>
                      <a:pt x="4674" y="4898"/>
                    </a:lnTo>
                    <a:lnTo>
                      <a:pt x="4674" y="6939"/>
                    </a:lnTo>
                    <a:lnTo>
                      <a:pt x="5704" y="7289"/>
                    </a:lnTo>
                    <a:lnTo>
                      <a:pt x="6460" y="8455"/>
                    </a:lnTo>
                    <a:lnTo>
                      <a:pt x="7491" y="8455"/>
                    </a:lnTo>
                    <a:lnTo>
                      <a:pt x="8591" y="6939"/>
                    </a:lnTo>
                    <a:lnTo>
                      <a:pt x="9622" y="7289"/>
                    </a:lnTo>
                    <a:lnTo>
                      <a:pt x="10378" y="7289"/>
                    </a:lnTo>
                    <a:lnTo>
                      <a:pt x="11065" y="6939"/>
                    </a:lnTo>
                    <a:lnTo>
                      <a:pt x="12509" y="6939"/>
                    </a:lnTo>
                    <a:lnTo>
                      <a:pt x="13196" y="6356"/>
                    </a:lnTo>
                    <a:lnTo>
                      <a:pt x="13883" y="6356"/>
                    </a:lnTo>
                    <a:lnTo>
                      <a:pt x="14914" y="6939"/>
                    </a:lnTo>
                    <a:lnTo>
                      <a:pt x="14227" y="7289"/>
                    </a:lnTo>
                    <a:lnTo>
                      <a:pt x="13196" y="7289"/>
                    </a:lnTo>
                    <a:lnTo>
                      <a:pt x="11409" y="8455"/>
                    </a:lnTo>
                    <a:lnTo>
                      <a:pt x="9278" y="10029"/>
                    </a:lnTo>
                    <a:lnTo>
                      <a:pt x="7835" y="10029"/>
                    </a:lnTo>
                    <a:lnTo>
                      <a:pt x="11409" y="12653"/>
                    </a:lnTo>
                    <a:lnTo>
                      <a:pt x="11409" y="13586"/>
                    </a:lnTo>
                    <a:lnTo>
                      <a:pt x="11065" y="14810"/>
                    </a:lnTo>
                    <a:lnTo>
                      <a:pt x="12096" y="14810"/>
                    </a:lnTo>
                    <a:lnTo>
                      <a:pt x="12096" y="15743"/>
                    </a:lnTo>
                    <a:lnTo>
                      <a:pt x="13196" y="15743"/>
                    </a:lnTo>
                    <a:lnTo>
                      <a:pt x="13196" y="16618"/>
                    </a:lnTo>
                    <a:lnTo>
                      <a:pt x="11409" y="16618"/>
                    </a:lnTo>
                    <a:lnTo>
                      <a:pt x="10378" y="17201"/>
                    </a:lnTo>
                    <a:lnTo>
                      <a:pt x="10378" y="17551"/>
                    </a:lnTo>
                    <a:lnTo>
                      <a:pt x="8591" y="17551"/>
                    </a:lnTo>
                    <a:lnTo>
                      <a:pt x="9278" y="15743"/>
                    </a:lnTo>
                    <a:lnTo>
                      <a:pt x="6735" y="14227"/>
                    </a:lnTo>
                    <a:lnTo>
                      <a:pt x="6735" y="13586"/>
                    </a:lnTo>
                    <a:lnTo>
                      <a:pt x="7491" y="12653"/>
                    </a:lnTo>
                    <a:lnTo>
                      <a:pt x="6735" y="11778"/>
                    </a:lnTo>
                    <a:lnTo>
                      <a:pt x="6460" y="12420"/>
                    </a:lnTo>
                    <a:lnTo>
                      <a:pt x="4948" y="12653"/>
                    </a:lnTo>
                    <a:lnTo>
                      <a:pt x="4948" y="13294"/>
                    </a:lnTo>
                    <a:lnTo>
                      <a:pt x="4948" y="14810"/>
                    </a:lnTo>
                    <a:lnTo>
                      <a:pt x="4948" y="16618"/>
                    </a:lnTo>
                    <a:lnTo>
                      <a:pt x="4948" y="18134"/>
                    </a:lnTo>
                    <a:lnTo>
                      <a:pt x="4948" y="19942"/>
                    </a:lnTo>
                    <a:lnTo>
                      <a:pt x="3918" y="19592"/>
                    </a:lnTo>
                    <a:lnTo>
                      <a:pt x="3574" y="19942"/>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2" name="Google Shape;112;p18"/>
              <p:cNvSpPr/>
              <p:nvPr/>
            </p:nvSpPr>
            <p:spPr>
              <a:xfrm>
                <a:off x="4189317" y="6141910"/>
                <a:ext cx="38743" cy="78087"/>
              </a:xfrm>
              <a:custGeom>
                <a:rect b="b" l="l" r="r" t="t"/>
                <a:pathLst>
                  <a:path extrusionOk="0" h="20000" w="20000">
                    <a:moveTo>
                      <a:pt x="8986" y="19857"/>
                    </a:moveTo>
                    <a:lnTo>
                      <a:pt x="4638" y="16857"/>
                    </a:lnTo>
                    <a:lnTo>
                      <a:pt x="1739" y="13143"/>
                    </a:lnTo>
                    <a:lnTo>
                      <a:pt x="1739" y="11714"/>
                    </a:lnTo>
                    <a:lnTo>
                      <a:pt x="0" y="9571"/>
                    </a:lnTo>
                    <a:lnTo>
                      <a:pt x="0" y="7286"/>
                    </a:lnTo>
                    <a:lnTo>
                      <a:pt x="1739" y="3714"/>
                    </a:lnTo>
                    <a:lnTo>
                      <a:pt x="7536" y="0"/>
                    </a:lnTo>
                    <a:lnTo>
                      <a:pt x="4638" y="2000"/>
                    </a:lnTo>
                    <a:lnTo>
                      <a:pt x="7536" y="5857"/>
                    </a:lnTo>
                    <a:lnTo>
                      <a:pt x="1739" y="7286"/>
                    </a:lnTo>
                    <a:lnTo>
                      <a:pt x="4638" y="8143"/>
                    </a:lnTo>
                    <a:lnTo>
                      <a:pt x="7536" y="7286"/>
                    </a:lnTo>
                    <a:lnTo>
                      <a:pt x="8986" y="7286"/>
                    </a:lnTo>
                    <a:lnTo>
                      <a:pt x="8986" y="5857"/>
                    </a:lnTo>
                    <a:lnTo>
                      <a:pt x="16522" y="4286"/>
                    </a:lnTo>
                    <a:lnTo>
                      <a:pt x="16522" y="7286"/>
                    </a:lnTo>
                    <a:lnTo>
                      <a:pt x="8986" y="9571"/>
                    </a:lnTo>
                    <a:lnTo>
                      <a:pt x="19710" y="13143"/>
                    </a:lnTo>
                    <a:lnTo>
                      <a:pt x="7536" y="11714"/>
                    </a:lnTo>
                    <a:lnTo>
                      <a:pt x="7536" y="13143"/>
                    </a:lnTo>
                    <a:lnTo>
                      <a:pt x="8986" y="1985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3" name="Google Shape;113;p18"/>
              <p:cNvSpPr/>
              <p:nvPr/>
            </p:nvSpPr>
            <p:spPr>
              <a:xfrm>
                <a:off x="4199003" y="6271589"/>
                <a:ext cx="74718" cy="23705"/>
              </a:xfrm>
              <a:custGeom>
                <a:rect b="b" l="l" r="r" t="t"/>
                <a:pathLst>
                  <a:path extrusionOk="0" h="20000" w="20000">
                    <a:moveTo>
                      <a:pt x="19853" y="19535"/>
                    </a:moveTo>
                    <a:lnTo>
                      <a:pt x="13824" y="12093"/>
                    </a:lnTo>
                    <a:lnTo>
                      <a:pt x="11471" y="6977"/>
                    </a:lnTo>
                    <a:lnTo>
                      <a:pt x="11471" y="12093"/>
                    </a:lnTo>
                    <a:lnTo>
                      <a:pt x="7647" y="12093"/>
                    </a:lnTo>
                    <a:lnTo>
                      <a:pt x="7647" y="6977"/>
                    </a:lnTo>
                    <a:lnTo>
                      <a:pt x="4559" y="12093"/>
                    </a:lnTo>
                    <a:lnTo>
                      <a:pt x="2353" y="6977"/>
                    </a:lnTo>
                    <a:lnTo>
                      <a:pt x="1471" y="12093"/>
                    </a:lnTo>
                    <a:lnTo>
                      <a:pt x="0" y="6977"/>
                    </a:lnTo>
                    <a:lnTo>
                      <a:pt x="2353" y="0"/>
                    </a:lnTo>
                    <a:lnTo>
                      <a:pt x="7647" y="0"/>
                    </a:lnTo>
                    <a:lnTo>
                      <a:pt x="10000" y="0"/>
                    </a:lnTo>
                    <a:lnTo>
                      <a:pt x="11471" y="0"/>
                    </a:lnTo>
                    <a:lnTo>
                      <a:pt x="13824" y="0"/>
                    </a:lnTo>
                    <a:lnTo>
                      <a:pt x="16029" y="0"/>
                    </a:lnTo>
                    <a:lnTo>
                      <a:pt x="18382" y="6977"/>
                    </a:lnTo>
                    <a:lnTo>
                      <a:pt x="19853" y="12093"/>
                    </a:lnTo>
                    <a:lnTo>
                      <a:pt x="19853" y="1953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4" name="Google Shape;114;p18"/>
              <p:cNvSpPr/>
              <p:nvPr/>
            </p:nvSpPr>
            <p:spPr>
              <a:xfrm>
                <a:off x="3920889" y="6404057"/>
                <a:ext cx="59497" cy="23705"/>
              </a:xfrm>
              <a:custGeom>
                <a:rect b="b" l="l" r="r" t="t"/>
                <a:pathLst>
                  <a:path extrusionOk="0" h="20000" w="20000">
                    <a:moveTo>
                      <a:pt x="0" y="19524"/>
                    </a:moveTo>
                    <a:lnTo>
                      <a:pt x="0" y="10000"/>
                    </a:lnTo>
                    <a:lnTo>
                      <a:pt x="2569" y="7143"/>
                    </a:lnTo>
                    <a:lnTo>
                      <a:pt x="6606" y="7143"/>
                    </a:lnTo>
                    <a:lnTo>
                      <a:pt x="7523" y="10000"/>
                    </a:lnTo>
                    <a:lnTo>
                      <a:pt x="9358" y="10000"/>
                    </a:lnTo>
                    <a:lnTo>
                      <a:pt x="10459" y="7143"/>
                    </a:lnTo>
                    <a:lnTo>
                      <a:pt x="7523" y="2857"/>
                    </a:lnTo>
                    <a:lnTo>
                      <a:pt x="10459" y="0"/>
                    </a:lnTo>
                    <a:lnTo>
                      <a:pt x="12294" y="2857"/>
                    </a:lnTo>
                    <a:lnTo>
                      <a:pt x="14128" y="2857"/>
                    </a:lnTo>
                    <a:lnTo>
                      <a:pt x="16881" y="7143"/>
                    </a:lnTo>
                    <a:lnTo>
                      <a:pt x="17982" y="2857"/>
                    </a:lnTo>
                    <a:lnTo>
                      <a:pt x="19817" y="14762"/>
                    </a:lnTo>
                    <a:lnTo>
                      <a:pt x="14128" y="14762"/>
                    </a:lnTo>
                    <a:lnTo>
                      <a:pt x="14128" y="10000"/>
                    </a:lnTo>
                    <a:lnTo>
                      <a:pt x="12294" y="10000"/>
                    </a:lnTo>
                    <a:lnTo>
                      <a:pt x="10459" y="19524"/>
                    </a:lnTo>
                    <a:lnTo>
                      <a:pt x="7523" y="19524"/>
                    </a:lnTo>
                    <a:lnTo>
                      <a:pt x="0" y="1952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5" name="Google Shape;115;p18"/>
              <p:cNvSpPr/>
              <p:nvPr/>
            </p:nvSpPr>
            <p:spPr>
              <a:xfrm>
                <a:off x="3637240" y="6233939"/>
                <a:ext cx="42893" cy="37650"/>
              </a:xfrm>
              <a:custGeom>
                <a:rect b="b" l="l" r="r" t="t"/>
                <a:pathLst>
                  <a:path extrusionOk="0" h="20000" w="20000">
                    <a:moveTo>
                      <a:pt x="19744" y="19706"/>
                    </a:moveTo>
                    <a:lnTo>
                      <a:pt x="11795" y="18235"/>
                    </a:lnTo>
                    <a:lnTo>
                      <a:pt x="9231" y="10882"/>
                    </a:lnTo>
                    <a:lnTo>
                      <a:pt x="5128" y="6176"/>
                    </a:lnTo>
                    <a:lnTo>
                      <a:pt x="0" y="6176"/>
                    </a:lnTo>
                    <a:lnTo>
                      <a:pt x="5128" y="6176"/>
                    </a:lnTo>
                    <a:lnTo>
                      <a:pt x="5128" y="0"/>
                    </a:lnTo>
                    <a:lnTo>
                      <a:pt x="6667" y="0"/>
                    </a:lnTo>
                    <a:lnTo>
                      <a:pt x="6667" y="2941"/>
                    </a:lnTo>
                    <a:lnTo>
                      <a:pt x="9231" y="2941"/>
                    </a:lnTo>
                    <a:lnTo>
                      <a:pt x="9231" y="0"/>
                    </a:lnTo>
                    <a:lnTo>
                      <a:pt x="11795" y="0"/>
                    </a:lnTo>
                    <a:lnTo>
                      <a:pt x="13077" y="2941"/>
                    </a:lnTo>
                    <a:lnTo>
                      <a:pt x="13077" y="12059"/>
                    </a:lnTo>
                    <a:lnTo>
                      <a:pt x="19744" y="15000"/>
                    </a:lnTo>
                    <a:lnTo>
                      <a:pt x="17179" y="18235"/>
                    </a:lnTo>
                    <a:lnTo>
                      <a:pt x="19744" y="1970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6" name="Google Shape;116;p18"/>
              <p:cNvSpPr/>
              <p:nvPr/>
            </p:nvSpPr>
            <p:spPr>
              <a:xfrm>
                <a:off x="4432841" y="6390112"/>
                <a:ext cx="35975" cy="26493"/>
              </a:xfrm>
              <a:custGeom>
                <a:rect b="b" l="l" r="r" t="t"/>
                <a:pathLst>
                  <a:path extrusionOk="0" h="20000" w="20000">
                    <a:moveTo>
                      <a:pt x="0" y="19583"/>
                    </a:moveTo>
                    <a:lnTo>
                      <a:pt x="6563" y="6667"/>
                    </a:lnTo>
                    <a:lnTo>
                      <a:pt x="16563" y="0"/>
                    </a:lnTo>
                    <a:lnTo>
                      <a:pt x="19688" y="1667"/>
                    </a:lnTo>
                    <a:lnTo>
                      <a:pt x="19688" y="10833"/>
                    </a:lnTo>
                    <a:lnTo>
                      <a:pt x="14688" y="17083"/>
                    </a:lnTo>
                    <a:lnTo>
                      <a:pt x="0" y="19583"/>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7" name="Google Shape;117;p18"/>
              <p:cNvSpPr/>
              <p:nvPr/>
            </p:nvSpPr>
            <p:spPr>
              <a:xfrm>
                <a:off x="4154727" y="6277166"/>
                <a:ext cx="30440" cy="18127"/>
              </a:xfrm>
              <a:custGeom>
                <a:rect b="b" l="l" r="r" t="t"/>
                <a:pathLst>
                  <a:path extrusionOk="0" h="20000" w="20000">
                    <a:moveTo>
                      <a:pt x="10000" y="19375"/>
                    </a:moveTo>
                    <a:lnTo>
                      <a:pt x="0" y="2500"/>
                    </a:lnTo>
                    <a:lnTo>
                      <a:pt x="0" y="0"/>
                    </a:lnTo>
                    <a:lnTo>
                      <a:pt x="17407" y="0"/>
                    </a:lnTo>
                    <a:lnTo>
                      <a:pt x="19630" y="15625"/>
                    </a:lnTo>
                    <a:lnTo>
                      <a:pt x="10000" y="1937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8" name="Google Shape;118;p18"/>
              <p:cNvSpPr/>
              <p:nvPr/>
            </p:nvSpPr>
            <p:spPr>
              <a:xfrm>
                <a:off x="3696737" y="6263223"/>
                <a:ext cx="20754" cy="15339"/>
              </a:xfrm>
              <a:custGeom>
                <a:rect b="b" l="l" r="r" t="t"/>
                <a:pathLst>
                  <a:path extrusionOk="0" h="20000" w="20000">
                    <a:moveTo>
                      <a:pt x="0" y="19286"/>
                    </a:moveTo>
                    <a:lnTo>
                      <a:pt x="5263" y="0"/>
                    </a:lnTo>
                    <a:lnTo>
                      <a:pt x="19474" y="0"/>
                    </a:lnTo>
                    <a:lnTo>
                      <a:pt x="19474" y="19286"/>
                    </a:lnTo>
                    <a:lnTo>
                      <a:pt x="11053" y="11429"/>
                    </a:lnTo>
                    <a:lnTo>
                      <a:pt x="0" y="1928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19" name="Google Shape;119;p18"/>
              <p:cNvSpPr/>
              <p:nvPr/>
            </p:nvSpPr>
            <p:spPr>
              <a:xfrm>
                <a:off x="3444913" y="6155853"/>
                <a:ext cx="17987" cy="29281"/>
              </a:xfrm>
              <a:custGeom>
                <a:rect b="b" l="l" r="r" t="t"/>
                <a:pathLst>
                  <a:path extrusionOk="0" h="20000" w="20000">
                    <a:moveTo>
                      <a:pt x="13125" y="19615"/>
                    </a:moveTo>
                    <a:lnTo>
                      <a:pt x="0" y="1538"/>
                    </a:lnTo>
                    <a:lnTo>
                      <a:pt x="3750" y="0"/>
                    </a:lnTo>
                    <a:lnTo>
                      <a:pt x="19375" y="9615"/>
                    </a:lnTo>
                    <a:lnTo>
                      <a:pt x="13125" y="1961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0" name="Google Shape;120;p18"/>
              <p:cNvSpPr/>
              <p:nvPr/>
            </p:nvSpPr>
            <p:spPr>
              <a:xfrm>
                <a:off x="3482270" y="6219995"/>
                <a:ext cx="11070" cy="20916"/>
              </a:xfrm>
              <a:custGeom>
                <a:rect b="b" l="l" r="r" t="t"/>
                <a:pathLst>
                  <a:path extrusionOk="0" h="20000" w="20000">
                    <a:moveTo>
                      <a:pt x="14286" y="19459"/>
                    </a:moveTo>
                    <a:lnTo>
                      <a:pt x="0" y="5405"/>
                    </a:lnTo>
                    <a:lnTo>
                      <a:pt x="0" y="0"/>
                    </a:lnTo>
                    <a:lnTo>
                      <a:pt x="3810" y="0"/>
                    </a:lnTo>
                    <a:lnTo>
                      <a:pt x="19048" y="14054"/>
                    </a:lnTo>
                    <a:lnTo>
                      <a:pt x="14286" y="1945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1" name="Google Shape;121;p18"/>
              <p:cNvSpPr/>
              <p:nvPr/>
            </p:nvSpPr>
            <p:spPr>
              <a:xfrm>
                <a:off x="4273721" y="6377563"/>
                <a:ext cx="16605" cy="27888"/>
              </a:xfrm>
              <a:custGeom>
                <a:rect b="b" l="l" r="r" t="t"/>
                <a:pathLst>
                  <a:path extrusionOk="0" h="20000" w="20000">
                    <a:moveTo>
                      <a:pt x="6250" y="19583"/>
                    </a:moveTo>
                    <a:lnTo>
                      <a:pt x="0" y="15417"/>
                    </a:lnTo>
                    <a:lnTo>
                      <a:pt x="15625" y="0"/>
                    </a:lnTo>
                    <a:lnTo>
                      <a:pt x="19375" y="8750"/>
                    </a:lnTo>
                    <a:lnTo>
                      <a:pt x="6250" y="19583"/>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2" name="Google Shape;122;p18"/>
              <p:cNvSpPr/>
              <p:nvPr/>
            </p:nvSpPr>
            <p:spPr>
              <a:xfrm>
                <a:off x="3407554" y="6118204"/>
                <a:ext cx="17987" cy="18127"/>
              </a:xfrm>
              <a:custGeom>
                <a:rect b="b" l="l" r="r" t="t"/>
                <a:pathLst>
                  <a:path extrusionOk="0" h="20000" w="20000">
                    <a:moveTo>
                      <a:pt x="19375" y="19375"/>
                    </a:moveTo>
                    <a:lnTo>
                      <a:pt x="0" y="6875"/>
                    </a:lnTo>
                    <a:lnTo>
                      <a:pt x="0" y="0"/>
                    </a:lnTo>
                    <a:lnTo>
                      <a:pt x="19375" y="16250"/>
                    </a:lnTo>
                    <a:lnTo>
                      <a:pt x="19375" y="1937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3" name="Google Shape;123;p18"/>
              <p:cNvSpPr/>
              <p:nvPr/>
            </p:nvSpPr>
            <p:spPr>
              <a:xfrm>
                <a:off x="3709190" y="6090316"/>
                <a:ext cx="13837" cy="13945"/>
              </a:xfrm>
              <a:custGeom>
                <a:rect b="b" l="l" r="r" t="t"/>
                <a:pathLst>
                  <a:path extrusionOk="0" h="20000" w="20000">
                    <a:moveTo>
                      <a:pt x="3704" y="19259"/>
                    </a:moveTo>
                    <a:lnTo>
                      <a:pt x="0" y="7407"/>
                    </a:lnTo>
                    <a:lnTo>
                      <a:pt x="3704" y="0"/>
                    </a:lnTo>
                    <a:lnTo>
                      <a:pt x="11852" y="7407"/>
                    </a:lnTo>
                    <a:lnTo>
                      <a:pt x="19259" y="19259"/>
                    </a:lnTo>
                    <a:lnTo>
                      <a:pt x="3704" y="1925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4" name="Google Shape;124;p18"/>
              <p:cNvSpPr/>
              <p:nvPr/>
            </p:nvSpPr>
            <p:spPr>
              <a:xfrm>
                <a:off x="3597115" y="6158642"/>
                <a:ext cx="8301" cy="6971"/>
              </a:xfrm>
              <a:custGeom>
                <a:rect b="b" l="l" r="r" t="t"/>
                <a:pathLst>
                  <a:path extrusionOk="0" h="20000" w="20000">
                    <a:moveTo>
                      <a:pt x="0" y="0"/>
                    </a:moveTo>
                    <a:lnTo>
                      <a:pt x="12500" y="18333"/>
                    </a:lnTo>
                    <a:lnTo>
                      <a:pt x="18750" y="0"/>
                    </a:lnTo>
                    <a:lnTo>
                      <a:pt x="12500" y="18333"/>
                    </a:lnTo>
                    <a:lnTo>
                      <a:pt x="0" y="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5" name="Google Shape;125;p18"/>
              <p:cNvSpPr/>
              <p:nvPr/>
            </p:nvSpPr>
            <p:spPr>
              <a:xfrm>
                <a:off x="4143657" y="5465625"/>
                <a:ext cx="12453" cy="23705"/>
              </a:xfrm>
              <a:custGeom>
                <a:rect b="b" l="l" r="r" t="t"/>
                <a:pathLst>
                  <a:path extrusionOk="0" h="20000" w="20000">
                    <a:moveTo>
                      <a:pt x="0" y="19524"/>
                    </a:moveTo>
                    <a:lnTo>
                      <a:pt x="0" y="14762"/>
                    </a:lnTo>
                    <a:lnTo>
                      <a:pt x="5714" y="7143"/>
                    </a:lnTo>
                    <a:lnTo>
                      <a:pt x="5714" y="2857"/>
                    </a:lnTo>
                    <a:lnTo>
                      <a:pt x="14286" y="2857"/>
                    </a:lnTo>
                    <a:lnTo>
                      <a:pt x="19048" y="0"/>
                    </a:lnTo>
                    <a:lnTo>
                      <a:pt x="5714" y="14762"/>
                    </a:lnTo>
                    <a:lnTo>
                      <a:pt x="14286" y="19524"/>
                    </a:lnTo>
                    <a:lnTo>
                      <a:pt x="0" y="1952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6" name="Google Shape;126;p18"/>
              <p:cNvSpPr/>
              <p:nvPr/>
            </p:nvSpPr>
            <p:spPr>
              <a:xfrm>
                <a:off x="4169946" y="5414032"/>
                <a:ext cx="15221" cy="9760"/>
              </a:xfrm>
              <a:custGeom>
                <a:rect b="b" l="l" r="r" t="t"/>
                <a:pathLst>
                  <a:path extrusionOk="0" h="20000" w="20000">
                    <a:moveTo>
                      <a:pt x="7407" y="18824"/>
                    </a:moveTo>
                    <a:lnTo>
                      <a:pt x="0" y="11765"/>
                    </a:lnTo>
                    <a:lnTo>
                      <a:pt x="19259" y="0"/>
                    </a:lnTo>
                    <a:lnTo>
                      <a:pt x="14815" y="11765"/>
                    </a:lnTo>
                    <a:lnTo>
                      <a:pt x="7407" y="1882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7" name="Google Shape;127;p18"/>
              <p:cNvSpPr/>
              <p:nvPr/>
            </p:nvSpPr>
            <p:spPr>
              <a:xfrm>
                <a:off x="3559756" y="5815619"/>
                <a:ext cx="128679" cy="112947"/>
              </a:xfrm>
              <a:custGeom>
                <a:rect b="b" l="l" r="r" t="t"/>
                <a:pathLst>
                  <a:path extrusionOk="0" h="20000" w="20000">
                    <a:moveTo>
                      <a:pt x="10684" y="1576"/>
                    </a:moveTo>
                    <a:lnTo>
                      <a:pt x="10684" y="3054"/>
                    </a:lnTo>
                    <a:lnTo>
                      <a:pt x="12821" y="3054"/>
                    </a:lnTo>
                    <a:lnTo>
                      <a:pt x="13675" y="4039"/>
                    </a:lnTo>
                    <a:lnTo>
                      <a:pt x="14188" y="3054"/>
                    </a:lnTo>
                    <a:lnTo>
                      <a:pt x="14188" y="985"/>
                    </a:lnTo>
                    <a:lnTo>
                      <a:pt x="15897" y="0"/>
                    </a:lnTo>
                    <a:lnTo>
                      <a:pt x="17265" y="1576"/>
                    </a:lnTo>
                    <a:lnTo>
                      <a:pt x="19487" y="1576"/>
                    </a:lnTo>
                    <a:lnTo>
                      <a:pt x="19487" y="3054"/>
                    </a:lnTo>
                    <a:lnTo>
                      <a:pt x="19915" y="7192"/>
                    </a:lnTo>
                    <a:lnTo>
                      <a:pt x="19915" y="10640"/>
                    </a:lnTo>
                    <a:lnTo>
                      <a:pt x="18547" y="11724"/>
                    </a:lnTo>
                    <a:lnTo>
                      <a:pt x="17265" y="12217"/>
                    </a:lnTo>
                    <a:lnTo>
                      <a:pt x="15043" y="13300"/>
                    </a:lnTo>
                    <a:lnTo>
                      <a:pt x="13675" y="13695"/>
                    </a:lnTo>
                    <a:lnTo>
                      <a:pt x="14188" y="15862"/>
                    </a:lnTo>
                    <a:lnTo>
                      <a:pt x="14188" y="17340"/>
                    </a:lnTo>
                    <a:lnTo>
                      <a:pt x="11966" y="17833"/>
                    </a:lnTo>
                    <a:lnTo>
                      <a:pt x="8376" y="19901"/>
                    </a:lnTo>
                    <a:lnTo>
                      <a:pt x="6667" y="18916"/>
                    </a:lnTo>
                    <a:lnTo>
                      <a:pt x="5812" y="18916"/>
                    </a:lnTo>
                    <a:lnTo>
                      <a:pt x="5812" y="17340"/>
                    </a:lnTo>
                    <a:lnTo>
                      <a:pt x="4872" y="16355"/>
                    </a:lnTo>
                    <a:lnTo>
                      <a:pt x="4444" y="17340"/>
                    </a:lnTo>
                    <a:lnTo>
                      <a:pt x="2650" y="15862"/>
                    </a:lnTo>
                    <a:lnTo>
                      <a:pt x="2650" y="13695"/>
                    </a:lnTo>
                    <a:lnTo>
                      <a:pt x="855" y="9261"/>
                    </a:lnTo>
                    <a:lnTo>
                      <a:pt x="0" y="6601"/>
                    </a:lnTo>
                    <a:lnTo>
                      <a:pt x="2222" y="5025"/>
                    </a:lnTo>
                    <a:lnTo>
                      <a:pt x="2222" y="1576"/>
                    </a:lnTo>
                    <a:lnTo>
                      <a:pt x="4872" y="985"/>
                    </a:lnTo>
                    <a:lnTo>
                      <a:pt x="8034" y="1576"/>
                    </a:lnTo>
                    <a:lnTo>
                      <a:pt x="8376" y="985"/>
                    </a:lnTo>
                    <a:lnTo>
                      <a:pt x="10171" y="1576"/>
                    </a:lnTo>
                    <a:lnTo>
                      <a:pt x="10684" y="157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8" name="Google Shape;128;p18"/>
              <p:cNvSpPr/>
              <p:nvPr/>
            </p:nvSpPr>
            <p:spPr>
              <a:xfrm>
                <a:off x="3490573" y="5605065"/>
                <a:ext cx="195095" cy="234260"/>
              </a:xfrm>
              <a:custGeom>
                <a:rect b="b" l="l" r="r" t="t"/>
                <a:pathLst>
                  <a:path extrusionOk="0" h="20000" w="20000">
                    <a:moveTo>
                      <a:pt x="2323" y="2476"/>
                    </a:moveTo>
                    <a:lnTo>
                      <a:pt x="2323" y="2952"/>
                    </a:lnTo>
                    <a:lnTo>
                      <a:pt x="3796" y="2952"/>
                    </a:lnTo>
                    <a:lnTo>
                      <a:pt x="3229" y="476"/>
                    </a:lnTo>
                    <a:lnTo>
                      <a:pt x="3796" y="0"/>
                    </a:lnTo>
                    <a:lnTo>
                      <a:pt x="4646" y="0"/>
                    </a:lnTo>
                    <a:lnTo>
                      <a:pt x="5212" y="762"/>
                    </a:lnTo>
                    <a:lnTo>
                      <a:pt x="6459" y="1238"/>
                    </a:lnTo>
                    <a:lnTo>
                      <a:pt x="6459" y="1762"/>
                    </a:lnTo>
                    <a:lnTo>
                      <a:pt x="6459" y="2952"/>
                    </a:lnTo>
                    <a:lnTo>
                      <a:pt x="8442" y="3714"/>
                    </a:lnTo>
                    <a:lnTo>
                      <a:pt x="10198" y="3714"/>
                    </a:lnTo>
                    <a:lnTo>
                      <a:pt x="10878" y="4476"/>
                    </a:lnTo>
                    <a:lnTo>
                      <a:pt x="11445" y="4476"/>
                    </a:lnTo>
                    <a:lnTo>
                      <a:pt x="11671" y="5190"/>
                    </a:lnTo>
                    <a:lnTo>
                      <a:pt x="11671" y="6429"/>
                    </a:lnTo>
                    <a:lnTo>
                      <a:pt x="10878" y="6429"/>
                    </a:lnTo>
                    <a:lnTo>
                      <a:pt x="9972" y="6429"/>
                    </a:lnTo>
                    <a:lnTo>
                      <a:pt x="9972" y="7143"/>
                    </a:lnTo>
                    <a:lnTo>
                      <a:pt x="12578" y="8857"/>
                    </a:lnTo>
                    <a:lnTo>
                      <a:pt x="13201" y="9143"/>
                    </a:lnTo>
                    <a:lnTo>
                      <a:pt x="14051" y="10095"/>
                    </a:lnTo>
                    <a:lnTo>
                      <a:pt x="14958" y="11095"/>
                    </a:lnTo>
                    <a:lnTo>
                      <a:pt x="16431" y="12286"/>
                    </a:lnTo>
                    <a:lnTo>
                      <a:pt x="17564" y="13524"/>
                    </a:lnTo>
                    <a:lnTo>
                      <a:pt x="19320" y="14810"/>
                    </a:lnTo>
                    <a:lnTo>
                      <a:pt x="19320" y="16238"/>
                    </a:lnTo>
                    <a:lnTo>
                      <a:pt x="19943" y="16238"/>
                    </a:lnTo>
                    <a:lnTo>
                      <a:pt x="19943" y="17238"/>
                    </a:lnTo>
                    <a:lnTo>
                      <a:pt x="19943" y="18000"/>
                    </a:lnTo>
                    <a:lnTo>
                      <a:pt x="19943" y="18714"/>
                    </a:lnTo>
                    <a:lnTo>
                      <a:pt x="18414" y="18714"/>
                    </a:lnTo>
                    <a:lnTo>
                      <a:pt x="17564" y="18000"/>
                    </a:lnTo>
                    <a:lnTo>
                      <a:pt x="16431" y="18476"/>
                    </a:lnTo>
                    <a:lnTo>
                      <a:pt x="16431" y="19476"/>
                    </a:lnTo>
                    <a:lnTo>
                      <a:pt x="16091" y="19952"/>
                    </a:lnTo>
                    <a:lnTo>
                      <a:pt x="15524" y="19476"/>
                    </a:lnTo>
                    <a:lnTo>
                      <a:pt x="14051" y="19476"/>
                    </a:lnTo>
                    <a:lnTo>
                      <a:pt x="14051" y="18714"/>
                    </a:lnTo>
                    <a:lnTo>
                      <a:pt x="14618" y="18000"/>
                    </a:lnTo>
                    <a:lnTo>
                      <a:pt x="14618" y="16238"/>
                    </a:lnTo>
                    <a:lnTo>
                      <a:pt x="14618" y="15524"/>
                    </a:lnTo>
                    <a:lnTo>
                      <a:pt x="14051" y="15286"/>
                    </a:lnTo>
                    <a:lnTo>
                      <a:pt x="14051" y="14810"/>
                    </a:lnTo>
                    <a:lnTo>
                      <a:pt x="13201" y="14286"/>
                    </a:lnTo>
                    <a:lnTo>
                      <a:pt x="12578" y="13333"/>
                    </a:lnTo>
                    <a:lnTo>
                      <a:pt x="12295" y="12286"/>
                    </a:lnTo>
                    <a:lnTo>
                      <a:pt x="12295" y="12095"/>
                    </a:lnTo>
                    <a:lnTo>
                      <a:pt x="10878" y="10333"/>
                    </a:lnTo>
                    <a:lnTo>
                      <a:pt x="9972" y="9619"/>
                    </a:lnTo>
                    <a:lnTo>
                      <a:pt x="8442" y="9143"/>
                    </a:lnTo>
                    <a:lnTo>
                      <a:pt x="7875" y="10095"/>
                    </a:lnTo>
                    <a:lnTo>
                      <a:pt x="7025" y="10095"/>
                    </a:lnTo>
                    <a:lnTo>
                      <a:pt x="6459" y="10333"/>
                    </a:lnTo>
                    <a:lnTo>
                      <a:pt x="5552" y="9619"/>
                    </a:lnTo>
                    <a:lnTo>
                      <a:pt x="4646" y="10333"/>
                    </a:lnTo>
                    <a:lnTo>
                      <a:pt x="4079" y="10333"/>
                    </a:lnTo>
                    <a:lnTo>
                      <a:pt x="3229" y="11095"/>
                    </a:lnTo>
                    <a:lnTo>
                      <a:pt x="2606" y="10810"/>
                    </a:lnTo>
                    <a:lnTo>
                      <a:pt x="2606" y="9143"/>
                    </a:lnTo>
                    <a:lnTo>
                      <a:pt x="3229" y="7619"/>
                    </a:lnTo>
                    <a:lnTo>
                      <a:pt x="2606" y="7143"/>
                    </a:lnTo>
                    <a:lnTo>
                      <a:pt x="2323" y="6429"/>
                    </a:lnTo>
                    <a:lnTo>
                      <a:pt x="1473" y="6905"/>
                    </a:lnTo>
                    <a:lnTo>
                      <a:pt x="907" y="6429"/>
                    </a:lnTo>
                    <a:lnTo>
                      <a:pt x="1473" y="5667"/>
                    </a:lnTo>
                    <a:lnTo>
                      <a:pt x="227" y="4952"/>
                    </a:lnTo>
                    <a:lnTo>
                      <a:pt x="0" y="5190"/>
                    </a:lnTo>
                    <a:lnTo>
                      <a:pt x="0" y="4476"/>
                    </a:lnTo>
                    <a:lnTo>
                      <a:pt x="227" y="3905"/>
                    </a:lnTo>
                    <a:lnTo>
                      <a:pt x="1473" y="3714"/>
                    </a:lnTo>
                    <a:lnTo>
                      <a:pt x="907" y="3190"/>
                    </a:lnTo>
                    <a:lnTo>
                      <a:pt x="1473" y="2952"/>
                    </a:lnTo>
                    <a:lnTo>
                      <a:pt x="2323" y="247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29" name="Google Shape;129;p18"/>
              <p:cNvSpPr/>
              <p:nvPr/>
            </p:nvSpPr>
            <p:spPr>
              <a:xfrm>
                <a:off x="3040886" y="4655478"/>
                <a:ext cx="765161" cy="358361"/>
              </a:xfrm>
              <a:custGeom>
                <a:rect b="b" l="l" r="r" t="t"/>
                <a:pathLst>
                  <a:path extrusionOk="0" h="20000" w="20000">
                    <a:moveTo>
                      <a:pt x="5853" y="498"/>
                    </a:moveTo>
                    <a:lnTo>
                      <a:pt x="5853" y="0"/>
                    </a:lnTo>
                    <a:lnTo>
                      <a:pt x="7717" y="966"/>
                    </a:lnTo>
                    <a:lnTo>
                      <a:pt x="8613" y="3053"/>
                    </a:lnTo>
                    <a:lnTo>
                      <a:pt x="9205" y="3053"/>
                    </a:lnTo>
                    <a:lnTo>
                      <a:pt x="10260" y="2243"/>
                    </a:lnTo>
                    <a:lnTo>
                      <a:pt x="10766" y="2555"/>
                    </a:lnTo>
                    <a:lnTo>
                      <a:pt x="11821" y="3364"/>
                    </a:lnTo>
                    <a:lnTo>
                      <a:pt x="11980" y="3863"/>
                    </a:lnTo>
                    <a:lnTo>
                      <a:pt x="12413" y="4330"/>
                    </a:lnTo>
                    <a:lnTo>
                      <a:pt x="12803" y="4330"/>
                    </a:lnTo>
                    <a:lnTo>
                      <a:pt x="13685" y="4330"/>
                    </a:lnTo>
                    <a:lnTo>
                      <a:pt x="14957" y="3364"/>
                    </a:lnTo>
                    <a:lnTo>
                      <a:pt x="15347" y="1464"/>
                    </a:lnTo>
                    <a:lnTo>
                      <a:pt x="16460" y="2243"/>
                    </a:lnTo>
                    <a:lnTo>
                      <a:pt x="17139" y="2243"/>
                    </a:lnTo>
                    <a:lnTo>
                      <a:pt x="17066" y="3053"/>
                    </a:lnTo>
                    <a:lnTo>
                      <a:pt x="17066" y="5140"/>
                    </a:lnTo>
                    <a:lnTo>
                      <a:pt x="17066" y="5639"/>
                    </a:lnTo>
                    <a:lnTo>
                      <a:pt x="16908" y="5981"/>
                    </a:lnTo>
                    <a:lnTo>
                      <a:pt x="17283" y="6760"/>
                    </a:lnTo>
                    <a:lnTo>
                      <a:pt x="17442" y="6449"/>
                    </a:lnTo>
                    <a:lnTo>
                      <a:pt x="17803" y="6449"/>
                    </a:lnTo>
                    <a:lnTo>
                      <a:pt x="18035" y="6760"/>
                    </a:lnTo>
                    <a:lnTo>
                      <a:pt x="18266" y="5981"/>
                    </a:lnTo>
                    <a:lnTo>
                      <a:pt x="18627" y="5639"/>
                    </a:lnTo>
                    <a:lnTo>
                      <a:pt x="19003" y="6106"/>
                    </a:lnTo>
                    <a:lnTo>
                      <a:pt x="19451" y="6916"/>
                    </a:lnTo>
                    <a:lnTo>
                      <a:pt x="19682" y="7383"/>
                    </a:lnTo>
                    <a:lnTo>
                      <a:pt x="19986" y="8224"/>
                    </a:lnTo>
                    <a:lnTo>
                      <a:pt x="19827" y="8536"/>
                    </a:lnTo>
                    <a:lnTo>
                      <a:pt x="19393" y="8224"/>
                    </a:lnTo>
                    <a:lnTo>
                      <a:pt x="18858" y="8536"/>
                    </a:lnTo>
                    <a:lnTo>
                      <a:pt x="18627" y="9346"/>
                    </a:lnTo>
                    <a:lnTo>
                      <a:pt x="18483" y="9346"/>
                    </a:lnTo>
                    <a:lnTo>
                      <a:pt x="18483" y="9813"/>
                    </a:lnTo>
                    <a:lnTo>
                      <a:pt x="18410" y="9813"/>
                    </a:lnTo>
                    <a:lnTo>
                      <a:pt x="18266" y="9502"/>
                    </a:lnTo>
                    <a:lnTo>
                      <a:pt x="18121" y="9502"/>
                    </a:lnTo>
                    <a:lnTo>
                      <a:pt x="17890" y="10125"/>
                    </a:lnTo>
                    <a:lnTo>
                      <a:pt x="17890" y="10623"/>
                    </a:lnTo>
                    <a:lnTo>
                      <a:pt x="17442" y="11589"/>
                    </a:lnTo>
                    <a:lnTo>
                      <a:pt x="17066" y="11589"/>
                    </a:lnTo>
                    <a:lnTo>
                      <a:pt x="16908" y="12741"/>
                    </a:lnTo>
                    <a:lnTo>
                      <a:pt x="16850" y="12897"/>
                    </a:lnTo>
                    <a:lnTo>
                      <a:pt x="16315" y="12897"/>
                    </a:lnTo>
                    <a:lnTo>
                      <a:pt x="15867" y="12897"/>
                    </a:lnTo>
                    <a:lnTo>
                      <a:pt x="15578" y="12741"/>
                    </a:lnTo>
                    <a:lnTo>
                      <a:pt x="15491" y="13209"/>
                    </a:lnTo>
                    <a:lnTo>
                      <a:pt x="15491" y="14019"/>
                    </a:lnTo>
                    <a:lnTo>
                      <a:pt x="15723" y="14517"/>
                    </a:lnTo>
                    <a:lnTo>
                      <a:pt x="15723" y="15639"/>
                    </a:lnTo>
                    <a:lnTo>
                      <a:pt x="15347" y="16106"/>
                    </a:lnTo>
                    <a:lnTo>
                      <a:pt x="15260" y="17072"/>
                    </a:lnTo>
                    <a:lnTo>
                      <a:pt x="14957" y="17570"/>
                    </a:lnTo>
                    <a:lnTo>
                      <a:pt x="14740" y="18193"/>
                    </a:lnTo>
                    <a:lnTo>
                      <a:pt x="12948" y="18692"/>
                    </a:lnTo>
                    <a:lnTo>
                      <a:pt x="12211" y="19969"/>
                    </a:lnTo>
                    <a:lnTo>
                      <a:pt x="11821" y="19969"/>
                    </a:lnTo>
                    <a:lnTo>
                      <a:pt x="11590" y="19657"/>
                    </a:lnTo>
                    <a:lnTo>
                      <a:pt x="11228" y="19657"/>
                    </a:lnTo>
                    <a:lnTo>
                      <a:pt x="10029" y="19034"/>
                    </a:lnTo>
                    <a:lnTo>
                      <a:pt x="9812" y="18380"/>
                    </a:lnTo>
                    <a:lnTo>
                      <a:pt x="8829" y="18380"/>
                    </a:lnTo>
                    <a:lnTo>
                      <a:pt x="8613" y="18692"/>
                    </a:lnTo>
                    <a:lnTo>
                      <a:pt x="7413" y="18692"/>
                    </a:lnTo>
                    <a:lnTo>
                      <a:pt x="7269" y="19034"/>
                    </a:lnTo>
                    <a:lnTo>
                      <a:pt x="6662" y="19034"/>
                    </a:lnTo>
                    <a:lnTo>
                      <a:pt x="6301" y="18193"/>
                    </a:lnTo>
                    <a:lnTo>
                      <a:pt x="5910" y="16604"/>
                    </a:lnTo>
                    <a:lnTo>
                      <a:pt x="5679" y="16106"/>
                    </a:lnTo>
                    <a:lnTo>
                      <a:pt x="5535" y="16106"/>
                    </a:lnTo>
                    <a:lnTo>
                      <a:pt x="4942" y="15639"/>
                    </a:lnTo>
                    <a:lnTo>
                      <a:pt x="4350" y="14829"/>
                    </a:lnTo>
                    <a:lnTo>
                      <a:pt x="3960" y="14829"/>
                    </a:lnTo>
                    <a:lnTo>
                      <a:pt x="3136" y="14517"/>
                    </a:lnTo>
                    <a:lnTo>
                      <a:pt x="2543" y="14019"/>
                    </a:lnTo>
                    <a:lnTo>
                      <a:pt x="2399" y="13209"/>
                    </a:lnTo>
                    <a:lnTo>
                      <a:pt x="2543" y="12897"/>
                    </a:lnTo>
                    <a:lnTo>
                      <a:pt x="2399" y="12243"/>
                    </a:lnTo>
                    <a:lnTo>
                      <a:pt x="2399" y="11433"/>
                    </a:lnTo>
                    <a:lnTo>
                      <a:pt x="2023" y="10312"/>
                    </a:lnTo>
                    <a:lnTo>
                      <a:pt x="1575" y="9346"/>
                    </a:lnTo>
                    <a:lnTo>
                      <a:pt x="1431" y="9502"/>
                    </a:lnTo>
                    <a:lnTo>
                      <a:pt x="1358" y="9034"/>
                    </a:lnTo>
                    <a:lnTo>
                      <a:pt x="1214" y="8847"/>
                    </a:lnTo>
                    <a:lnTo>
                      <a:pt x="983" y="9502"/>
                    </a:lnTo>
                    <a:lnTo>
                      <a:pt x="592" y="8536"/>
                    </a:lnTo>
                    <a:lnTo>
                      <a:pt x="376" y="8224"/>
                    </a:lnTo>
                    <a:lnTo>
                      <a:pt x="231" y="8069"/>
                    </a:lnTo>
                    <a:lnTo>
                      <a:pt x="0" y="7757"/>
                    </a:lnTo>
                    <a:lnTo>
                      <a:pt x="0" y="6916"/>
                    </a:lnTo>
                    <a:lnTo>
                      <a:pt x="159" y="6449"/>
                    </a:lnTo>
                    <a:lnTo>
                      <a:pt x="983" y="5639"/>
                    </a:lnTo>
                    <a:lnTo>
                      <a:pt x="983" y="5140"/>
                    </a:lnTo>
                    <a:lnTo>
                      <a:pt x="1358" y="4330"/>
                    </a:lnTo>
                    <a:lnTo>
                      <a:pt x="1431" y="4019"/>
                    </a:lnTo>
                    <a:lnTo>
                      <a:pt x="1806" y="3551"/>
                    </a:lnTo>
                    <a:lnTo>
                      <a:pt x="2543" y="3364"/>
                    </a:lnTo>
                    <a:lnTo>
                      <a:pt x="2775" y="3863"/>
                    </a:lnTo>
                    <a:lnTo>
                      <a:pt x="3526" y="3551"/>
                    </a:lnTo>
                    <a:lnTo>
                      <a:pt x="3584" y="4330"/>
                    </a:lnTo>
                    <a:lnTo>
                      <a:pt x="4118" y="4642"/>
                    </a:lnTo>
                    <a:lnTo>
                      <a:pt x="4942" y="4642"/>
                    </a:lnTo>
                    <a:lnTo>
                      <a:pt x="6069" y="4330"/>
                    </a:lnTo>
                    <a:lnTo>
                      <a:pt x="5853" y="3551"/>
                    </a:lnTo>
                    <a:lnTo>
                      <a:pt x="5679" y="2741"/>
                    </a:lnTo>
                    <a:lnTo>
                      <a:pt x="5462" y="1464"/>
                    </a:lnTo>
                    <a:lnTo>
                      <a:pt x="5535" y="1277"/>
                    </a:lnTo>
                    <a:lnTo>
                      <a:pt x="5853" y="49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0" name="Google Shape;130;p18"/>
              <p:cNvSpPr/>
              <p:nvPr/>
            </p:nvSpPr>
            <p:spPr>
              <a:xfrm>
                <a:off x="2974470" y="5384750"/>
                <a:ext cx="203397" cy="114341"/>
              </a:xfrm>
              <a:custGeom>
                <a:rect b="b" l="l" r="r" t="t"/>
                <a:pathLst>
                  <a:path extrusionOk="0" h="20000" w="20000">
                    <a:moveTo>
                      <a:pt x="2005" y="0"/>
                    </a:moveTo>
                    <a:lnTo>
                      <a:pt x="3360" y="1084"/>
                    </a:lnTo>
                    <a:lnTo>
                      <a:pt x="7317" y="4039"/>
                    </a:lnTo>
                    <a:lnTo>
                      <a:pt x="8130" y="6700"/>
                    </a:lnTo>
                    <a:lnTo>
                      <a:pt x="8726" y="6108"/>
                    </a:lnTo>
                    <a:lnTo>
                      <a:pt x="9539" y="6108"/>
                    </a:lnTo>
                    <a:lnTo>
                      <a:pt x="10136" y="8276"/>
                    </a:lnTo>
                    <a:lnTo>
                      <a:pt x="11545" y="9261"/>
                    </a:lnTo>
                    <a:lnTo>
                      <a:pt x="12412" y="8276"/>
                    </a:lnTo>
                    <a:lnTo>
                      <a:pt x="12412" y="10739"/>
                    </a:lnTo>
                    <a:lnTo>
                      <a:pt x="13225" y="10739"/>
                    </a:lnTo>
                    <a:lnTo>
                      <a:pt x="15447" y="12315"/>
                    </a:lnTo>
                    <a:lnTo>
                      <a:pt x="15989" y="11724"/>
                    </a:lnTo>
                    <a:lnTo>
                      <a:pt x="17398" y="12315"/>
                    </a:lnTo>
                    <a:lnTo>
                      <a:pt x="19946" y="12315"/>
                    </a:lnTo>
                    <a:lnTo>
                      <a:pt x="19675" y="14877"/>
                    </a:lnTo>
                    <a:lnTo>
                      <a:pt x="19946" y="19901"/>
                    </a:lnTo>
                    <a:lnTo>
                      <a:pt x="17724" y="19901"/>
                    </a:lnTo>
                    <a:lnTo>
                      <a:pt x="17724" y="18916"/>
                    </a:lnTo>
                    <a:lnTo>
                      <a:pt x="16856" y="18916"/>
                    </a:lnTo>
                    <a:lnTo>
                      <a:pt x="15447" y="18916"/>
                    </a:lnTo>
                    <a:lnTo>
                      <a:pt x="15176" y="18916"/>
                    </a:lnTo>
                    <a:lnTo>
                      <a:pt x="14092" y="17340"/>
                    </a:lnTo>
                    <a:lnTo>
                      <a:pt x="13225" y="18325"/>
                    </a:lnTo>
                    <a:lnTo>
                      <a:pt x="11870" y="16847"/>
                    </a:lnTo>
                    <a:lnTo>
                      <a:pt x="11545" y="15862"/>
                    </a:lnTo>
                    <a:lnTo>
                      <a:pt x="9322" y="14877"/>
                    </a:lnTo>
                    <a:lnTo>
                      <a:pt x="6450" y="13300"/>
                    </a:lnTo>
                    <a:lnTo>
                      <a:pt x="4770" y="12315"/>
                    </a:lnTo>
                    <a:lnTo>
                      <a:pt x="2818" y="10739"/>
                    </a:lnTo>
                    <a:lnTo>
                      <a:pt x="1138" y="9261"/>
                    </a:lnTo>
                    <a:lnTo>
                      <a:pt x="0" y="7685"/>
                    </a:lnTo>
                    <a:lnTo>
                      <a:pt x="1138" y="6700"/>
                    </a:lnTo>
                    <a:lnTo>
                      <a:pt x="596" y="5123"/>
                    </a:lnTo>
                    <a:lnTo>
                      <a:pt x="1138" y="3645"/>
                    </a:lnTo>
                    <a:lnTo>
                      <a:pt x="2005" y="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1" name="Google Shape;131;p18"/>
              <p:cNvSpPr/>
              <p:nvPr/>
            </p:nvSpPr>
            <p:spPr>
              <a:xfrm>
                <a:off x="2516481" y="5195111"/>
                <a:ext cx="381888" cy="384855"/>
              </a:xfrm>
              <a:custGeom>
                <a:rect b="b" l="l" r="r" t="t"/>
                <a:pathLst>
                  <a:path extrusionOk="0" h="20000" w="20000">
                    <a:moveTo>
                      <a:pt x="15594" y="290"/>
                    </a:moveTo>
                    <a:lnTo>
                      <a:pt x="16348" y="0"/>
                    </a:lnTo>
                    <a:lnTo>
                      <a:pt x="18029" y="755"/>
                    </a:lnTo>
                    <a:lnTo>
                      <a:pt x="18783" y="1480"/>
                    </a:lnTo>
                    <a:lnTo>
                      <a:pt x="19971" y="2409"/>
                    </a:lnTo>
                    <a:lnTo>
                      <a:pt x="19681" y="2700"/>
                    </a:lnTo>
                    <a:lnTo>
                      <a:pt x="18783" y="3454"/>
                    </a:lnTo>
                    <a:lnTo>
                      <a:pt x="17565" y="3919"/>
                    </a:lnTo>
                    <a:lnTo>
                      <a:pt x="16812" y="3599"/>
                    </a:lnTo>
                    <a:lnTo>
                      <a:pt x="15594" y="3599"/>
                    </a:lnTo>
                    <a:lnTo>
                      <a:pt x="15159" y="4035"/>
                    </a:lnTo>
                    <a:lnTo>
                      <a:pt x="15768" y="4790"/>
                    </a:lnTo>
                    <a:lnTo>
                      <a:pt x="15768" y="6009"/>
                    </a:lnTo>
                    <a:lnTo>
                      <a:pt x="16348" y="6299"/>
                    </a:lnTo>
                    <a:lnTo>
                      <a:pt x="16522" y="6763"/>
                    </a:lnTo>
                    <a:lnTo>
                      <a:pt x="17565" y="7054"/>
                    </a:lnTo>
                    <a:lnTo>
                      <a:pt x="17565" y="7518"/>
                    </a:lnTo>
                    <a:lnTo>
                      <a:pt x="17130" y="7808"/>
                    </a:lnTo>
                    <a:lnTo>
                      <a:pt x="16522" y="8244"/>
                    </a:lnTo>
                    <a:lnTo>
                      <a:pt x="17130" y="8999"/>
                    </a:lnTo>
                    <a:lnTo>
                      <a:pt x="16522" y="9463"/>
                    </a:lnTo>
                    <a:lnTo>
                      <a:pt x="16058" y="10363"/>
                    </a:lnTo>
                    <a:lnTo>
                      <a:pt x="15594" y="10972"/>
                    </a:lnTo>
                    <a:lnTo>
                      <a:pt x="15594" y="11727"/>
                    </a:lnTo>
                    <a:lnTo>
                      <a:pt x="14406" y="12337"/>
                    </a:lnTo>
                    <a:lnTo>
                      <a:pt x="14406" y="13062"/>
                    </a:lnTo>
                    <a:lnTo>
                      <a:pt x="14116" y="13353"/>
                    </a:lnTo>
                    <a:lnTo>
                      <a:pt x="13971" y="13527"/>
                    </a:lnTo>
                    <a:lnTo>
                      <a:pt x="12464" y="14107"/>
                    </a:lnTo>
                    <a:lnTo>
                      <a:pt x="12145" y="13527"/>
                    </a:lnTo>
                    <a:lnTo>
                      <a:pt x="12029" y="13817"/>
                    </a:lnTo>
                    <a:lnTo>
                      <a:pt x="11710" y="14107"/>
                    </a:lnTo>
                    <a:lnTo>
                      <a:pt x="10957" y="15298"/>
                    </a:lnTo>
                    <a:lnTo>
                      <a:pt x="12029" y="15472"/>
                    </a:lnTo>
                    <a:lnTo>
                      <a:pt x="12029" y="16836"/>
                    </a:lnTo>
                    <a:lnTo>
                      <a:pt x="12464" y="16952"/>
                    </a:lnTo>
                    <a:lnTo>
                      <a:pt x="13217" y="18636"/>
                    </a:lnTo>
                    <a:lnTo>
                      <a:pt x="13217" y="18926"/>
                    </a:lnTo>
                    <a:lnTo>
                      <a:pt x="12928" y="19216"/>
                    </a:lnTo>
                    <a:lnTo>
                      <a:pt x="12609" y="18926"/>
                    </a:lnTo>
                    <a:lnTo>
                      <a:pt x="12145" y="19216"/>
                    </a:lnTo>
                    <a:lnTo>
                      <a:pt x="11710" y="19216"/>
                    </a:lnTo>
                    <a:lnTo>
                      <a:pt x="10493" y="19216"/>
                    </a:lnTo>
                    <a:lnTo>
                      <a:pt x="10493" y="19390"/>
                    </a:lnTo>
                    <a:lnTo>
                      <a:pt x="10058" y="19390"/>
                    </a:lnTo>
                    <a:lnTo>
                      <a:pt x="10058" y="19681"/>
                    </a:lnTo>
                    <a:lnTo>
                      <a:pt x="9768" y="19971"/>
                    </a:lnTo>
                    <a:lnTo>
                      <a:pt x="8551" y="19390"/>
                    </a:lnTo>
                    <a:lnTo>
                      <a:pt x="8261" y="18636"/>
                    </a:lnTo>
                    <a:lnTo>
                      <a:pt x="8116" y="18200"/>
                    </a:lnTo>
                    <a:lnTo>
                      <a:pt x="7507" y="18200"/>
                    </a:lnTo>
                    <a:lnTo>
                      <a:pt x="7362" y="17417"/>
                    </a:lnTo>
                    <a:lnTo>
                      <a:pt x="6928" y="17271"/>
                    </a:lnTo>
                    <a:lnTo>
                      <a:pt x="6290" y="17417"/>
                    </a:lnTo>
                    <a:lnTo>
                      <a:pt x="4957" y="17736"/>
                    </a:lnTo>
                    <a:lnTo>
                      <a:pt x="4957" y="18026"/>
                    </a:lnTo>
                    <a:lnTo>
                      <a:pt x="4348" y="17736"/>
                    </a:lnTo>
                    <a:lnTo>
                      <a:pt x="3913" y="17417"/>
                    </a:lnTo>
                    <a:lnTo>
                      <a:pt x="3014" y="17736"/>
                    </a:lnTo>
                    <a:lnTo>
                      <a:pt x="1942" y="17736"/>
                    </a:lnTo>
                    <a:lnTo>
                      <a:pt x="1188" y="18026"/>
                    </a:lnTo>
                    <a:lnTo>
                      <a:pt x="1188" y="17271"/>
                    </a:lnTo>
                    <a:lnTo>
                      <a:pt x="1507" y="16226"/>
                    </a:lnTo>
                    <a:lnTo>
                      <a:pt x="1942" y="16226"/>
                    </a:lnTo>
                    <a:lnTo>
                      <a:pt x="2551" y="15762"/>
                    </a:lnTo>
                    <a:lnTo>
                      <a:pt x="3014" y="15762"/>
                    </a:lnTo>
                    <a:lnTo>
                      <a:pt x="3014" y="15472"/>
                    </a:lnTo>
                    <a:lnTo>
                      <a:pt x="3159" y="15472"/>
                    </a:lnTo>
                    <a:lnTo>
                      <a:pt x="3159" y="14862"/>
                    </a:lnTo>
                    <a:lnTo>
                      <a:pt x="2725" y="14862"/>
                    </a:lnTo>
                    <a:lnTo>
                      <a:pt x="2551" y="13817"/>
                    </a:lnTo>
                    <a:lnTo>
                      <a:pt x="1797" y="13062"/>
                    </a:lnTo>
                    <a:lnTo>
                      <a:pt x="1072" y="12917"/>
                    </a:lnTo>
                    <a:lnTo>
                      <a:pt x="0" y="11437"/>
                    </a:lnTo>
                    <a:lnTo>
                      <a:pt x="1797" y="11872"/>
                    </a:lnTo>
                    <a:lnTo>
                      <a:pt x="2725" y="11872"/>
                    </a:lnTo>
                    <a:lnTo>
                      <a:pt x="3449" y="11872"/>
                    </a:lnTo>
                    <a:lnTo>
                      <a:pt x="3913" y="11727"/>
                    </a:lnTo>
                    <a:lnTo>
                      <a:pt x="5101" y="11437"/>
                    </a:lnTo>
                    <a:lnTo>
                      <a:pt x="6638" y="10972"/>
                    </a:lnTo>
                    <a:lnTo>
                      <a:pt x="6638" y="9463"/>
                    </a:lnTo>
                    <a:lnTo>
                      <a:pt x="6928" y="9173"/>
                    </a:lnTo>
                    <a:lnTo>
                      <a:pt x="7043" y="8999"/>
                    </a:lnTo>
                    <a:lnTo>
                      <a:pt x="7362" y="8999"/>
                    </a:lnTo>
                    <a:lnTo>
                      <a:pt x="8116" y="8999"/>
                    </a:lnTo>
                    <a:lnTo>
                      <a:pt x="8261" y="8563"/>
                    </a:lnTo>
                    <a:lnTo>
                      <a:pt x="8551" y="8244"/>
                    </a:lnTo>
                    <a:lnTo>
                      <a:pt x="9014" y="8563"/>
                    </a:lnTo>
                    <a:lnTo>
                      <a:pt x="9304" y="8563"/>
                    </a:lnTo>
                    <a:lnTo>
                      <a:pt x="9768" y="8708"/>
                    </a:lnTo>
                    <a:lnTo>
                      <a:pt x="10203" y="8244"/>
                    </a:lnTo>
                    <a:lnTo>
                      <a:pt x="10058" y="7518"/>
                    </a:lnTo>
                    <a:lnTo>
                      <a:pt x="10203" y="7054"/>
                    </a:lnTo>
                    <a:lnTo>
                      <a:pt x="10203" y="6299"/>
                    </a:lnTo>
                    <a:lnTo>
                      <a:pt x="10957" y="5864"/>
                    </a:lnTo>
                    <a:lnTo>
                      <a:pt x="10812" y="5399"/>
                    </a:lnTo>
                    <a:lnTo>
                      <a:pt x="10493" y="4790"/>
                    </a:lnTo>
                    <a:lnTo>
                      <a:pt x="10957" y="4790"/>
                    </a:lnTo>
                    <a:lnTo>
                      <a:pt x="12029" y="4790"/>
                    </a:lnTo>
                    <a:lnTo>
                      <a:pt x="11710" y="4035"/>
                    </a:lnTo>
                    <a:lnTo>
                      <a:pt x="12029" y="3599"/>
                    </a:lnTo>
                    <a:lnTo>
                      <a:pt x="12145" y="2700"/>
                    </a:lnTo>
                    <a:lnTo>
                      <a:pt x="12029" y="1480"/>
                    </a:lnTo>
                    <a:lnTo>
                      <a:pt x="12145" y="900"/>
                    </a:lnTo>
                    <a:lnTo>
                      <a:pt x="12928" y="464"/>
                    </a:lnTo>
                    <a:lnTo>
                      <a:pt x="13681" y="290"/>
                    </a:lnTo>
                    <a:lnTo>
                      <a:pt x="15594" y="29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2" name="Google Shape;132;p18"/>
              <p:cNvSpPr/>
              <p:nvPr/>
            </p:nvSpPr>
            <p:spPr>
              <a:xfrm>
                <a:off x="3980386" y="5711039"/>
                <a:ext cx="114843" cy="164539"/>
              </a:xfrm>
              <a:custGeom>
                <a:rect b="b" l="l" r="r" t="t"/>
                <a:pathLst>
                  <a:path extrusionOk="0" h="20000" w="20000">
                    <a:moveTo>
                      <a:pt x="19904" y="19932"/>
                    </a:moveTo>
                    <a:lnTo>
                      <a:pt x="19327" y="18915"/>
                    </a:lnTo>
                    <a:lnTo>
                      <a:pt x="17885" y="18169"/>
                    </a:lnTo>
                    <a:lnTo>
                      <a:pt x="16923" y="17492"/>
                    </a:lnTo>
                    <a:lnTo>
                      <a:pt x="15385" y="16475"/>
                    </a:lnTo>
                    <a:lnTo>
                      <a:pt x="14423" y="16068"/>
                    </a:lnTo>
                    <a:lnTo>
                      <a:pt x="13942" y="14712"/>
                    </a:lnTo>
                    <a:lnTo>
                      <a:pt x="12981" y="15390"/>
                    </a:lnTo>
                    <a:lnTo>
                      <a:pt x="14423" y="17492"/>
                    </a:lnTo>
                    <a:lnTo>
                      <a:pt x="13942" y="17492"/>
                    </a:lnTo>
                    <a:lnTo>
                      <a:pt x="12019" y="16068"/>
                    </a:lnTo>
                    <a:lnTo>
                      <a:pt x="8942" y="15390"/>
                    </a:lnTo>
                    <a:lnTo>
                      <a:pt x="7885" y="16068"/>
                    </a:lnTo>
                    <a:lnTo>
                      <a:pt x="7500" y="16068"/>
                    </a:lnTo>
                    <a:lnTo>
                      <a:pt x="6442" y="15390"/>
                    </a:lnTo>
                    <a:lnTo>
                      <a:pt x="5000" y="14712"/>
                    </a:lnTo>
                    <a:lnTo>
                      <a:pt x="5481" y="13627"/>
                    </a:lnTo>
                    <a:lnTo>
                      <a:pt x="5481" y="12610"/>
                    </a:lnTo>
                    <a:lnTo>
                      <a:pt x="5000" y="12610"/>
                    </a:lnTo>
                    <a:lnTo>
                      <a:pt x="3942" y="13627"/>
                    </a:lnTo>
                    <a:lnTo>
                      <a:pt x="3558" y="13288"/>
                    </a:lnTo>
                    <a:lnTo>
                      <a:pt x="1538" y="9831"/>
                    </a:lnTo>
                    <a:lnTo>
                      <a:pt x="0" y="7322"/>
                    </a:lnTo>
                    <a:lnTo>
                      <a:pt x="1538" y="8068"/>
                    </a:lnTo>
                    <a:lnTo>
                      <a:pt x="2500" y="8746"/>
                    </a:lnTo>
                    <a:lnTo>
                      <a:pt x="3558" y="8068"/>
                    </a:lnTo>
                    <a:lnTo>
                      <a:pt x="2500" y="5966"/>
                    </a:lnTo>
                    <a:lnTo>
                      <a:pt x="2500" y="3458"/>
                    </a:lnTo>
                    <a:lnTo>
                      <a:pt x="3558" y="0"/>
                    </a:lnTo>
                    <a:lnTo>
                      <a:pt x="5000" y="0"/>
                    </a:lnTo>
                    <a:lnTo>
                      <a:pt x="7885" y="678"/>
                    </a:lnTo>
                    <a:lnTo>
                      <a:pt x="8942" y="0"/>
                    </a:lnTo>
                    <a:lnTo>
                      <a:pt x="9423" y="678"/>
                    </a:lnTo>
                    <a:lnTo>
                      <a:pt x="9423" y="1763"/>
                    </a:lnTo>
                    <a:lnTo>
                      <a:pt x="9423" y="3458"/>
                    </a:lnTo>
                    <a:lnTo>
                      <a:pt x="11442" y="4542"/>
                    </a:lnTo>
                    <a:lnTo>
                      <a:pt x="11442" y="5966"/>
                    </a:lnTo>
                    <a:lnTo>
                      <a:pt x="10481" y="8068"/>
                    </a:lnTo>
                    <a:lnTo>
                      <a:pt x="7885" y="8746"/>
                    </a:lnTo>
                    <a:lnTo>
                      <a:pt x="7500" y="10102"/>
                    </a:lnTo>
                    <a:lnTo>
                      <a:pt x="8942" y="11932"/>
                    </a:lnTo>
                    <a:lnTo>
                      <a:pt x="8942" y="12610"/>
                    </a:lnTo>
                    <a:lnTo>
                      <a:pt x="8942" y="13627"/>
                    </a:lnTo>
                    <a:lnTo>
                      <a:pt x="11442" y="14712"/>
                    </a:lnTo>
                    <a:lnTo>
                      <a:pt x="12019" y="14373"/>
                    </a:lnTo>
                    <a:lnTo>
                      <a:pt x="12019" y="13627"/>
                    </a:lnTo>
                    <a:lnTo>
                      <a:pt x="14423" y="13627"/>
                    </a:lnTo>
                    <a:lnTo>
                      <a:pt x="15385" y="15390"/>
                    </a:lnTo>
                    <a:lnTo>
                      <a:pt x="15962" y="15390"/>
                    </a:lnTo>
                    <a:lnTo>
                      <a:pt x="15962" y="14712"/>
                    </a:lnTo>
                    <a:lnTo>
                      <a:pt x="19327" y="15390"/>
                    </a:lnTo>
                    <a:lnTo>
                      <a:pt x="17885" y="16068"/>
                    </a:lnTo>
                    <a:lnTo>
                      <a:pt x="18365" y="17153"/>
                    </a:lnTo>
                    <a:lnTo>
                      <a:pt x="19904" y="17492"/>
                    </a:lnTo>
                    <a:lnTo>
                      <a:pt x="19904" y="19932"/>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3" name="Google Shape;133;p18"/>
              <p:cNvSpPr/>
              <p:nvPr/>
            </p:nvSpPr>
            <p:spPr>
              <a:xfrm>
                <a:off x="4055103" y="5945299"/>
                <a:ext cx="112076" cy="112947"/>
              </a:xfrm>
              <a:custGeom>
                <a:rect b="b" l="l" r="r" t="t"/>
                <a:pathLst>
                  <a:path extrusionOk="0" h="20000" w="20000">
                    <a:moveTo>
                      <a:pt x="14877" y="19901"/>
                    </a:moveTo>
                    <a:lnTo>
                      <a:pt x="13695" y="18916"/>
                    </a:lnTo>
                    <a:lnTo>
                      <a:pt x="13695" y="18325"/>
                    </a:lnTo>
                    <a:lnTo>
                      <a:pt x="13695" y="17340"/>
                    </a:lnTo>
                    <a:lnTo>
                      <a:pt x="13300" y="18325"/>
                    </a:lnTo>
                    <a:lnTo>
                      <a:pt x="9655" y="17340"/>
                    </a:lnTo>
                    <a:lnTo>
                      <a:pt x="8177" y="13300"/>
                    </a:lnTo>
                    <a:lnTo>
                      <a:pt x="9163" y="11724"/>
                    </a:lnTo>
                    <a:lnTo>
                      <a:pt x="8177" y="10246"/>
                    </a:lnTo>
                    <a:lnTo>
                      <a:pt x="5616" y="9163"/>
                    </a:lnTo>
                    <a:lnTo>
                      <a:pt x="6601" y="11724"/>
                    </a:lnTo>
                    <a:lnTo>
                      <a:pt x="5025" y="10640"/>
                    </a:lnTo>
                    <a:lnTo>
                      <a:pt x="4039" y="10246"/>
                    </a:lnTo>
                    <a:lnTo>
                      <a:pt x="4039" y="10640"/>
                    </a:lnTo>
                    <a:lnTo>
                      <a:pt x="3054" y="10640"/>
                    </a:lnTo>
                    <a:lnTo>
                      <a:pt x="2562" y="9163"/>
                    </a:lnTo>
                    <a:lnTo>
                      <a:pt x="985" y="10640"/>
                    </a:lnTo>
                    <a:lnTo>
                      <a:pt x="0" y="13300"/>
                    </a:lnTo>
                    <a:lnTo>
                      <a:pt x="0" y="11724"/>
                    </a:lnTo>
                    <a:lnTo>
                      <a:pt x="0" y="8177"/>
                    </a:lnTo>
                    <a:lnTo>
                      <a:pt x="3054" y="7586"/>
                    </a:lnTo>
                    <a:lnTo>
                      <a:pt x="4039" y="5616"/>
                    </a:lnTo>
                    <a:lnTo>
                      <a:pt x="6601" y="5025"/>
                    </a:lnTo>
                    <a:lnTo>
                      <a:pt x="7192" y="6601"/>
                    </a:lnTo>
                    <a:lnTo>
                      <a:pt x="6601" y="7586"/>
                    </a:lnTo>
                    <a:lnTo>
                      <a:pt x="6601" y="8177"/>
                    </a:lnTo>
                    <a:lnTo>
                      <a:pt x="9163" y="6601"/>
                    </a:lnTo>
                    <a:lnTo>
                      <a:pt x="9655" y="5025"/>
                    </a:lnTo>
                    <a:lnTo>
                      <a:pt x="11724" y="5616"/>
                    </a:lnTo>
                    <a:lnTo>
                      <a:pt x="11724" y="3547"/>
                    </a:lnTo>
                    <a:lnTo>
                      <a:pt x="12217" y="4039"/>
                    </a:lnTo>
                    <a:lnTo>
                      <a:pt x="13300" y="3547"/>
                    </a:lnTo>
                    <a:lnTo>
                      <a:pt x="14877" y="3547"/>
                    </a:lnTo>
                    <a:lnTo>
                      <a:pt x="13695" y="0"/>
                    </a:lnTo>
                    <a:lnTo>
                      <a:pt x="16355" y="1576"/>
                    </a:lnTo>
                    <a:lnTo>
                      <a:pt x="17833" y="2562"/>
                    </a:lnTo>
                    <a:lnTo>
                      <a:pt x="17833" y="5025"/>
                    </a:lnTo>
                    <a:lnTo>
                      <a:pt x="17340" y="5616"/>
                    </a:lnTo>
                    <a:lnTo>
                      <a:pt x="18916" y="5616"/>
                    </a:lnTo>
                    <a:lnTo>
                      <a:pt x="18916" y="9163"/>
                    </a:lnTo>
                    <a:lnTo>
                      <a:pt x="19901" y="11724"/>
                    </a:lnTo>
                    <a:lnTo>
                      <a:pt x="17833" y="12217"/>
                    </a:lnTo>
                    <a:lnTo>
                      <a:pt x="18916" y="15862"/>
                    </a:lnTo>
                    <a:lnTo>
                      <a:pt x="17833" y="15862"/>
                    </a:lnTo>
                    <a:lnTo>
                      <a:pt x="16355" y="11724"/>
                    </a:lnTo>
                    <a:lnTo>
                      <a:pt x="13695" y="14286"/>
                    </a:lnTo>
                    <a:lnTo>
                      <a:pt x="15862" y="16256"/>
                    </a:lnTo>
                    <a:lnTo>
                      <a:pt x="14877" y="1990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4" name="Google Shape;134;p18"/>
              <p:cNvSpPr/>
              <p:nvPr/>
            </p:nvSpPr>
            <p:spPr>
              <a:xfrm>
                <a:off x="4046801" y="5890917"/>
                <a:ext cx="26289" cy="40438"/>
              </a:xfrm>
              <a:custGeom>
                <a:rect b="b" l="l" r="r" t="t"/>
                <a:pathLst>
                  <a:path extrusionOk="0" h="20000" w="20000">
                    <a:moveTo>
                      <a:pt x="0" y="19730"/>
                    </a:moveTo>
                    <a:lnTo>
                      <a:pt x="0" y="7027"/>
                    </a:lnTo>
                    <a:lnTo>
                      <a:pt x="0" y="0"/>
                    </a:lnTo>
                    <a:lnTo>
                      <a:pt x="6667" y="0"/>
                    </a:lnTo>
                    <a:lnTo>
                      <a:pt x="10833" y="4324"/>
                    </a:lnTo>
                    <a:lnTo>
                      <a:pt x="12917" y="1081"/>
                    </a:lnTo>
                    <a:lnTo>
                      <a:pt x="19583" y="4324"/>
                    </a:lnTo>
                    <a:lnTo>
                      <a:pt x="19583" y="8378"/>
                    </a:lnTo>
                    <a:lnTo>
                      <a:pt x="17083" y="11081"/>
                    </a:lnTo>
                    <a:lnTo>
                      <a:pt x="0" y="1973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5" name="Google Shape;135;p18"/>
              <p:cNvSpPr/>
              <p:nvPr/>
            </p:nvSpPr>
            <p:spPr>
              <a:xfrm>
                <a:off x="3929190" y="5899283"/>
                <a:ext cx="60881" cy="78087"/>
              </a:xfrm>
              <a:custGeom>
                <a:rect b="b" l="l" r="r" t="t"/>
                <a:pathLst>
                  <a:path extrusionOk="0" h="20000" w="20000">
                    <a:moveTo>
                      <a:pt x="0" y="19857"/>
                    </a:moveTo>
                    <a:lnTo>
                      <a:pt x="4909" y="16857"/>
                    </a:lnTo>
                    <a:lnTo>
                      <a:pt x="7636" y="15429"/>
                    </a:lnTo>
                    <a:lnTo>
                      <a:pt x="11273" y="11000"/>
                    </a:lnTo>
                    <a:lnTo>
                      <a:pt x="14182" y="8143"/>
                    </a:lnTo>
                    <a:lnTo>
                      <a:pt x="16909" y="7286"/>
                    </a:lnTo>
                    <a:lnTo>
                      <a:pt x="16909" y="3714"/>
                    </a:lnTo>
                    <a:lnTo>
                      <a:pt x="18727" y="0"/>
                    </a:lnTo>
                    <a:lnTo>
                      <a:pt x="18727" y="2286"/>
                    </a:lnTo>
                    <a:lnTo>
                      <a:pt x="18727" y="3714"/>
                    </a:lnTo>
                    <a:lnTo>
                      <a:pt x="19818" y="7286"/>
                    </a:lnTo>
                    <a:lnTo>
                      <a:pt x="16909" y="8143"/>
                    </a:lnTo>
                    <a:lnTo>
                      <a:pt x="16909" y="11000"/>
                    </a:lnTo>
                    <a:lnTo>
                      <a:pt x="14182" y="11714"/>
                    </a:lnTo>
                    <a:lnTo>
                      <a:pt x="11273" y="15429"/>
                    </a:lnTo>
                    <a:lnTo>
                      <a:pt x="7636" y="16857"/>
                    </a:lnTo>
                    <a:lnTo>
                      <a:pt x="3818" y="19000"/>
                    </a:lnTo>
                    <a:lnTo>
                      <a:pt x="0" y="1985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6" name="Google Shape;136;p18"/>
              <p:cNvSpPr/>
              <p:nvPr/>
            </p:nvSpPr>
            <p:spPr>
              <a:xfrm>
                <a:off x="4100765" y="5870002"/>
                <a:ext cx="38743" cy="44620"/>
              </a:xfrm>
              <a:custGeom>
                <a:rect b="b" l="l" r="r" t="t"/>
                <a:pathLst>
                  <a:path extrusionOk="0" h="20000" w="20000">
                    <a:moveTo>
                      <a:pt x="19710" y="19747"/>
                    </a:moveTo>
                    <a:lnTo>
                      <a:pt x="15072" y="17215"/>
                    </a:lnTo>
                    <a:lnTo>
                      <a:pt x="10725" y="10380"/>
                    </a:lnTo>
                    <a:lnTo>
                      <a:pt x="4638" y="9367"/>
                    </a:lnTo>
                    <a:lnTo>
                      <a:pt x="0" y="2532"/>
                    </a:lnTo>
                    <a:lnTo>
                      <a:pt x="11884" y="0"/>
                    </a:lnTo>
                    <a:lnTo>
                      <a:pt x="15072" y="2532"/>
                    </a:lnTo>
                    <a:lnTo>
                      <a:pt x="16522" y="5316"/>
                    </a:lnTo>
                    <a:lnTo>
                      <a:pt x="15072" y="9367"/>
                    </a:lnTo>
                    <a:lnTo>
                      <a:pt x="19710" y="1974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7" name="Google Shape;137;p18"/>
              <p:cNvSpPr/>
              <p:nvPr/>
            </p:nvSpPr>
            <p:spPr>
              <a:xfrm>
                <a:off x="4060638" y="5913227"/>
                <a:ext cx="26289" cy="52988"/>
              </a:xfrm>
              <a:custGeom>
                <a:rect b="b" l="l" r="r" t="t"/>
                <a:pathLst>
                  <a:path extrusionOk="0" h="20000" w="20000">
                    <a:moveTo>
                      <a:pt x="12917" y="19787"/>
                    </a:moveTo>
                    <a:lnTo>
                      <a:pt x="6667" y="15532"/>
                    </a:lnTo>
                    <a:lnTo>
                      <a:pt x="2500" y="15532"/>
                    </a:lnTo>
                    <a:lnTo>
                      <a:pt x="0" y="10851"/>
                    </a:lnTo>
                    <a:lnTo>
                      <a:pt x="6667" y="8723"/>
                    </a:lnTo>
                    <a:lnTo>
                      <a:pt x="12917" y="851"/>
                    </a:lnTo>
                    <a:lnTo>
                      <a:pt x="17083" y="0"/>
                    </a:lnTo>
                    <a:lnTo>
                      <a:pt x="19583" y="851"/>
                    </a:lnTo>
                    <a:lnTo>
                      <a:pt x="17083" y="6596"/>
                    </a:lnTo>
                    <a:lnTo>
                      <a:pt x="12917" y="14255"/>
                    </a:lnTo>
                    <a:lnTo>
                      <a:pt x="17083" y="19787"/>
                    </a:lnTo>
                    <a:lnTo>
                      <a:pt x="12917" y="1978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8" name="Google Shape;138;p18"/>
              <p:cNvSpPr/>
              <p:nvPr/>
            </p:nvSpPr>
            <p:spPr>
              <a:xfrm>
                <a:off x="4106298" y="5899283"/>
                <a:ext cx="23522" cy="37650"/>
              </a:xfrm>
              <a:custGeom>
                <a:rect b="b" l="l" r="r" t="t"/>
                <a:pathLst>
                  <a:path extrusionOk="0" h="20000" w="20000">
                    <a:moveTo>
                      <a:pt x="14419" y="19706"/>
                    </a:moveTo>
                    <a:lnTo>
                      <a:pt x="6977" y="7647"/>
                    </a:lnTo>
                    <a:lnTo>
                      <a:pt x="2791" y="7647"/>
                    </a:lnTo>
                    <a:lnTo>
                      <a:pt x="0" y="0"/>
                    </a:lnTo>
                    <a:lnTo>
                      <a:pt x="2791" y="2941"/>
                    </a:lnTo>
                    <a:lnTo>
                      <a:pt x="12093" y="2941"/>
                    </a:lnTo>
                    <a:lnTo>
                      <a:pt x="12093" y="7647"/>
                    </a:lnTo>
                    <a:lnTo>
                      <a:pt x="19535" y="16765"/>
                    </a:lnTo>
                    <a:lnTo>
                      <a:pt x="14419" y="1970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39" name="Google Shape;139;p18"/>
              <p:cNvSpPr/>
              <p:nvPr/>
            </p:nvSpPr>
            <p:spPr>
              <a:xfrm>
                <a:off x="4082776" y="5907650"/>
                <a:ext cx="12453" cy="43226"/>
              </a:xfrm>
              <a:custGeom>
                <a:rect b="b" l="l" r="r" t="t"/>
                <a:pathLst>
                  <a:path extrusionOk="0" h="20000" w="20000">
                    <a:moveTo>
                      <a:pt x="5455" y="19744"/>
                    </a:moveTo>
                    <a:lnTo>
                      <a:pt x="0" y="19744"/>
                    </a:lnTo>
                    <a:lnTo>
                      <a:pt x="13636" y="9231"/>
                    </a:lnTo>
                    <a:lnTo>
                      <a:pt x="19091" y="0"/>
                    </a:lnTo>
                    <a:lnTo>
                      <a:pt x="19091" y="10513"/>
                    </a:lnTo>
                    <a:lnTo>
                      <a:pt x="13636" y="13077"/>
                    </a:lnTo>
                    <a:lnTo>
                      <a:pt x="5455" y="1974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0" name="Google Shape;140;p18"/>
              <p:cNvSpPr/>
              <p:nvPr/>
            </p:nvSpPr>
            <p:spPr>
              <a:xfrm>
                <a:off x="4095230" y="5936932"/>
                <a:ext cx="20754" cy="13945"/>
              </a:xfrm>
              <a:custGeom>
                <a:rect b="b" l="l" r="r" t="t"/>
                <a:pathLst>
                  <a:path extrusionOk="0" h="20000" w="20000">
                    <a:moveTo>
                      <a:pt x="14054" y="19259"/>
                    </a:moveTo>
                    <a:lnTo>
                      <a:pt x="0" y="11852"/>
                    </a:lnTo>
                    <a:lnTo>
                      <a:pt x="5405" y="7407"/>
                    </a:lnTo>
                    <a:lnTo>
                      <a:pt x="14054" y="0"/>
                    </a:lnTo>
                    <a:lnTo>
                      <a:pt x="19459" y="7407"/>
                    </a:lnTo>
                    <a:lnTo>
                      <a:pt x="14054" y="1925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1" name="Google Shape;141;p18"/>
              <p:cNvSpPr/>
              <p:nvPr/>
            </p:nvSpPr>
            <p:spPr>
              <a:xfrm>
                <a:off x="3003527" y="5945299"/>
                <a:ext cx="55346" cy="99003"/>
              </a:xfrm>
              <a:custGeom>
                <a:rect b="b" l="l" r="r" t="t"/>
                <a:pathLst>
                  <a:path extrusionOk="0" h="20000" w="20000">
                    <a:moveTo>
                      <a:pt x="8283" y="19887"/>
                    </a:moveTo>
                    <a:lnTo>
                      <a:pt x="5253" y="16836"/>
                    </a:lnTo>
                    <a:lnTo>
                      <a:pt x="3232" y="12203"/>
                    </a:lnTo>
                    <a:lnTo>
                      <a:pt x="0" y="8701"/>
                    </a:lnTo>
                    <a:lnTo>
                      <a:pt x="2020" y="8701"/>
                    </a:lnTo>
                    <a:lnTo>
                      <a:pt x="3232" y="4633"/>
                    </a:lnTo>
                    <a:lnTo>
                      <a:pt x="2020" y="4068"/>
                    </a:lnTo>
                    <a:lnTo>
                      <a:pt x="3232" y="2938"/>
                    </a:lnTo>
                    <a:lnTo>
                      <a:pt x="5253" y="1130"/>
                    </a:lnTo>
                    <a:lnTo>
                      <a:pt x="3232" y="0"/>
                    </a:lnTo>
                    <a:lnTo>
                      <a:pt x="11515" y="2938"/>
                    </a:lnTo>
                    <a:lnTo>
                      <a:pt x="11515" y="4068"/>
                    </a:lnTo>
                    <a:lnTo>
                      <a:pt x="15758" y="6441"/>
                    </a:lnTo>
                    <a:lnTo>
                      <a:pt x="19798" y="11751"/>
                    </a:lnTo>
                    <a:lnTo>
                      <a:pt x="18586" y="16836"/>
                    </a:lnTo>
                    <a:lnTo>
                      <a:pt x="8283" y="19887"/>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2" name="Google Shape;142;p18"/>
              <p:cNvSpPr/>
              <p:nvPr/>
            </p:nvSpPr>
            <p:spPr>
              <a:xfrm>
                <a:off x="3429692" y="5656657"/>
                <a:ext cx="204781" cy="393222"/>
              </a:xfrm>
              <a:custGeom>
                <a:rect b="b" l="l" r="r" t="t"/>
                <a:pathLst>
                  <a:path extrusionOk="0" h="20000" w="20000">
                    <a:moveTo>
                      <a:pt x="5908" y="0"/>
                    </a:moveTo>
                    <a:lnTo>
                      <a:pt x="5908" y="455"/>
                    </a:lnTo>
                    <a:lnTo>
                      <a:pt x="6179" y="284"/>
                    </a:lnTo>
                    <a:lnTo>
                      <a:pt x="7317" y="739"/>
                    </a:lnTo>
                    <a:lnTo>
                      <a:pt x="6775" y="1165"/>
                    </a:lnTo>
                    <a:lnTo>
                      <a:pt x="7317" y="1449"/>
                    </a:lnTo>
                    <a:lnTo>
                      <a:pt x="8130" y="1165"/>
                    </a:lnTo>
                    <a:lnTo>
                      <a:pt x="8401" y="1619"/>
                    </a:lnTo>
                    <a:lnTo>
                      <a:pt x="8997" y="1903"/>
                    </a:lnTo>
                    <a:lnTo>
                      <a:pt x="8401" y="2784"/>
                    </a:lnTo>
                    <a:lnTo>
                      <a:pt x="8401" y="3807"/>
                    </a:lnTo>
                    <a:lnTo>
                      <a:pt x="8997" y="3949"/>
                    </a:lnTo>
                    <a:lnTo>
                      <a:pt x="9864" y="3523"/>
                    </a:lnTo>
                    <a:lnTo>
                      <a:pt x="10407" y="3523"/>
                    </a:lnTo>
                    <a:lnTo>
                      <a:pt x="11220" y="3068"/>
                    </a:lnTo>
                    <a:lnTo>
                      <a:pt x="12087" y="3523"/>
                    </a:lnTo>
                    <a:lnTo>
                      <a:pt x="12629" y="3352"/>
                    </a:lnTo>
                    <a:lnTo>
                      <a:pt x="13496" y="3352"/>
                    </a:lnTo>
                    <a:lnTo>
                      <a:pt x="14038" y="2784"/>
                    </a:lnTo>
                    <a:lnTo>
                      <a:pt x="15447" y="3068"/>
                    </a:lnTo>
                    <a:lnTo>
                      <a:pt x="16314" y="3523"/>
                    </a:lnTo>
                    <a:lnTo>
                      <a:pt x="17724" y="4545"/>
                    </a:lnTo>
                    <a:lnTo>
                      <a:pt x="17724" y="4688"/>
                    </a:lnTo>
                    <a:lnTo>
                      <a:pt x="17940" y="5284"/>
                    </a:lnTo>
                    <a:lnTo>
                      <a:pt x="18537" y="5852"/>
                    </a:lnTo>
                    <a:lnTo>
                      <a:pt x="19404" y="6165"/>
                    </a:lnTo>
                    <a:lnTo>
                      <a:pt x="19404" y="6449"/>
                    </a:lnTo>
                    <a:lnTo>
                      <a:pt x="19946" y="6619"/>
                    </a:lnTo>
                    <a:lnTo>
                      <a:pt x="19946" y="7017"/>
                    </a:lnTo>
                    <a:lnTo>
                      <a:pt x="19946" y="8068"/>
                    </a:lnTo>
                    <a:lnTo>
                      <a:pt x="19404" y="8523"/>
                    </a:lnTo>
                    <a:lnTo>
                      <a:pt x="19079" y="8523"/>
                    </a:lnTo>
                    <a:lnTo>
                      <a:pt x="17940" y="8352"/>
                    </a:lnTo>
                    <a:lnTo>
                      <a:pt x="17724" y="8523"/>
                    </a:lnTo>
                    <a:lnTo>
                      <a:pt x="15718" y="8352"/>
                    </a:lnTo>
                    <a:lnTo>
                      <a:pt x="14038" y="8523"/>
                    </a:lnTo>
                    <a:lnTo>
                      <a:pt x="14038" y="9517"/>
                    </a:lnTo>
                    <a:lnTo>
                      <a:pt x="12629" y="9972"/>
                    </a:lnTo>
                    <a:lnTo>
                      <a:pt x="13171" y="10739"/>
                    </a:lnTo>
                    <a:lnTo>
                      <a:pt x="14309" y="12017"/>
                    </a:lnTo>
                    <a:lnTo>
                      <a:pt x="13496" y="11591"/>
                    </a:lnTo>
                    <a:lnTo>
                      <a:pt x="11220" y="10852"/>
                    </a:lnTo>
                    <a:lnTo>
                      <a:pt x="8997" y="10739"/>
                    </a:lnTo>
                    <a:lnTo>
                      <a:pt x="9539" y="9688"/>
                    </a:lnTo>
                    <a:lnTo>
                      <a:pt x="7317" y="9972"/>
                    </a:lnTo>
                    <a:lnTo>
                      <a:pt x="7317" y="10852"/>
                    </a:lnTo>
                    <a:lnTo>
                      <a:pt x="7317" y="11591"/>
                    </a:lnTo>
                    <a:lnTo>
                      <a:pt x="6179" y="12614"/>
                    </a:lnTo>
                    <a:lnTo>
                      <a:pt x="5908" y="13807"/>
                    </a:lnTo>
                    <a:lnTo>
                      <a:pt x="5312" y="14233"/>
                    </a:lnTo>
                    <a:lnTo>
                      <a:pt x="5908" y="15710"/>
                    </a:lnTo>
                    <a:lnTo>
                      <a:pt x="7317" y="15398"/>
                    </a:lnTo>
                    <a:lnTo>
                      <a:pt x="7588" y="16307"/>
                    </a:lnTo>
                    <a:lnTo>
                      <a:pt x="8130" y="16307"/>
                    </a:lnTo>
                    <a:lnTo>
                      <a:pt x="8997" y="18210"/>
                    </a:lnTo>
                    <a:lnTo>
                      <a:pt x="10407" y="18523"/>
                    </a:lnTo>
                    <a:lnTo>
                      <a:pt x="11762" y="18523"/>
                    </a:lnTo>
                    <a:lnTo>
                      <a:pt x="12629" y="19375"/>
                    </a:lnTo>
                    <a:lnTo>
                      <a:pt x="12087" y="19375"/>
                    </a:lnTo>
                    <a:lnTo>
                      <a:pt x="11762" y="19688"/>
                    </a:lnTo>
                    <a:lnTo>
                      <a:pt x="11220" y="19375"/>
                    </a:lnTo>
                    <a:lnTo>
                      <a:pt x="10949" y="19972"/>
                    </a:lnTo>
                    <a:lnTo>
                      <a:pt x="9864" y="19972"/>
                    </a:lnTo>
                    <a:lnTo>
                      <a:pt x="10407" y="19375"/>
                    </a:lnTo>
                    <a:lnTo>
                      <a:pt x="8401" y="18807"/>
                    </a:lnTo>
                    <a:lnTo>
                      <a:pt x="8130" y="18920"/>
                    </a:lnTo>
                    <a:lnTo>
                      <a:pt x="7317" y="18210"/>
                    </a:lnTo>
                    <a:lnTo>
                      <a:pt x="6179" y="17756"/>
                    </a:lnTo>
                    <a:lnTo>
                      <a:pt x="5095" y="16875"/>
                    </a:lnTo>
                    <a:lnTo>
                      <a:pt x="4444" y="16307"/>
                    </a:lnTo>
                    <a:lnTo>
                      <a:pt x="3902" y="16591"/>
                    </a:lnTo>
                    <a:lnTo>
                      <a:pt x="3902" y="17017"/>
                    </a:lnTo>
                    <a:lnTo>
                      <a:pt x="3631" y="16875"/>
                    </a:lnTo>
                    <a:lnTo>
                      <a:pt x="3089" y="15852"/>
                    </a:lnTo>
                    <a:lnTo>
                      <a:pt x="3631" y="14972"/>
                    </a:lnTo>
                    <a:lnTo>
                      <a:pt x="3902" y="14517"/>
                    </a:lnTo>
                    <a:lnTo>
                      <a:pt x="3902" y="14233"/>
                    </a:lnTo>
                    <a:lnTo>
                      <a:pt x="4444" y="13949"/>
                    </a:lnTo>
                    <a:lnTo>
                      <a:pt x="4444" y="13523"/>
                    </a:lnTo>
                    <a:lnTo>
                      <a:pt x="5312" y="12330"/>
                    </a:lnTo>
                    <a:lnTo>
                      <a:pt x="5908" y="11591"/>
                    </a:lnTo>
                    <a:lnTo>
                      <a:pt x="5095" y="10114"/>
                    </a:lnTo>
                    <a:lnTo>
                      <a:pt x="5095" y="9517"/>
                    </a:lnTo>
                    <a:lnTo>
                      <a:pt x="2547" y="8068"/>
                    </a:lnTo>
                    <a:lnTo>
                      <a:pt x="2547" y="7614"/>
                    </a:lnTo>
                    <a:lnTo>
                      <a:pt x="3089" y="7017"/>
                    </a:lnTo>
                    <a:lnTo>
                      <a:pt x="3089" y="6449"/>
                    </a:lnTo>
                    <a:lnTo>
                      <a:pt x="3631" y="6165"/>
                    </a:lnTo>
                    <a:lnTo>
                      <a:pt x="3089" y="5398"/>
                    </a:lnTo>
                    <a:lnTo>
                      <a:pt x="2547" y="4972"/>
                    </a:lnTo>
                    <a:lnTo>
                      <a:pt x="867" y="3523"/>
                    </a:lnTo>
                    <a:lnTo>
                      <a:pt x="325" y="3068"/>
                    </a:lnTo>
                    <a:lnTo>
                      <a:pt x="0" y="3068"/>
                    </a:lnTo>
                    <a:lnTo>
                      <a:pt x="0" y="2784"/>
                    </a:lnTo>
                    <a:lnTo>
                      <a:pt x="325" y="2614"/>
                    </a:lnTo>
                    <a:lnTo>
                      <a:pt x="325" y="1903"/>
                    </a:lnTo>
                    <a:lnTo>
                      <a:pt x="867" y="1449"/>
                    </a:lnTo>
                    <a:lnTo>
                      <a:pt x="1409" y="1165"/>
                    </a:lnTo>
                    <a:lnTo>
                      <a:pt x="3631" y="852"/>
                    </a:lnTo>
                    <a:lnTo>
                      <a:pt x="3089" y="455"/>
                    </a:lnTo>
                    <a:lnTo>
                      <a:pt x="3902" y="739"/>
                    </a:lnTo>
                    <a:lnTo>
                      <a:pt x="4444" y="284"/>
                    </a:lnTo>
                    <a:lnTo>
                      <a:pt x="5908" y="0"/>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3" name="Google Shape;143;p18"/>
              <p:cNvSpPr/>
              <p:nvPr/>
            </p:nvSpPr>
            <p:spPr>
              <a:xfrm>
                <a:off x="3702272" y="5671996"/>
                <a:ext cx="58113" cy="51593"/>
              </a:xfrm>
              <a:custGeom>
                <a:rect b="b" l="l" r="r" t="t"/>
                <a:pathLst>
                  <a:path extrusionOk="0" h="20000" w="20000">
                    <a:moveTo>
                      <a:pt x="7048" y="851"/>
                    </a:moveTo>
                    <a:lnTo>
                      <a:pt x="5143" y="851"/>
                    </a:lnTo>
                    <a:lnTo>
                      <a:pt x="5143" y="5532"/>
                    </a:lnTo>
                    <a:lnTo>
                      <a:pt x="0" y="8723"/>
                    </a:lnTo>
                    <a:lnTo>
                      <a:pt x="0" y="15532"/>
                    </a:lnTo>
                    <a:lnTo>
                      <a:pt x="8000" y="19787"/>
                    </a:lnTo>
                    <a:lnTo>
                      <a:pt x="11048" y="15532"/>
                    </a:lnTo>
                    <a:lnTo>
                      <a:pt x="16000" y="14255"/>
                    </a:lnTo>
                    <a:lnTo>
                      <a:pt x="16000" y="8723"/>
                    </a:lnTo>
                    <a:lnTo>
                      <a:pt x="19810" y="5532"/>
                    </a:lnTo>
                    <a:lnTo>
                      <a:pt x="19810" y="851"/>
                    </a:lnTo>
                    <a:lnTo>
                      <a:pt x="17905" y="0"/>
                    </a:lnTo>
                    <a:lnTo>
                      <a:pt x="16000" y="851"/>
                    </a:lnTo>
                    <a:lnTo>
                      <a:pt x="8000" y="851"/>
                    </a:lnTo>
                    <a:lnTo>
                      <a:pt x="7048" y="85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4" name="Google Shape;144;p18"/>
              <p:cNvSpPr/>
              <p:nvPr/>
            </p:nvSpPr>
            <p:spPr>
              <a:xfrm>
                <a:off x="2883150" y="6072189"/>
                <a:ext cx="9685" cy="9760"/>
              </a:xfrm>
              <a:custGeom>
                <a:rect b="b" l="l" r="r" t="t"/>
                <a:pathLst>
                  <a:path extrusionOk="0" h="20000" w="20000">
                    <a:moveTo>
                      <a:pt x="11765" y="7059"/>
                    </a:moveTo>
                    <a:lnTo>
                      <a:pt x="18824" y="18824"/>
                    </a:lnTo>
                    <a:lnTo>
                      <a:pt x="11765" y="18824"/>
                    </a:lnTo>
                    <a:lnTo>
                      <a:pt x="0" y="18824"/>
                    </a:lnTo>
                    <a:lnTo>
                      <a:pt x="0" y="0"/>
                    </a:lnTo>
                    <a:lnTo>
                      <a:pt x="11765" y="0"/>
                    </a:lnTo>
                    <a:lnTo>
                      <a:pt x="11765" y="705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5" name="Google Shape;145;p18"/>
              <p:cNvSpPr/>
              <p:nvPr/>
            </p:nvSpPr>
            <p:spPr>
              <a:xfrm>
                <a:off x="2100001" y="4612251"/>
                <a:ext cx="927048" cy="476885"/>
              </a:xfrm>
              <a:custGeom>
                <a:rect b="b" l="l" r="r" t="t"/>
                <a:pathLst>
                  <a:path extrusionOk="0" h="20000" w="20000">
                    <a:moveTo>
                      <a:pt x="19988" y="7275"/>
                    </a:moveTo>
                    <a:lnTo>
                      <a:pt x="19916" y="8000"/>
                    </a:lnTo>
                    <a:lnTo>
                      <a:pt x="19677" y="8234"/>
                    </a:lnTo>
                    <a:lnTo>
                      <a:pt x="19379" y="8468"/>
                    </a:lnTo>
                    <a:lnTo>
                      <a:pt x="19618" y="9942"/>
                    </a:lnTo>
                    <a:lnTo>
                      <a:pt x="19379" y="10409"/>
                    </a:lnTo>
                    <a:lnTo>
                      <a:pt x="18327" y="10409"/>
                    </a:lnTo>
                    <a:lnTo>
                      <a:pt x="18184" y="12468"/>
                    </a:lnTo>
                    <a:lnTo>
                      <a:pt x="18375" y="12725"/>
                    </a:lnTo>
                    <a:lnTo>
                      <a:pt x="18184" y="13099"/>
                    </a:lnTo>
                    <a:lnTo>
                      <a:pt x="17885" y="12959"/>
                    </a:lnTo>
                    <a:lnTo>
                      <a:pt x="17085" y="13684"/>
                    </a:lnTo>
                    <a:lnTo>
                      <a:pt x="17324" y="13684"/>
                    </a:lnTo>
                    <a:lnTo>
                      <a:pt x="17814" y="15860"/>
                    </a:lnTo>
                    <a:lnTo>
                      <a:pt x="17694" y="17544"/>
                    </a:lnTo>
                    <a:lnTo>
                      <a:pt x="17324" y="17450"/>
                    </a:lnTo>
                    <a:lnTo>
                      <a:pt x="17324" y="17076"/>
                    </a:lnTo>
                    <a:lnTo>
                      <a:pt x="15102" y="16585"/>
                    </a:lnTo>
                    <a:lnTo>
                      <a:pt x="15102" y="16211"/>
                    </a:lnTo>
                    <a:lnTo>
                      <a:pt x="14421" y="16117"/>
                    </a:lnTo>
                    <a:lnTo>
                      <a:pt x="12999" y="17544"/>
                    </a:lnTo>
                    <a:lnTo>
                      <a:pt x="12318" y="18643"/>
                    </a:lnTo>
                    <a:lnTo>
                      <a:pt x="11876" y="18643"/>
                    </a:lnTo>
                    <a:lnTo>
                      <a:pt x="11828" y="19135"/>
                    </a:lnTo>
                    <a:lnTo>
                      <a:pt x="11577" y="19977"/>
                    </a:lnTo>
                    <a:lnTo>
                      <a:pt x="11195" y="19368"/>
                    </a:lnTo>
                    <a:lnTo>
                      <a:pt x="11517" y="19135"/>
                    </a:lnTo>
                    <a:lnTo>
                      <a:pt x="10394" y="18784"/>
                    </a:lnTo>
                    <a:lnTo>
                      <a:pt x="9904" y="18409"/>
                    </a:lnTo>
                    <a:lnTo>
                      <a:pt x="10096" y="17544"/>
                    </a:lnTo>
                    <a:lnTo>
                      <a:pt x="9606" y="17544"/>
                    </a:lnTo>
                    <a:lnTo>
                      <a:pt x="9606" y="16819"/>
                    </a:lnTo>
                    <a:lnTo>
                      <a:pt x="9283" y="16585"/>
                    </a:lnTo>
                    <a:lnTo>
                      <a:pt x="8172" y="16491"/>
                    </a:lnTo>
                    <a:lnTo>
                      <a:pt x="7491" y="15860"/>
                    </a:lnTo>
                    <a:lnTo>
                      <a:pt x="7121" y="15626"/>
                    </a:lnTo>
                    <a:lnTo>
                      <a:pt x="7121" y="15018"/>
                    </a:lnTo>
                    <a:lnTo>
                      <a:pt x="7312" y="14292"/>
                    </a:lnTo>
                    <a:lnTo>
                      <a:pt x="7312" y="13567"/>
                    </a:lnTo>
                    <a:lnTo>
                      <a:pt x="7431" y="12351"/>
                    </a:lnTo>
                    <a:lnTo>
                      <a:pt x="7312" y="12094"/>
                    </a:lnTo>
                    <a:lnTo>
                      <a:pt x="7180" y="12351"/>
                    </a:lnTo>
                    <a:lnTo>
                      <a:pt x="6189" y="13099"/>
                    </a:lnTo>
                    <a:lnTo>
                      <a:pt x="5508" y="13333"/>
                    </a:lnTo>
                    <a:lnTo>
                      <a:pt x="5209" y="14292"/>
                    </a:lnTo>
                    <a:lnTo>
                      <a:pt x="5209" y="16117"/>
                    </a:lnTo>
                    <a:lnTo>
                      <a:pt x="5209" y="17544"/>
                    </a:lnTo>
                    <a:lnTo>
                      <a:pt x="5209" y="19135"/>
                    </a:lnTo>
                    <a:lnTo>
                      <a:pt x="4576" y="18784"/>
                    </a:lnTo>
                    <a:lnTo>
                      <a:pt x="4277" y="18409"/>
                    </a:lnTo>
                    <a:lnTo>
                      <a:pt x="3787" y="18175"/>
                    </a:lnTo>
                    <a:lnTo>
                      <a:pt x="3524" y="19018"/>
                    </a:lnTo>
                    <a:lnTo>
                      <a:pt x="3787" y="19743"/>
                    </a:lnTo>
                    <a:lnTo>
                      <a:pt x="3524" y="19018"/>
                    </a:lnTo>
                    <a:lnTo>
                      <a:pt x="3524" y="18035"/>
                    </a:lnTo>
                    <a:lnTo>
                      <a:pt x="3524" y="17544"/>
                    </a:lnTo>
                    <a:lnTo>
                      <a:pt x="3226" y="17450"/>
                    </a:lnTo>
                    <a:lnTo>
                      <a:pt x="2915" y="17450"/>
                    </a:lnTo>
                    <a:lnTo>
                      <a:pt x="2473" y="15860"/>
                    </a:lnTo>
                    <a:lnTo>
                      <a:pt x="2234" y="15485"/>
                    </a:lnTo>
                    <a:lnTo>
                      <a:pt x="2473" y="15485"/>
                    </a:lnTo>
                    <a:lnTo>
                      <a:pt x="2796" y="15485"/>
                    </a:lnTo>
                    <a:lnTo>
                      <a:pt x="2473" y="14901"/>
                    </a:lnTo>
                    <a:lnTo>
                      <a:pt x="2724" y="14526"/>
                    </a:lnTo>
                    <a:lnTo>
                      <a:pt x="3716" y="14292"/>
                    </a:lnTo>
                    <a:lnTo>
                      <a:pt x="3405" y="13918"/>
                    </a:lnTo>
                    <a:lnTo>
                      <a:pt x="3405" y="12094"/>
                    </a:lnTo>
                    <a:lnTo>
                      <a:pt x="2915" y="12351"/>
                    </a:lnTo>
                    <a:lnTo>
                      <a:pt x="2724" y="12000"/>
                    </a:lnTo>
                    <a:lnTo>
                      <a:pt x="2234" y="12094"/>
                    </a:lnTo>
                    <a:lnTo>
                      <a:pt x="1983" y="12468"/>
                    </a:lnTo>
                    <a:lnTo>
                      <a:pt x="1613" y="12959"/>
                    </a:lnTo>
                    <a:lnTo>
                      <a:pt x="1123" y="12959"/>
                    </a:lnTo>
                    <a:lnTo>
                      <a:pt x="502" y="9567"/>
                    </a:lnTo>
                    <a:lnTo>
                      <a:pt x="0" y="9567"/>
                    </a:lnTo>
                    <a:lnTo>
                      <a:pt x="621" y="6058"/>
                    </a:lnTo>
                    <a:lnTo>
                      <a:pt x="1673" y="5684"/>
                    </a:lnTo>
                    <a:lnTo>
                      <a:pt x="2915" y="6316"/>
                    </a:lnTo>
                    <a:lnTo>
                      <a:pt x="6189" y="7018"/>
                    </a:lnTo>
                    <a:lnTo>
                      <a:pt x="5818" y="5310"/>
                    </a:lnTo>
                    <a:lnTo>
                      <a:pt x="6189" y="1333"/>
                    </a:lnTo>
                    <a:lnTo>
                      <a:pt x="8411" y="608"/>
                    </a:lnTo>
                    <a:lnTo>
                      <a:pt x="9904" y="725"/>
                    </a:lnTo>
                    <a:lnTo>
                      <a:pt x="11326" y="0"/>
                    </a:lnTo>
                    <a:lnTo>
                      <a:pt x="12378" y="1825"/>
                    </a:lnTo>
                    <a:lnTo>
                      <a:pt x="13978" y="1333"/>
                    </a:lnTo>
                    <a:lnTo>
                      <a:pt x="15711" y="3509"/>
                    </a:lnTo>
                    <a:lnTo>
                      <a:pt x="16762" y="5684"/>
                    </a:lnTo>
                    <a:lnTo>
                      <a:pt x="18184" y="6058"/>
                    </a:lnTo>
                    <a:lnTo>
                      <a:pt x="19116" y="6901"/>
                    </a:lnTo>
                    <a:lnTo>
                      <a:pt x="19988" y="727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6" name="Google Shape;146;p18"/>
              <p:cNvSpPr/>
              <p:nvPr/>
            </p:nvSpPr>
            <p:spPr>
              <a:xfrm>
                <a:off x="2688054" y="4995712"/>
                <a:ext cx="232454" cy="124101"/>
              </a:xfrm>
              <a:custGeom>
                <a:rect b="b" l="l" r="r" t="t"/>
                <a:pathLst>
                  <a:path extrusionOk="0" h="20000" w="20000">
                    <a:moveTo>
                      <a:pt x="19952" y="5471"/>
                    </a:moveTo>
                    <a:lnTo>
                      <a:pt x="16762" y="8789"/>
                    </a:lnTo>
                    <a:lnTo>
                      <a:pt x="16000" y="11121"/>
                    </a:lnTo>
                    <a:lnTo>
                      <a:pt x="13524" y="11570"/>
                    </a:lnTo>
                    <a:lnTo>
                      <a:pt x="13333" y="13901"/>
                    </a:lnTo>
                    <a:lnTo>
                      <a:pt x="11571" y="14798"/>
                    </a:lnTo>
                    <a:lnTo>
                      <a:pt x="11095" y="13901"/>
                    </a:lnTo>
                    <a:lnTo>
                      <a:pt x="10095" y="14798"/>
                    </a:lnTo>
                    <a:lnTo>
                      <a:pt x="8095" y="17130"/>
                    </a:lnTo>
                    <a:lnTo>
                      <a:pt x="8381" y="19910"/>
                    </a:lnTo>
                    <a:lnTo>
                      <a:pt x="7619" y="19910"/>
                    </a:lnTo>
                    <a:lnTo>
                      <a:pt x="1238" y="16233"/>
                    </a:lnTo>
                    <a:lnTo>
                      <a:pt x="2952" y="16233"/>
                    </a:lnTo>
                    <a:lnTo>
                      <a:pt x="3714" y="14798"/>
                    </a:lnTo>
                    <a:lnTo>
                      <a:pt x="5667" y="11570"/>
                    </a:lnTo>
                    <a:lnTo>
                      <a:pt x="4381" y="11570"/>
                    </a:lnTo>
                    <a:lnTo>
                      <a:pt x="1952" y="9686"/>
                    </a:lnTo>
                    <a:lnTo>
                      <a:pt x="0" y="9686"/>
                    </a:lnTo>
                    <a:lnTo>
                      <a:pt x="1238" y="5471"/>
                    </a:lnTo>
                    <a:lnTo>
                      <a:pt x="6905" y="0"/>
                    </a:lnTo>
                    <a:lnTo>
                      <a:pt x="9619" y="359"/>
                    </a:lnTo>
                    <a:lnTo>
                      <a:pt x="9619" y="1794"/>
                    </a:lnTo>
                    <a:lnTo>
                      <a:pt x="18476" y="3677"/>
                    </a:lnTo>
                    <a:lnTo>
                      <a:pt x="18476" y="5112"/>
                    </a:lnTo>
                    <a:lnTo>
                      <a:pt x="19952" y="547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7" name="Google Shape;147;p18"/>
              <p:cNvSpPr/>
              <p:nvPr/>
            </p:nvSpPr>
            <p:spPr>
              <a:xfrm>
                <a:off x="2342140" y="4924597"/>
                <a:ext cx="412329" cy="270514"/>
              </a:xfrm>
              <a:custGeom>
                <a:rect b="b" l="l" r="r" t="t"/>
                <a:pathLst>
                  <a:path extrusionOk="0" h="20000" w="20000">
                    <a:moveTo>
                      <a:pt x="13440" y="19959"/>
                    </a:moveTo>
                    <a:lnTo>
                      <a:pt x="12477" y="19548"/>
                    </a:lnTo>
                    <a:lnTo>
                      <a:pt x="12744" y="18686"/>
                    </a:lnTo>
                    <a:lnTo>
                      <a:pt x="12477" y="17823"/>
                    </a:lnTo>
                    <a:lnTo>
                      <a:pt x="11647" y="17823"/>
                    </a:lnTo>
                    <a:lnTo>
                      <a:pt x="8461" y="14251"/>
                    </a:lnTo>
                    <a:lnTo>
                      <a:pt x="8032" y="14415"/>
                    </a:lnTo>
                    <a:lnTo>
                      <a:pt x="7604" y="13347"/>
                    </a:lnTo>
                    <a:lnTo>
                      <a:pt x="6667" y="11458"/>
                    </a:lnTo>
                    <a:lnTo>
                      <a:pt x="6078" y="11663"/>
                    </a:lnTo>
                    <a:lnTo>
                      <a:pt x="5542" y="11663"/>
                    </a:lnTo>
                    <a:lnTo>
                      <a:pt x="5408" y="9733"/>
                    </a:lnTo>
                    <a:lnTo>
                      <a:pt x="4980" y="9322"/>
                    </a:lnTo>
                    <a:lnTo>
                      <a:pt x="3722" y="8706"/>
                    </a:lnTo>
                    <a:lnTo>
                      <a:pt x="3588" y="7023"/>
                    </a:lnTo>
                    <a:lnTo>
                      <a:pt x="2624" y="7023"/>
                    </a:lnTo>
                    <a:lnTo>
                      <a:pt x="2490" y="5955"/>
                    </a:lnTo>
                    <a:lnTo>
                      <a:pt x="2490" y="4846"/>
                    </a:lnTo>
                    <a:lnTo>
                      <a:pt x="1794" y="5955"/>
                    </a:lnTo>
                    <a:lnTo>
                      <a:pt x="1526" y="7023"/>
                    </a:lnTo>
                    <a:lnTo>
                      <a:pt x="2062" y="9979"/>
                    </a:lnTo>
                    <a:lnTo>
                      <a:pt x="696" y="10390"/>
                    </a:lnTo>
                    <a:lnTo>
                      <a:pt x="0" y="10637"/>
                    </a:lnTo>
                    <a:lnTo>
                      <a:pt x="0" y="7844"/>
                    </a:lnTo>
                    <a:lnTo>
                      <a:pt x="0" y="5298"/>
                    </a:lnTo>
                    <a:lnTo>
                      <a:pt x="0" y="2094"/>
                    </a:lnTo>
                    <a:lnTo>
                      <a:pt x="696" y="411"/>
                    </a:lnTo>
                    <a:lnTo>
                      <a:pt x="2222" y="0"/>
                    </a:lnTo>
                    <a:lnTo>
                      <a:pt x="1794" y="4435"/>
                    </a:lnTo>
                    <a:lnTo>
                      <a:pt x="2490" y="4230"/>
                    </a:lnTo>
                    <a:lnTo>
                      <a:pt x="2892" y="4846"/>
                    </a:lnTo>
                    <a:lnTo>
                      <a:pt x="3588" y="4846"/>
                    </a:lnTo>
                    <a:lnTo>
                      <a:pt x="4311" y="4435"/>
                    </a:lnTo>
                    <a:lnTo>
                      <a:pt x="5141" y="4846"/>
                    </a:lnTo>
                    <a:lnTo>
                      <a:pt x="6667" y="5955"/>
                    </a:lnTo>
                    <a:lnTo>
                      <a:pt x="9130" y="6119"/>
                    </a:lnTo>
                    <a:lnTo>
                      <a:pt x="9853" y="6530"/>
                    </a:lnTo>
                    <a:lnTo>
                      <a:pt x="9853" y="7844"/>
                    </a:lnTo>
                    <a:lnTo>
                      <a:pt x="10950" y="7844"/>
                    </a:lnTo>
                    <a:lnTo>
                      <a:pt x="10549" y="9322"/>
                    </a:lnTo>
                    <a:lnTo>
                      <a:pt x="11647" y="9979"/>
                    </a:lnTo>
                    <a:lnTo>
                      <a:pt x="14137" y="10637"/>
                    </a:lnTo>
                    <a:lnTo>
                      <a:pt x="13440" y="11047"/>
                    </a:lnTo>
                    <a:lnTo>
                      <a:pt x="14270" y="12074"/>
                    </a:lnTo>
                    <a:lnTo>
                      <a:pt x="14833" y="10637"/>
                    </a:lnTo>
                    <a:lnTo>
                      <a:pt x="14967" y="9733"/>
                    </a:lnTo>
                    <a:lnTo>
                      <a:pt x="15930" y="9733"/>
                    </a:lnTo>
                    <a:lnTo>
                      <a:pt x="17456" y="7844"/>
                    </a:lnTo>
                    <a:lnTo>
                      <a:pt x="16787" y="9733"/>
                    </a:lnTo>
                    <a:lnTo>
                      <a:pt x="17885" y="9733"/>
                    </a:lnTo>
                    <a:lnTo>
                      <a:pt x="19250" y="10637"/>
                    </a:lnTo>
                    <a:lnTo>
                      <a:pt x="19973" y="10637"/>
                    </a:lnTo>
                    <a:lnTo>
                      <a:pt x="18876" y="12074"/>
                    </a:lnTo>
                    <a:lnTo>
                      <a:pt x="18447" y="12731"/>
                    </a:lnTo>
                    <a:lnTo>
                      <a:pt x="17456" y="12731"/>
                    </a:lnTo>
                    <a:lnTo>
                      <a:pt x="17456" y="11663"/>
                    </a:lnTo>
                    <a:lnTo>
                      <a:pt x="17885" y="11047"/>
                    </a:lnTo>
                    <a:lnTo>
                      <a:pt x="17189" y="10390"/>
                    </a:lnTo>
                    <a:lnTo>
                      <a:pt x="16359" y="10637"/>
                    </a:lnTo>
                    <a:lnTo>
                      <a:pt x="15930" y="13758"/>
                    </a:lnTo>
                    <a:lnTo>
                      <a:pt x="14967" y="13758"/>
                    </a:lnTo>
                    <a:lnTo>
                      <a:pt x="13842" y="14415"/>
                    </a:lnTo>
                    <a:lnTo>
                      <a:pt x="13842" y="15072"/>
                    </a:lnTo>
                    <a:lnTo>
                      <a:pt x="14270" y="15483"/>
                    </a:lnTo>
                    <a:lnTo>
                      <a:pt x="14967" y="15483"/>
                    </a:lnTo>
                    <a:lnTo>
                      <a:pt x="14137" y="17823"/>
                    </a:lnTo>
                    <a:lnTo>
                      <a:pt x="13440" y="19959"/>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8" name="Google Shape;148;p18"/>
              <p:cNvSpPr/>
              <p:nvPr/>
            </p:nvSpPr>
            <p:spPr>
              <a:xfrm>
                <a:off x="2618870" y="5065431"/>
                <a:ext cx="204781" cy="145018"/>
              </a:xfrm>
              <a:custGeom>
                <a:rect b="b" l="l" r="r" t="t"/>
                <a:pathLst>
                  <a:path extrusionOk="0" h="20000" w="20000">
                    <a:moveTo>
                      <a:pt x="15447" y="7538"/>
                    </a:moveTo>
                    <a:lnTo>
                      <a:pt x="16314" y="10692"/>
                    </a:lnTo>
                    <a:lnTo>
                      <a:pt x="17182" y="10692"/>
                    </a:lnTo>
                    <a:lnTo>
                      <a:pt x="18537" y="11615"/>
                    </a:lnTo>
                    <a:lnTo>
                      <a:pt x="19946" y="16000"/>
                    </a:lnTo>
                    <a:lnTo>
                      <a:pt x="19079" y="17154"/>
                    </a:lnTo>
                    <a:lnTo>
                      <a:pt x="18266" y="16769"/>
                    </a:lnTo>
                    <a:lnTo>
                      <a:pt x="17724" y="16769"/>
                    </a:lnTo>
                    <a:lnTo>
                      <a:pt x="16314" y="16000"/>
                    </a:lnTo>
                    <a:lnTo>
                      <a:pt x="14634" y="17154"/>
                    </a:lnTo>
                    <a:lnTo>
                      <a:pt x="13225" y="18692"/>
                    </a:lnTo>
                    <a:lnTo>
                      <a:pt x="11762" y="19923"/>
                    </a:lnTo>
                    <a:lnTo>
                      <a:pt x="11003" y="13923"/>
                    </a:lnTo>
                    <a:lnTo>
                      <a:pt x="10407" y="13538"/>
                    </a:lnTo>
                    <a:lnTo>
                      <a:pt x="8997" y="11923"/>
                    </a:lnTo>
                    <a:lnTo>
                      <a:pt x="8130" y="14769"/>
                    </a:lnTo>
                    <a:lnTo>
                      <a:pt x="8726" y="15538"/>
                    </a:lnTo>
                    <a:lnTo>
                      <a:pt x="6450" y="16769"/>
                    </a:lnTo>
                    <a:lnTo>
                      <a:pt x="5908" y="17923"/>
                    </a:lnTo>
                    <a:lnTo>
                      <a:pt x="5366" y="17154"/>
                    </a:lnTo>
                    <a:lnTo>
                      <a:pt x="3089" y="19154"/>
                    </a:lnTo>
                    <a:lnTo>
                      <a:pt x="0" y="17923"/>
                    </a:lnTo>
                    <a:lnTo>
                      <a:pt x="1463" y="13923"/>
                    </a:lnTo>
                    <a:lnTo>
                      <a:pt x="3089" y="9538"/>
                    </a:lnTo>
                    <a:lnTo>
                      <a:pt x="1680" y="9538"/>
                    </a:lnTo>
                    <a:lnTo>
                      <a:pt x="867" y="8769"/>
                    </a:lnTo>
                    <a:lnTo>
                      <a:pt x="867" y="7538"/>
                    </a:lnTo>
                    <a:lnTo>
                      <a:pt x="3089" y="6385"/>
                    </a:lnTo>
                    <a:lnTo>
                      <a:pt x="5095" y="6385"/>
                    </a:lnTo>
                    <a:lnTo>
                      <a:pt x="5908" y="462"/>
                    </a:lnTo>
                    <a:lnTo>
                      <a:pt x="7588" y="0"/>
                    </a:lnTo>
                    <a:lnTo>
                      <a:pt x="8997" y="1231"/>
                    </a:lnTo>
                    <a:lnTo>
                      <a:pt x="8130" y="2385"/>
                    </a:lnTo>
                    <a:lnTo>
                      <a:pt x="8130" y="4385"/>
                    </a:lnTo>
                    <a:lnTo>
                      <a:pt x="15447" y="753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49" name="Google Shape;149;p18"/>
              <p:cNvSpPr/>
              <p:nvPr/>
            </p:nvSpPr>
            <p:spPr>
              <a:xfrm>
                <a:off x="2263272" y="4990133"/>
                <a:ext cx="341762" cy="271909"/>
              </a:xfrm>
              <a:custGeom>
                <a:rect b="b" l="l" r="r" t="t"/>
                <a:pathLst>
                  <a:path extrusionOk="0" h="20000" w="20000">
                    <a:moveTo>
                      <a:pt x="6375" y="2131"/>
                    </a:moveTo>
                    <a:lnTo>
                      <a:pt x="6699" y="1107"/>
                    </a:lnTo>
                    <a:lnTo>
                      <a:pt x="7540" y="0"/>
                    </a:lnTo>
                    <a:lnTo>
                      <a:pt x="7540" y="1107"/>
                    </a:lnTo>
                    <a:lnTo>
                      <a:pt x="7735" y="2131"/>
                    </a:lnTo>
                    <a:lnTo>
                      <a:pt x="8867" y="2131"/>
                    </a:lnTo>
                    <a:lnTo>
                      <a:pt x="9061" y="3852"/>
                    </a:lnTo>
                    <a:lnTo>
                      <a:pt x="11068" y="4877"/>
                    </a:lnTo>
                    <a:lnTo>
                      <a:pt x="11262" y="6803"/>
                    </a:lnTo>
                    <a:lnTo>
                      <a:pt x="11909" y="6803"/>
                    </a:lnTo>
                    <a:lnTo>
                      <a:pt x="12589" y="6557"/>
                    </a:lnTo>
                    <a:lnTo>
                      <a:pt x="13754" y="8279"/>
                    </a:lnTo>
                    <a:lnTo>
                      <a:pt x="14272" y="9344"/>
                    </a:lnTo>
                    <a:lnTo>
                      <a:pt x="14757" y="9344"/>
                    </a:lnTo>
                    <a:lnTo>
                      <a:pt x="17799" y="11885"/>
                    </a:lnTo>
                    <a:lnTo>
                      <a:pt x="18641" y="12910"/>
                    </a:lnTo>
                    <a:lnTo>
                      <a:pt x="19644" y="12910"/>
                    </a:lnTo>
                    <a:lnTo>
                      <a:pt x="19968" y="13770"/>
                    </a:lnTo>
                    <a:lnTo>
                      <a:pt x="19644" y="14672"/>
                    </a:lnTo>
                    <a:lnTo>
                      <a:pt x="18641" y="15082"/>
                    </a:lnTo>
                    <a:lnTo>
                      <a:pt x="18641" y="16762"/>
                    </a:lnTo>
                    <a:lnTo>
                      <a:pt x="16472" y="18279"/>
                    </a:lnTo>
                    <a:lnTo>
                      <a:pt x="16796" y="18443"/>
                    </a:lnTo>
                    <a:lnTo>
                      <a:pt x="15437" y="19959"/>
                    </a:lnTo>
                    <a:lnTo>
                      <a:pt x="15437" y="19098"/>
                    </a:lnTo>
                    <a:lnTo>
                      <a:pt x="13754" y="18443"/>
                    </a:lnTo>
                    <a:lnTo>
                      <a:pt x="13430" y="16352"/>
                    </a:lnTo>
                    <a:lnTo>
                      <a:pt x="9903" y="14426"/>
                    </a:lnTo>
                    <a:lnTo>
                      <a:pt x="8058" y="13770"/>
                    </a:lnTo>
                    <a:lnTo>
                      <a:pt x="7735" y="12910"/>
                    </a:lnTo>
                    <a:lnTo>
                      <a:pt x="6375" y="13361"/>
                    </a:lnTo>
                    <a:lnTo>
                      <a:pt x="5372" y="13361"/>
                    </a:lnTo>
                    <a:lnTo>
                      <a:pt x="4563" y="15082"/>
                    </a:lnTo>
                    <a:lnTo>
                      <a:pt x="3204" y="15492"/>
                    </a:lnTo>
                    <a:lnTo>
                      <a:pt x="2848" y="11885"/>
                    </a:lnTo>
                    <a:lnTo>
                      <a:pt x="1521" y="11066"/>
                    </a:lnTo>
                    <a:lnTo>
                      <a:pt x="1521" y="10164"/>
                    </a:lnTo>
                    <a:lnTo>
                      <a:pt x="2362" y="10164"/>
                    </a:lnTo>
                    <a:lnTo>
                      <a:pt x="1845" y="9549"/>
                    </a:lnTo>
                    <a:lnTo>
                      <a:pt x="1003" y="9959"/>
                    </a:lnTo>
                    <a:lnTo>
                      <a:pt x="680" y="7459"/>
                    </a:lnTo>
                    <a:lnTo>
                      <a:pt x="1003" y="7459"/>
                    </a:lnTo>
                    <a:lnTo>
                      <a:pt x="1845" y="7459"/>
                    </a:lnTo>
                    <a:lnTo>
                      <a:pt x="2848" y="7869"/>
                    </a:lnTo>
                    <a:lnTo>
                      <a:pt x="3204" y="7459"/>
                    </a:lnTo>
                    <a:lnTo>
                      <a:pt x="3204" y="6803"/>
                    </a:lnTo>
                    <a:lnTo>
                      <a:pt x="2362" y="6148"/>
                    </a:lnTo>
                    <a:lnTo>
                      <a:pt x="1845" y="4877"/>
                    </a:lnTo>
                    <a:lnTo>
                      <a:pt x="1003" y="4467"/>
                    </a:lnTo>
                    <a:lnTo>
                      <a:pt x="518" y="5533"/>
                    </a:lnTo>
                    <a:lnTo>
                      <a:pt x="680" y="6803"/>
                    </a:lnTo>
                    <a:lnTo>
                      <a:pt x="0" y="5533"/>
                    </a:lnTo>
                    <a:lnTo>
                      <a:pt x="680" y="4057"/>
                    </a:lnTo>
                    <a:lnTo>
                      <a:pt x="2006" y="4467"/>
                    </a:lnTo>
                    <a:lnTo>
                      <a:pt x="2848" y="5123"/>
                    </a:lnTo>
                    <a:lnTo>
                      <a:pt x="4563" y="5738"/>
                    </a:lnTo>
                    <a:lnTo>
                      <a:pt x="5372" y="5533"/>
                    </a:lnTo>
                    <a:lnTo>
                      <a:pt x="7055" y="5123"/>
                    </a:lnTo>
                    <a:lnTo>
                      <a:pt x="6375" y="213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0" name="Google Shape;150;p18"/>
              <p:cNvSpPr/>
              <p:nvPr/>
            </p:nvSpPr>
            <p:spPr>
              <a:xfrm>
                <a:off x="3785290" y="6476565"/>
                <a:ext cx="978242" cy="892417"/>
              </a:xfrm>
              <a:custGeom>
                <a:rect b="b" l="l" r="r" t="t"/>
                <a:pathLst>
                  <a:path extrusionOk="0" h="20000" w="20000">
                    <a:moveTo>
                      <a:pt x="14714" y="19988"/>
                    </a:moveTo>
                    <a:lnTo>
                      <a:pt x="14488" y="19613"/>
                    </a:lnTo>
                    <a:lnTo>
                      <a:pt x="14420" y="19475"/>
                    </a:lnTo>
                    <a:lnTo>
                      <a:pt x="14420" y="19350"/>
                    </a:lnTo>
                    <a:lnTo>
                      <a:pt x="14420" y="19150"/>
                    </a:lnTo>
                    <a:lnTo>
                      <a:pt x="14137" y="19350"/>
                    </a:lnTo>
                    <a:lnTo>
                      <a:pt x="14024" y="19350"/>
                    </a:lnTo>
                    <a:lnTo>
                      <a:pt x="14250" y="19150"/>
                    </a:lnTo>
                    <a:lnTo>
                      <a:pt x="14250" y="18950"/>
                    </a:lnTo>
                    <a:lnTo>
                      <a:pt x="13956" y="19025"/>
                    </a:lnTo>
                    <a:lnTo>
                      <a:pt x="14024" y="19025"/>
                    </a:lnTo>
                    <a:lnTo>
                      <a:pt x="14024" y="19275"/>
                    </a:lnTo>
                    <a:lnTo>
                      <a:pt x="13367" y="19663"/>
                    </a:lnTo>
                    <a:lnTo>
                      <a:pt x="13073" y="19350"/>
                    </a:lnTo>
                    <a:lnTo>
                      <a:pt x="12779" y="19275"/>
                    </a:lnTo>
                    <a:lnTo>
                      <a:pt x="12609" y="19025"/>
                    </a:lnTo>
                    <a:lnTo>
                      <a:pt x="12541" y="19150"/>
                    </a:lnTo>
                    <a:lnTo>
                      <a:pt x="12247" y="18950"/>
                    </a:lnTo>
                    <a:lnTo>
                      <a:pt x="12020" y="18825"/>
                    </a:lnTo>
                    <a:lnTo>
                      <a:pt x="11964" y="18638"/>
                    </a:lnTo>
                    <a:lnTo>
                      <a:pt x="11783" y="18313"/>
                    </a:lnTo>
                    <a:lnTo>
                      <a:pt x="11783" y="17988"/>
                    </a:lnTo>
                    <a:lnTo>
                      <a:pt x="11964" y="17600"/>
                    </a:lnTo>
                    <a:lnTo>
                      <a:pt x="11669" y="16950"/>
                    </a:lnTo>
                    <a:lnTo>
                      <a:pt x="11851" y="16825"/>
                    </a:lnTo>
                    <a:lnTo>
                      <a:pt x="11851" y="16750"/>
                    </a:lnTo>
                    <a:lnTo>
                      <a:pt x="11545" y="16750"/>
                    </a:lnTo>
                    <a:lnTo>
                      <a:pt x="11319" y="16825"/>
                    </a:lnTo>
                    <a:lnTo>
                      <a:pt x="11500" y="16625"/>
                    </a:lnTo>
                    <a:lnTo>
                      <a:pt x="11545" y="16313"/>
                    </a:lnTo>
                    <a:lnTo>
                      <a:pt x="11500" y="15725"/>
                    </a:lnTo>
                    <a:lnTo>
                      <a:pt x="11319" y="15913"/>
                    </a:lnTo>
                    <a:lnTo>
                      <a:pt x="11081" y="16438"/>
                    </a:lnTo>
                    <a:lnTo>
                      <a:pt x="10900" y="16438"/>
                    </a:lnTo>
                    <a:lnTo>
                      <a:pt x="10730" y="16563"/>
                    </a:lnTo>
                    <a:lnTo>
                      <a:pt x="10787" y="16313"/>
                    </a:lnTo>
                    <a:lnTo>
                      <a:pt x="11024" y="16313"/>
                    </a:lnTo>
                    <a:lnTo>
                      <a:pt x="11081" y="15788"/>
                    </a:lnTo>
                    <a:lnTo>
                      <a:pt x="11364" y="15400"/>
                    </a:lnTo>
                    <a:lnTo>
                      <a:pt x="11500" y="15075"/>
                    </a:lnTo>
                    <a:lnTo>
                      <a:pt x="11545" y="14938"/>
                    </a:lnTo>
                    <a:lnTo>
                      <a:pt x="11545" y="14425"/>
                    </a:lnTo>
                    <a:lnTo>
                      <a:pt x="11500" y="14888"/>
                    </a:lnTo>
                    <a:lnTo>
                      <a:pt x="11364" y="14888"/>
                    </a:lnTo>
                    <a:lnTo>
                      <a:pt x="11081" y="15275"/>
                    </a:lnTo>
                    <a:lnTo>
                      <a:pt x="10787" y="15463"/>
                    </a:lnTo>
                    <a:lnTo>
                      <a:pt x="10436" y="15788"/>
                    </a:lnTo>
                    <a:lnTo>
                      <a:pt x="10255" y="16038"/>
                    </a:lnTo>
                    <a:lnTo>
                      <a:pt x="10323" y="16238"/>
                    </a:lnTo>
                    <a:lnTo>
                      <a:pt x="10141" y="16238"/>
                    </a:lnTo>
                    <a:lnTo>
                      <a:pt x="10085" y="16038"/>
                    </a:lnTo>
                    <a:lnTo>
                      <a:pt x="10085" y="15913"/>
                    </a:lnTo>
                    <a:lnTo>
                      <a:pt x="10085" y="15600"/>
                    </a:lnTo>
                    <a:lnTo>
                      <a:pt x="9972" y="15275"/>
                    </a:lnTo>
                    <a:lnTo>
                      <a:pt x="9859" y="14938"/>
                    </a:lnTo>
                    <a:lnTo>
                      <a:pt x="9677" y="14888"/>
                    </a:lnTo>
                    <a:lnTo>
                      <a:pt x="9677" y="14550"/>
                    </a:lnTo>
                    <a:lnTo>
                      <a:pt x="9791" y="14425"/>
                    </a:lnTo>
                    <a:lnTo>
                      <a:pt x="9553" y="14375"/>
                    </a:lnTo>
                    <a:lnTo>
                      <a:pt x="9677" y="14225"/>
                    </a:lnTo>
                    <a:lnTo>
                      <a:pt x="9496" y="14038"/>
                    </a:lnTo>
                    <a:lnTo>
                      <a:pt x="9327" y="14100"/>
                    </a:lnTo>
                    <a:lnTo>
                      <a:pt x="9089" y="13913"/>
                    </a:lnTo>
                    <a:lnTo>
                      <a:pt x="8908" y="13913"/>
                    </a:lnTo>
                    <a:lnTo>
                      <a:pt x="8444" y="13525"/>
                    </a:lnTo>
                    <a:lnTo>
                      <a:pt x="7980" y="13588"/>
                    </a:lnTo>
                    <a:lnTo>
                      <a:pt x="7097" y="13713"/>
                    </a:lnTo>
                    <a:lnTo>
                      <a:pt x="6271" y="14038"/>
                    </a:lnTo>
                    <a:lnTo>
                      <a:pt x="5806" y="13913"/>
                    </a:lnTo>
                    <a:lnTo>
                      <a:pt x="5048" y="14225"/>
                    </a:lnTo>
                    <a:lnTo>
                      <a:pt x="4743" y="14425"/>
                    </a:lnTo>
                    <a:lnTo>
                      <a:pt x="4584" y="14750"/>
                    </a:lnTo>
                    <a:lnTo>
                      <a:pt x="4460" y="14938"/>
                    </a:lnTo>
                    <a:lnTo>
                      <a:pt x="4165" y="15075"/>
                    </a:lnTo>
                    <a:lnTo>
                      <a:pt x="4097" y="15075"/>
                    </a:lnTo>
                    <a:lnTo>
                      <a:pt x="3814" y="15075"/>
                    </a:lnTo>
                    <a:lnTo>
                      <a:pt x="3633" y="15200"/>
                    </a:lnTo>
                    <a:lnTo>
                      <a:pt x="3520" y="14938"/>
                    </a:lnTo>
                    <a:lnTo>
                      <a:pt x="2932" y="14888"/>
                    </a:lnTo>
                    <a:lnTo>
                      <a:pt x="2637" y="14938"/>
                    </a:lnTo>
                    <a:lnTo>
                      <a:pt x="2173" y="15200"/>
                    </a:lnTo>
                    <a:lnTo>
                      <a:pt x="2105" y="15275"/>
                    </a:lnTo>
                    <a:lnTo>
                      <a:pt x="1822" y="15400"/>
                    </a:lnTo>
                    <a:lnTo>
                      <a:pt x="1415" y="15600"/>
                    </a:lnTo>
                    <a:lnTo>
                      <a:pt x="1177" y="15725"/>
                    </a:lnTo>
                    <a:lnTo>
                      <a:pt x="770" y="15725"/>
                    </a:lnTo>
                    <a:lnTo>
                      <a:pt x="464" y="15463"/>
                    </a:lnTo>
                    <a:lnTo>
                      <a:pt x="294" y="15200"/>
                    </a:lnTo>
                    <a:lnTo>
                      <a:pt x="0" y="15075"/>
                    </a:lnTo>
                    <a:lnTo>
                      <a:pt x="113" y="14688"/>
                    </a:lnTo>
                    <a:lnTo>
                      <a:pt x="181" y="14688"/>
                    </a:lnTo>
                    <a:lnTo>
                      <a:pt x="419" y="14550"/>
                    </a:lnTo>
                    <a:lnTo>
                      <a:pt x="464" y="14038"/>
                    </a:lnTo>
                    <a:lnTo>
                      <a:pt x="589" y="14038"/>
                    </a:lnTo>
                    <a:lnTo>
                      <a:pt x="770" y="13525"/>
                    </a:lnTo>
                    <a:lnTo>
                      <a:pt x="702" y="13075"/>
                    </a:lnTo>
                    <a:lnTo>
                      <a:pt x="464" y="12225"/>
                    </a:lnTo>
                    <a:lnTo>
                      <a:pt x="589" y="11513"/>
                    </a:lnTo>
                    <a:lnTo>
                      <a:pt x="464" y="11125"/>
                    </a:lnTo>
                    <a:lnTo>
                      <a:pt x="294" y="10875"/>
                    </a:lnTo>
                    <a:lnTo>
                      <a:pt x="419" y="10475"/>
                    </a:lnTo>
                    <a:lnTo>
                      <a:pt x="181" y="10038"/>
                    </a:lnTo>
                    <a:lnTo>
                      <a:pt x="0" y="9450"/>
                    </a:lnTo>
                    <a:lnTo>
                      <a:pt x="113" y="9450"/>
                    </a:lnTo>
                    <a:lnTo>
                      <a:pt x="181" y="9775"/>
                    </a:lnTo>
                    <a:lnTo>
                      <a:pt x="294" y="9775"/>
                    </a:lnTo>
                    <a:lnTo>
                      <a:pt x="181" y="9450"/>
                    </a:lnTo>
                    <a:lnTo>
                      <a:pt x="181" y="9125"/>
                    </a:lnTo>
                    <a:lnTo>
                      <a:pt x="294" y="9250"/>
                    </a:lnTo>
                    <a:lnTo>
                      <a:pt x="294" y="9450"/>
                    </a:lnTo>
                    <a:lnTo>
                      <a:pt x="419" y="9450"/>
                    </a:lnTo>
                    <a:lnTo>
                      <a:pt x="464" y="9650"/>
                    </a:lnTo>
                    <a:lnTo>
                      <a:pt x="464" y="9250"/>
                    </a:lnTo>
                    <a:lnTo>
                      <a:pt x="419" y="8988"/>
                    </a:lnTo>
                    <a:lnTo>
                      <a:pt x="294" y="8275"/>
                    </a:lnTo>
                    <a:lnTo>
                      <a:pt x="294" y="8088"/>
                    </a:lnTo>
                    <a:lnTo>
                      <a:pt x="464" y="7638"/>
                    </a:lnTo>
                    <a:lnTo>
                      <a:pt x="589" y="7250"/>
                    </a:lnTo>
                    <a:lnTo>
                      <a:pt x="702" y="6925"/>
                    </a:lnTo>
                    <a:lnTo>
                      <a:pt x="883" y="6613"/>
                    </a:lnTo>
                    <a:lnTo>
                      <a:pt x="770" y="7050"/>
                    </a:lnTo>
                    <a:lnTo>
                      <a:pt x="883" y="7050"/>
                    </a:lnTo>
                    <a:lnTo>
                      <a:pt x="1064" y="6613"/>
                    </a:lnTo>
                    <a:lnTo>
                      <a:pt x="1347" y="6538"/>
                    </a:lnTo>
                    <a:lnTo>
                      <a:pt x="1709" y="6275"/>
                    </a:lnTo>
                    <a:lnTo>
                      <a:pt x="2286" y="5950"/>
                    </a:lnTo>
                    <a:lnTo>
                      <a:pt x="2592" y="5950"/>
                    </a:lnTo>
                    <a:lnTo>
                      <a:pt x="2875" y="5750"/>
                    </a:lnTo>
                    <a:lnTo>
                      <a:pt x="3169" y="5750"/>
                    </a:lnTo>
                    <a:lnTo>
                      <a:pt x="3407" y="5700"/>
                    </a:lnTo>
                    <a:lnTo>
                      <a:pt x="3701" y="5563"/>
                    </a:lnTo>
                    <a:lnTo>
                      <a:pt x="4584" y="5175"/>
                    </a:lnTo>
                    <a:lnTo>
                      <a:pt x="4867" y="4600"/>
                    </a:lnTo>
                    <a:lnTo>
                      <a:pt x="5093" y="4525"/>
                    </a:lnTo>
                    <a:lnTo>
                      <a:pt x="5093" y="4338"/>
                    </a:lnTo>
                    <a:lnTo>
                      <a:pt x="5093" y="4013"/>
                    </a:lnTo>
                    <a:lnTo>
                      <a:pt x="5399" y="3550"/>
                    </a:lnTo>
                    <a:lnTo>
                      <a:pt x="5512" y="3363"/>
                    </a:lnTo>
                    <a:lnTo>
                      <a:pt x="5625" y="3363"/>
                    </a:lnTo>
                    <a:lnTo>
                      <a:pt x="5693" y="3550"/>
                    </a:lnTo>
                    <a:lnTo>
                      <a:pt x="5863" y="4013"/>
                    </a:lnTo>
                    <a:lnTo>
                      <a:pt x="5863" y="3688"/>
                    </a:lnTo>
                    <a:lnTo>
                      <a:pt x="6089" y="3825"/>
                    </a:lnTo>
                    <a:lnTo>
                      <a:pt x="5976" y="3550"/>
                    </a:lnTo>
                    <a:lnTo>
                      <a:pt x="5863" y="3238"/>
                    </a:lnTo>
                    <a:lnTo>
                      <a:pt x="5976" y="3163"/>
                    </a:lnTo>
                    <a:lnTo>
                      <a:pt x="6089" y="3363"/>
                    </a:lnTo>
                    <a:lnTo>
                      <a:pt x="6157" y="3238"/>
                    </a:lnTo>
                    <a:lnTo>
                      <a:pt x="6271" y="3363"/>
                    </a:lnTo>
                    <a:lnTo>
                      <a:pt x="6452" y="3363"/>
                    </a:lnTo>
                    <a:lnTo>
                      <a:pt x="6338" y="3363"/>
                    </a:lnTo>
                    <a:lnTo>
                      <a:pt x="6338" y="3163"/>
                    </a:lnTo>
                    <a:lnTo>
                      <a:pt x="6338" y="2988"/>
                    </a:lnTo>
                    <a:lnTo>
                      <a:pt x="6565" y="2713"/>
                    </a:lnTo>
                    <a:lnTo>
                      <a:pt x="6621" y="2838"/>
                    </a:lnTo>
                    <a:lnTo>
                      <a:pt x="6621" y="2650"/>
                    </a:lnTo>
                    <a:lnTo>
                      <a:pt x="6735" y="2525"/>
                    </a:lnTo>
                    <a:lnTo>
                      <a:pt x="6916" y="2650"/>
                    </a:lnTo>
                    <a:lnTo>
                      <a:pt x="6735" y="2325"/>
                    </a:lnTo>
                    <a:lnTo>
                      <a:pt x="7040" y="2138"/>
                    </a:lnTo>
                    <a:lnTo>
                      <a:pt x="7097" y="2325"/>
                    </a:lnTo>
                    <a:lnTo>
                      <a:pt x="7391" y="1888"/>
                    </a:lnTo>
                    <a:lnTo>
                      <a:pt x="7504" y="1813"/>
                    </a:lnTo>
                    <a:lnTo>
                      <a:pt x="7561" y="2013"/>
                    </a:lnTo>
                    <a:lnTo>
                      <a:pt x="7799" y="1688"/>
                    </a:lnTo>
                    <a:lnTo>
                      <a:pt x="7866" y="1888"/>
                    </a:lnTo>
                    <a:lnTo>
                      <a:pt x="8331" y="2325"/>
                    </a:lnTo>
                    <a:lnTo>
                      <a:pt x="8149" y="2525"/>
                    </a:lnTo>
                    <a:lnTo>
                      <a:pt x="8263" y="2713"/>
                    </a:lnTo>
                    <a:lnTo>
                      <a:pt x="8444" y="2450"/>
                    </a:lnTo>
                    <a:lnTo>
                      <a:pt x="8613" y="2525"/>
                    </a:lnTo>
                    <a:lnTo>
                      <a:pt x="8795" y="2650"/>
                    </a:lnTo>
                    <a:lnTo>
                      <a:pt x="8908" y="2525"/>
                    </a:lnTo>
                    <a:lnTo>
                      <a:pt x="9089" y="2713"/>
                    </a:lnTo>
                    <a:lnTo>
                      <a:pt x="9032" y="2525"/>
                    </a:lnTo>
                    <a:lnTo>
                      <a:pt x="9089" y="2525"/>
                    </a:lnTo>
                    <a:lnTo>
                      <a:pt x="8908" y="2138"/>
                    </a:lnTo>
                    <a:lnTo>
                      <a:pt x="9089" y="1888"/>
                    </a:lnTo>
                    <a:lnTo>
                      <a:pt x="9213" y="1613"/>
                    </a:lnTo>
                    <a:lnTo>
                      <a:pt x="9372" y="1613"/>
                    </a:lnTo>
                    <a:lnTo>
                      <a:pt x="9327" y="1300"/>
                    </a:lnTo>
                    <a:lnTo>
                      <a:pt x="9553" y="1100"/>
                    </a:lnTo>
                    <a:lnTo>
                      <a:pt x="9791" y="1100"/>
                    </a:lnTo>
                    <a:lnTo>
                      <a:pt x="9791" y="975"/>
                    </a:lnTo>
                    <a:lnTo>
                      <a:pt x="9859" y="838"/>
                    </a:lnTo>
                    <a:lnTo>
                      <a:pt x="10549" y="838"/>
                    </a:lnTo>
                    <a:lnTo>
                      <a:pt x="10617" y="838"/>
                    </a:lnTo>
                    <a:lnTo>
                      <a:pt x="10549" y="463"/>
                    </a:lnTo>
                    <a:lnTo>
                      <a:pt x="10436" y="463"/>
                    </a:lnTo>
                    <a:lnTo>
                      <a:pt x="10323" y="263"/>
                    </a:lnTo>
                    <a:lnTo>
                      <a:pt x="10549" y="263"/>
                    </a:lnTo>
                    <a:lnTo>
                      <a:pt x="10730" y="325"/>
                    </a:lnTo>
                    <a:lnTo>
                      <a:pt x="10787" y="325"/>
                    </a:lnTo>
                    <a:lnTo>
                      <a:pt x="10900" y="513"/>
                    </a:lnTo>
                    <a:lnTo>
                      <a:pt x="11319" y="638"/>
                    </a:lnTo>
                    <a:lnTo>
                      <a:pt x="11364" y="775"/>
                    </a:lnTo>
                    <a:lnTo>
                      <a:pt x="11669" y="775"/>
                    </a:lnTo>
                    <a:lnTo>
                      <a:pt x="11851" y="838"/>
                    </a:lnTo>
                    <a:lnTo>
                      <a:pt x="12134" y="775"/>
                    </a:lnTo>
                    <a:lnTo>
                      <a:pt x="12315" y="838"/>
                    </a:lnTo>
                    <a:lnTo>
                      <a:pt x="12428" y="975"/>
                    </a:lnTo>
                    <a:lnTo>
                      <a:pt x="12541" y="1100"/>
                    </a:lnTo>
                    <a:lnTo>
                      <a:pt x="12428" y="838"/>
                    </a:lnTo>
                    <a:lnTo>
                      <a:pt x="12609" y="775"/>
                    </a:lnTo>
                    <a:lnTo>
                      <a:pt x="12722" y="838"/>
                    </a:lnTo>
                    <a:lnTo>
                      <a:pt x="12779" y="975"/>
                    </a:lnTo>
                    <a:lnTo>
                      <a:pt x="12609" y="1175"/>
                    </a:lnTo>
                    <a:lnTo>
                      <a:pt x="12609" y="1300"/>
                    </a:lnTo>
                    <a:lnTo>
                      <a:pt x="12541" y="1488"/>
                    </a:lnTo>
                    <a:lnTo>
                      <a:pt x="12541" y="1350"/>
                    </a:lnTo>
                    <a:lnTo>
                      <a:pt x="12315" y="1488"/>
                    </a:lnTo>
                    <a:lnTo>
                      <a:pt x="12247" y="1688"/>
                    </a:lnTo>
                    <a:lnTo>
                      <a:pt x="12247" y="1813"/>
                    </a:lnTo>
                    <a:lnTo>
                      <a:pt x="12247" y="2013"/>
                    </a:lnTo>
                    <a:lnTo>
                      <a:pt x="11964" y="2525"/>
                    </a:lnTo>
                    <a:lnTo>
                      <a:pt x="12247" y="2838"/>
                    </a:lnTo>
                    <a:lnTo>
                      <a:pt x="12315" y="2988"/>
                    </a:lnTo>
                    <a:lnTo>
                      <a:pt x="12541" y="3038"/>
                    </a:lnTo>
                    <a:lnTo>
                      <a:pt x="12609" y="3238"/>
                    </a:lnTo>
                    <a:lnTo>
                      <a:pt x="13073" y="3688"/>
                    </a:lnTo>
                    <a:lnTo>
                      <a:pt x="13662" y="3825"/>
                    </a:lnTo>
                    <a:lnTo>
                      <a:pt x="13662" y="4075"/>
                    </a:lnTo>
                    <a:lnTo>
                      <a:pt x="14137" y="4338"/>
                    </a:lnTo>
                    <a:lnTo>
                      <a:pt x="14307" y="4338"/>
                    </a:lnTo>
                    <a:lnTo>
                      <a:pt x="14488" y="4213"/>
                    </a:lnTo>
                    <a:lnTo>
                      <a:pt x="14771" y="3550"/>
                    </a:lnTo>
                    <a:lnTo>
                      <a:pt x="15065" y="2450"/>
                    </a:lnTo>
                    <a:lnTo>
                      <a:pt x="15065" y="1888"/>
                    </a:lnTo>
                    <a:lnTo>
                      <a:pt x="15178" y="1688"/>
                    </a:lnTo>
                    <a:lnTo>
                      <a:pt x="15065" y="1488"/>
                    </a:lnTo>
                    <a:lnTo>
                      <a:pt x="15246" y="1175"/>
                    </a:lnTo>
                    <a:lnTo>
                      <a:pt x="15178" y="1100"/>
                    </a:lnTo>
                    <a:lnTo>
                      <a:pt x="15246" y="838"/>
                    </a:lnTo>
                    <a:lnTo>
                      <a:pt x="15359" y="838"/>
                    </a:lnTo>
                    <a:lnTo>
                      <a:pt x="15484" y="263"/>
                    </a:lnTo>
                    <a:lnTo>
                      <a:pt x="15710" y="0"/>
                    </a:lnTo>
                    <a:lnTo>
                      <a:pt x="15710" y="125"/>
                    </a:lnTo>
                    <a:lnTo>
                      <a:pt x="15835" y="325"/>
                    </a:lnTo>
                    <a:lnTo>
                      <a:pt x="15835" y="775"/>
                    </a:lnTo>
                    <a:lnTo>
                      <a:pt x="15948" y="775"/>
                    </a:lnTo>
                    <a:lnTo>
                      <a:pt x="15948" y="975"/>
                    </a:lnTo>
                    <a:lnTo>
                      <a:pt x="16005" y="1100"/>
                    </a:lnTo>
                    <a:lnTo>
                      <a:pt x="16005" y="1350"/>
                    </a:lnTo>
                    <a:lnTo>
                      <a:pt x="16129" y="1350"/>
                    </a:lnTo>
                    <a:lnTo>
                      <a:pt x="16129" y="1888"/>
                    </a:lnTo>
                    <a:lnTo>
                      <a:pt x="16242" y="2450"/>
                    </a:lnTo>
                    <a:lnTo>
                      <a:pt x="16299" y="2325"/>
                    </a:lnTo>
                    <a:lnTo>
                      <a:pt x="16480" y="2138"/>
                    </a:lnTo>
                    <a:lnTo>
                      <a:pt x="16593" y="2450"/>
                    </a:lnTo>
                    <a:lnTo>
                      <a:pt x="16887" y="2650"/>
                    </a:lnTo>
                    <a:lnTo>
                      <a:pt x="16887" y="3363"/>
                    </a:lnTo>
                    <a:lnTo>
                      <a:pt x="16887" y="3550"/>
                    </a:lnTo>
                    <a:lnTo>
                      <a:pt x="17057" y="3888"/>
                    </a:lnTo>
                    <a:lnTo>
                      <a:pt x="17170" y="4400"/>
                    </a:lnTo>
                    <a:lnTo>
                      <a:pt x="17170" y="4725"/>
                    </a:lnTo>
                    <a:lnTo>
                      <a:pt x="17170" y="4925"/>
                    </a:lnTo>
                    <a:lnTo>
                      <a:pt x="17238" y="5175"/>
                    </a:lnTo>
                    <a:lnTo>
                      <a:pt x="17476" y="5438"/>
                    </a:lnTo>
                    <a:lnTo>
                      <a:pt x="17702" y="5438"/>
                    </a:lnTo>
                    <a:lnTo>
                      <a:pt x="17816" y="5750"/>
                    </a:lnTo>
                    <a:lnTo>
                      <a:pt x="17940" y="5750"/>
                    </a:lnTo>
                    <a:lnTo>
                      <a:pt x="18166" y="5950"/>
                    </a:lnTo>
                    <a:lnTo>
                      <a:pt x="18291" y="6213"/>
                    </a:lnTo>
                    <a:lnTo>
                      <a:pt x="18415" y="6275"/>
                    </a:lnTo>
                    <a:lnTo>
                      <a:pt x="18166" y="6413"/>
                    </a:lnTo>
                    <a:lnTo>
                      <a:pt x="18291" y="6613"/>
                    </a:lnTo>
                    <a:lnTo>
                      <a:pt x="18472" y="6925"/>
                    </a:lnTo>
                    <a:lnTo>
                      <a:pt x="18472" y="7050"/>
                    </a:lnTo>
                    <a:lnTo>
                      <a:pt x="18698" y="7638"/>
                    </a:lnTo>
                    <a:lnTo>
                      <a:pt x="18766" y="7763"/>
                    </a:lnTo>
                    <a:lnTo>
                      <a:pt x="18766" y="7313"/>
                    </a:lnTo>
                    <a:lnTo>
                      <a:pt x="19049" y="7638"/>
                    </a:lnTo>
                    <a:lnTo>
                      <a:pt x="19049" y="7563"/>
                    </a:lnTo>
                    <a:lnTo>
                      <a:pt x="19162" y="7763"/>
                    </a:lnTo>
                    <a:lnTo>
                      <a:pt x="19162" y="8275"/>
                    </a:lnTo>
                    <a:lnTo>
                      <a:pt x="18936" y="8275"/>
                    </a:lnTo>
                    <a:lnTo>
                      <a:pt x="19049" y="8475"/>
                    </a:lnTo>
                    <a:lnTo>
                      <a:pt x="19344" y="8675"/>
                    </a:lnTo>
                    <a:lnTo>
                      <a:pt x="19525" y="8938"/>
                    </a:lnTo>
                    <a:lnTo>
                      <a:pt x="19638" y="9250"/>
                    </a:lnTo>
                    <a:lnTo>
                      <a:pt x="19808" y="9450"/>
                    </a:lnTo>
                    <a:lnTo>
                      <a:pt x="19932" y="9650"/>
                    </a:lnTo>
                    <a:lnTo>
                      <a:pt x="19808" y="9963"/>
                    </a:lnTo>
                    <a:lnTo>
                      <a:pt x="19989" y="10350"/>
                    </a:lnTo>
                    <a:lnTo>
                      <a:pt x="19808" y="11188"/>
                    </a:lnTo>
                    <a:lnTo>
                      <a:pt x="19932" y="11650"/>
                    </a:lnTo>
                    <a:lnTo>
                      <a:pt x="19808" y="12363"/>
                    </a:lnTo>
                    <a:lnTo>
                      <a:pt x="19525" y="13075"/>
                    </a:lnTo>
                    <a:lnTo>
                      <a:pt x="19344" y="13838"/>
                    </a:lnTo>
                    <a:lnTo>
                      <a:pt x="18879" y="14688"/>
                    </a:lnTo>
                    <a:lnTo>
                      <a:pt x="18879" y="14750"/>
                    </a:lnTo>
                    <a:lnTo>
                      <a:pt x="18879" y="14888"/>
                    </a:lnTo>
                    <a:lnTo>
                      <a:pt x="18291" y="15400"/>
                    </a:lnTo>
                    <a:lnTo>
                      <a:pt x="18166" y="15725"/>
                    </a:lnTo>
                    <a:lnTo>
                      <a:pt x="18121" y="16038"/>
                    </a:lnTo>
                    <a:lnTo>
                      <a:pt x="17702" y="16563"/>
                    </a:lnTo>
                    <a:lnTo>
                      <a:pt x="17521" y="16950"/>
                    </a:lnTo>
                    <a:lnTo>
                      <a:pt x="17057" y="17925"/>
                    </a:lnTo>
                    <a:lnTo>
                      <a:pt x="16774" y="18763"/>
                    </a:lnTo>
                    <a:lnTo>
                      <a:pt x="16299" y="19025"/>
                    </a:lnTo>
                    <a:lnTo>
                      <a:pt x="15529" y="19025"/>
                    </a:lnTo>
                    <a:lnTo>
                      <a:pt x="15246" y="19350"/>
                    </a:lnTo>
                    <a:lnTo>
                      <a:pt x="14714" y="19663"/>
                    </a:lnTo>
                    <a:lnTo>
                      <a:pt x="14771" y="19800"/>
                    </a:lnTo>
                    <a:lnTo>
                      <a:pt x="14714" y="1998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1" name="Google Shape;151;p18"/>
              <p:cNvSpPr/>
              <p:nvPr/>
            </p:nvSpPr>
            <p:spPr>
              <a:xfrm>
                <a:off x="4518626" y="6268799"/>
                <a:ext cx="236605" cy="207766"/>
              </a:xfrm>
              <a:custGeom>
                <a:rect b="b" l="l" r="r" t="t"/>
                <a:pathLst>
                  <a:path extrusionOk="0" h="20000" w="20000">
                    <a:moveTo>
                      <a:pt x="0" y="16086"/>
                    </a:moveTo>
                    <a:lnTo>
                      <a:pt x="282" y="0"/>
                    </a:lnTo>
                    <a:lnTo>
                      <a:pt x="2207" y="858"/>
                    </a:lnTo>
                    <a:lnTo>
                      <a:pt x="5117" y="1662"/>
                    </a:lnTo>
                    <a:lnTo>
                      <a:pt x="6620" y="2520"/>
                    </a:lnTo>
                    <a:lnTo>
                      <a:pt x="7089" y="2520"/>
                    </a:lnTo>
                    <a:lnTo>
                      <a:pt x="8545" y="3861"/>
                    </a:lnTo>
                    <a:lnTo>
                      <a:pt x="9249" y="3861"/>
                    </a:lnTo>
                    <a:lnTo>
                      <a:pt x="10282" y="4718"/>
                    </a:lnTo>
                    <a:lnTo>
                      <a:pt x="10282" y="6649"/>
                    </a:lnTo>
                    <a:lnTo>
                      <a:pt x="13662" y="7989"/>
                    </a:lnTo>
                    <a:lnTo>
                      <a:pt x="14413" y="9651"/>
                    </a:lnTo>
                    <a:lnTo>
                      <a:pt x="12394" y="10295"/>
                    </a:lnTo>
                    <a:lnTo>
                      <a:pt x="13146" y="11903"/>
                    </a:lnTo>
                    <a:lnTo>
                      <a:pt x="14883" y="13298"/>
                    </a:lnTo>
                    <a:lnTo>
                      <a:pt x="15352" y="13834"/>
                    </a:lnTo>
                    <a:lnTo>
                      <a:pt x="15587" y="14692"/>
                    </a:lnTo>
                    <a:lnTo>
                      <a:pt x="15587" y="16086"/>
                    </a:lnTo>
                    <a:lnTo>
                      <a:pt x="17277" y="16086"/>
                    </a:lnTo>
                    <a:lnTo>
                      <a:pt x="17559" y="16354"/>
                    </a:lnTo>
                    <a:lnTo>
                      <a:pt x="17277" y="16890"/>
                    </a:lnTo>
                    <a:lnTo>
                      <a:pt x="18732" y="17426"/>
                    </a:lnTo>
                    <a:lnTo>
                      <a:pt x="18263" y="18284"/>
                    </a:lnTo>
                    <a:lnTo>
                      <a:pt x="19202" y="18820"/>
                    </a:lnTo>
                    <a:lnTo>
                      <a:pt x="19953" y="19088"/>
                    </a:lnTo>
                    <a:lnTo>
                      <a:pt x="19202" y="19625"/>
                    </a:lnTo>
                    <a:lnTo>
                      <a:pt x="19953" y="19625"/>
                    </a:lnTo>
                    <a:lnTo>
                      <a:pt x="19953" y="19946"/>
                    </a:lnTo>
                    <a:lnTo>
                      <a:pt x="18732" y="19946"/>
                    </a:lnTo>
                    <a:lnTo>
                      <a:pt x="18732" y="19625"/>
                    </a:lnTo>
                    <a:lnTo>
                      <a:pt x="15352" y="18820"/>
                    </a:lnTo>
                    <a:lnTo>
                      <a:pt x="14413" y="18820"/>
                    </a:lnTo>
                    <a:lnTo>
                      <a:pt x="12394" y="16890"/>
                    </a:lnTo>
                    <a:lnTo>
                      <a:pt x="12207" y="16086"/>
                    </a:lnTo>
                    <a:lnTo>
                      <a:pt x="11690" y="16086"/>
                    </a:lnTo>
                    <a:lnTo>
                      <a:pt x="11221" y="15228"/>
                    </a:lnTo>
                    <a:lnTo>
                      <a:pt x="10282" y="13029"/>
                    </a:lnTo>
                    <a:lnTo>
                      <a:pt x="9718" y="13029"/>
                    </a:lnTo>
                    <a:lnTo>
                      <a:pt x="9249" y="13029"/>
                    </a:lnTo>
                    <a:lnTo>
                      <a:pt x="8075" y="13029"/>
                    </a:lnTo>
                    <a:lnTo>
                      <a:pt x="7793" y="11903"/>
                    </a:lnTo>
                    <a:lnTo>
                      <a:pt x="7324" y="11903"/>
                    </a:lnTo>
                    <a:lnTo>
                      <a:pt x="7089" y="12493"/>
                    </a:lnTo>
                    <a:lnTo>
                      <a:pt x="6620" y="12493"/>
                    </a:lnTo>
                    <a:lnTo>
                      <a:pt x="5869" y="11903"/>
                    </a:lnTo>
                    <a:lnTo>
                      <a:pt x="6103" y="13298"/>
                    </a:lnTo>
                    <a:lnTo>
                      <a:pt x="5399" y="13298"/>
                    </a:lnTo>
                    <a:lnTo>
                      <a:pt x="5399" y="13834"/>
                    </a:lnTo>
                    <a:lnTo>
                      <a:pt x="3474" y="13834"/>
                    </a:lnTo>
                    <a:lnTo>
                      <a:pt x="4131" y="14155"/>
                    </a:lnTo>
                    <a:lnTo>
                      <a:pt x="5117" y="15496"/>
                    </a:lnTo>
                    <a:lnTo>
                      <a:pt x="3474" y="16354"/>
                    </a:lnTo>
                    <a:lnTo>
                      <a:pt x="0" y="16086"/>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2" name="Google Shape;152;p18"/>
              <p:cNvSpPr/>
              <p:nvPr/>
            </p:nvSpPr>
            <p:spPr>
              <a:xfrm>
                <a:off x="4702651" y="6306448"/>
                <a:ext cx="103774" cy="54382"/>
              </a:xfrm>
              <a:custGeom>
                <a:rect b="b" l="l" r="r" t="t"/>
                <a:pathLst>
                  <a:path extrusionOk="0" h="20000" w="20000">
                    <a:moveTo>
                      <a:pt x="9840" y="19798"/>
                    </a:moveTo>
                    <a:lnTo>
                      <a:pt x="6096" y="19798"/>
                    </a:lnTo>
                    <a:lnTo>
                      <a:pt x="5455" y="17778"/>
                    </a:lnTo>
                    <a:lnTo>
                      <a:pt x="3850" y="17778"/>
                    </a:lnTo>
                    <a:lnTo>
                      <a:pt x="1711" y="16566"/>
                    </a:lnTo>
                    <a:lnTo>
                      <a:pt x="0" y="14545"/>
                    </a:lnTo>
                    <a:lnTo>
                      <a:pt x="0" y="11515"/>
                    </a:lnTo>
                    <a:lnTo>
                      <a:pt x="1070" y="12525"/>
                    </a:lnTo>
                    <a:lnTo>
                      <a:pt x="2781" y="11515"/>
                    </a:lnTo>
                    <a:lnTo>
                      <a:pt x="4385" y="12525"/>
                    </a:lnTo>
                    <a:lnTo>
                      <a:pt x="7166" y="11515"/>
                    </a:lnTo>
                    <a:lnTo>
                      <a:pt x="8235" y="8283"/>
                    </a:lnTo>
                    <a:lnTo>
                      <a:pt x="8770" y="12525"/>
                    </a:lnTo>
                    <a:lnTo>
                      <a:pt x="9840" y="11515"/>
                    </a:lnTo>
                    <a:lnTo>
                      <a:pt x="11123" y="12525"/>
                    </a:lnTo>
                    <a:lnTo>
                      <a:pt x="12727" y="11515"/>
                    </a:lnTo>
                    <a:lnTo>
                      <a:pt x="13262" y="8283"/>
                    </a:lnTo>
                    <a:lnTo>
                      <a:pt x="15508" y="8283"/>
                    </a:lnTo>
                    <a:lnTo>
                      <a:pt x="16043" y="6263"/>
                    </a:lnTo>
                    <a:lnTo>
                      <a:pt x="15508" y="1212"/>
                    </a:lnTo>
                    <a:lnTo>
                      <a:pt x="18824" y="0"/>
                    </a:lnTo>
                    <a:lnTo>
                      <a:pt x="19893" y="1212"/>
                    </a:lnTo>
                    <a:lnTo>
                      <a:pt x="19893" y="6263"/>
                    </a:lnTo>
                    <a:lnTo>
                      <a:pt x="18182" y="8283"/>
                    </a:lnTo>
                    <a:lnTo>
                      <a:pt x="18182" y="11515"/>
                    </a:lnTo>
                    <a:lnTo>
                      <a:pt x="16043" y="12525"/>
                    </a:lnTo>
                    <a:lnTo>
                      <a:pt x="15508" y="12525"/>
                    </a:lnTo>
                    <a:lnTo>
                      <a:pt x="14439" y="14545"/>
                    </a:lnTo>
                    <a:lnTo>
                      <a:pt x="9840" y="1979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3" name="Google Shape;153;p18"/>
              <p:cNvSpPr/>
              <p:nvPr/>
            </p:nvSpPr>
            <p:spPr>
              <a:xfrm>
                <a:off x="4763533" y="6263223"/>
                <a:ext cx="58113" cy="61353"/>
              </a:xfrm>
              <a:custGeom>
                <a:rect b="b" l="l" r="r" t="t"/>
                <a:pathLst>
                  <a:path extrusionOk="0" h="20000" w="20000">
                    <a:moveTo>
                      <a:pt x="17905" y="19818"/>
                    </a:moveTo>
                    <a:lnTo>
                      <a:pt x="17905" y="16909"/>
                    </a:lnTo>
                    <a:lnTo>
                      <a:pt x="16000" y="12364"/>
                    </a:lnTo>
                    <a:lnTo>
                      <a:pt x="12000" y="7636"/>
                    </a:lnTo>
                    <a:lnTo>
                      <a:pt x="3048" y="2909"/>
                    </a:lnTo>
                    <a:lnTo>
                      <a:pt x="0" y="2000"/>
                    </a:lnTo>
                    <a:lnTo>
                      <a:pt x="0" y="0"/>
                    </a:lnTo>
                    <a:lnTo>
                      <a:pt x="12952" y="5636"/>
                    </a:lnTo>
                    <a:lnTo>
                      <a:pt x="17905" y="10545"/>
                    </a:lnTo>
                    <a:lnTo>
                      <a:pt x="17905" y="12364"/>
                    </a:lnTo>
                    <a:lnTo>
                      <a:pt x="19810" y="16909"/>
                    </a:lnTo>
                    <a:lnTo>
                      <a:pt x="17905" y="19818"/>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4" name="Google Shape;154;p18"/>
              <p:cNvSpPr/>
              <p:nvPr/>
            </p:nvSpPr>
            <p:spPr>
              <a:xfrm>
                <a:off x="4857621" y="6328759"/>
                <a:ext cx="31824" cy="47409"/>
              </a:xfrm>
              <a:custGeom>
                <a:rect b="b" l="l" r="r" t="t"/>
                <a:pathLst>
                  <a:path extrusionOk="0" h="20000" w="20000">
                    <a:moveTo>
                      <a:pt x="19655" y="19765"/>
                    </a:moveTo>
                    <a:lnTo>
                      <a:pt x="10690" y="19765"/>
                    </a:lnTo>
                    <a:lnTo>
                      <a:pt x="6897" y="13412"/>
                    </a:lnTo>
                    <a:lnTo>
                      <a:pt x="1379" y="11059"/>
                    </a:lnTo>
                    <a:lnTo>
                      <a:pt x="1379" y="4941"/>
                    </a:lnTo>
                    <a:lnTo>
                      <a:pt x="0" y="3765"/>
                    </a:lnTo>
                    <a:lnTo>
                      <a:pt x="0" y="0"/>
                    </a:lnTo>
                    <a:lnTo>
                      <a:pt x="1379" y="3765"/>
                    </a:lnTo>
                    <a:lnTo>
                      <a:pt x="5517" y="4941"/>
                    </a:lnTo>
                    <a:lnTo>
                      <a:pt x="10690" y="7294"/>
                    </a:lnTo>
                    <a:lnTo>
                      <a:pt x="14138" y="11059"/>
                    </a:lnTo>
                    <a:lnTo>
                      <a:pt x="15862" y="13412"/>
                    </a:lnTo>
                    <a:lnTo>
                      <a:pt x="19655" y="17176"/>
                    </a:lnTo>
                    <a:lnTo>
                      <a:pt x="19655" y="19765"/>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5" name="Google Shape;155;p18"/>
              <p:cNvSpPr/>
              <p:nvPr/>
            </p:nvSpPr>
            <p:spPr>
              <a:xfrm>
                <a:off x="4439758" y="7423364"/>
                <a:ext cx="88553" cy="112947"/>
              </a:xfrm>
              <a:custGeom>
                <a:rect b="b" l="l" r="r" t="t"/>
                <a:pathLst>
                  <a:path extrusionOk="0" h="20000" w="20000">
                    <a:moveTo>
                      <a:pt x="5185" y="19901"/>
                    </a:moveTo>
                    <a:lnTo>
                      <a:pt x="3333" y="19310"/>
                    </a:lnTo>
                    <a:lnTo>
                      <a:pt x="1975" y="18325"/>
                    </a:lnTo>
                    <a:lnTo>
                      <a:pt x="3333" y="18325"/>
                    </a:lnTo>
                    <a:lnTo>
                      <a:pt x="3333" y="17241"/>
                    </a:lnTo>
                    <a:lnTo>
                      <a:pt x="1358" y="16847"/>
                    </a:lnTo>
                    <a:lnTo>
                      <a:pt x="0" y="14286"/>
                    </a:lnTo>
                    <a:lnTo>
                      <a:pt x="1358" y="10640"/>
                    </a:lnTo>
                    <a:lnTo>
                      <a:pt x="1975" y="11626"/>
                    </a:lnTo>
                    <a:lnTo>
                      <a:pt x="1975" y="10640"/>
                    </a:lnTo>
                    <a:lnTo>
                      <a:pt x="1358" y="1970"/>
                    </a:lnTo>
                    <a:lnTo>
                      <a:pt x="1975" y="0"/>
                    </a:lnTo>
                    <a:lnTo>
                      <a:pt x="3333" y="0"/>
                    </a:lnTo>
                    <a:lnTo>
                      <a:pt x="4568" y="985"/>
                    </a:lnTo>
                    <a:lnTo>
                      <a:pt x="7160" y="2562"/>
                    </a:lnTo>
                    <a:lnTo>
                      <a:pt x="12222" y="3547"/>
                    </a:lnTo>
                    <a:lnTo>
                      <a:pt x="15432" y="2562"/>
                    </a:lnTo>
                    <a:lnTo>
                      <a:pt x="16667" y="2562"/>
                    </a:lnTo>
                    <a:lnTo>
                      <a:pt x="19877" y="1970"/>
                    </a:lnTo>
                    <a:lnTo>
                      <a:pt x="19877" y="2562"/>
                    </a:lnTo>
                    <a:lnTo>
                      <a:pt x="17901" y="11626"/>
                    </a:lnTo>
                    <a:lnTo>
                      <a:pt x="16667" y="11626"/>
                    </a:lnTo>
                    <a:lnTo>
                      <a:pt x="16667" y="10640"/>
                    </a:lnTo>
                    <a:lnTo>
                      <a:pt x="15432" y="11626"/>
                    </a:lnTo>
                    <a:lnTo>
                      <a:pt x="15432" y="13202"/>
                    </a:lnTo>
                    <a:lnTo>
                      <a:pt x="14815" y="14680"/>
                    </a:lnTo>
                    <a:lnTo>
                      <a:pt x="13457" y="17241"/>
                    </a:lnTo>
                    <a:lnTo>
                      <a:pt x="11605" y="18325"/>
                    </a:lnTo>
                    <a:lnTo>
                      <a:pt x="11605" y="16847"/>
                    </a:lnTo>
                    <a:lnTo>
                      <a:pt x="12222" y="16847"/>
                    </a:lnTo>
                    <a:lnTo>
                      <a:pt x="12222" y="14680"/>
                    </a:lnTo>
                    <a:lnTo>
                      <a:pt x="11605" y="14680"/>
                    </a:lnTo>
                    <a:lnTo>
                      <a:pt x="9630" y="17241"/>
                    </a:lnTo>
                    <a:lnTo>
                      <a:pt x="8395" y="17241"/>
                    </a:lnTo>
                    <a:lnTo>
                      <a:pt x="7160" y="19901"/>
                    </a:lnTo>
                    <a:lnTo>
                      <a:pt x="5185" y="19901"/>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6" name="Google Shape;156;p18"/>
              <p:cNvSpPr/>
              <p:nvPr/>
            </p:nvSpPr>
            <p:spPr>
              <a:xfrm>
                <a:off x="3309160" y="5654512"/>
                <a:ext cx="364803" cy="549836"/>
              </a:xfrm>
              <a:custGeom>
                <a:rect b="b" l="l" r="r" t="t"/>
                <a:pathLst>
                  <a:path extrusionOk="0" h="19916" w="17512">
                    <a:moveTo>
                      <a:pt x="0" y="335"/>
                    </a:moveTo>
                    <a:lnTo>
                      <a:pt x="440" y="0"/>
                    </a:lnTo>
                    <a:lnTo>
                      <a:pt x="4505" y="1674"/>
                    </a:lnTo>
                    <a:lnTo>
                      <a:pt x="3407" y="3431"/>
                    </a:lnTo>
                    <a:lnTo>
                      <a:pt x="5604" y="3431"/>
                    </a:lnTo>
                    <a:lnTo>
                      <a:pt x="6264" y="1674"/>
                    </a:lnTo>
                    <a:lnTo>
                      <a:pt x="7363" y="2594"/>
                    </a:lnTo>
                    <a:lnTo>
                      <a:pt x="8022" y="1674"/>
                    </a:lnTo>
                    <a:lnTo>
                      <a:pt x="9121" y="1674"/>
                    </a:lnTo>
                    <a:lnTo>
                      <a:pt x="15385" y="7364"/>
                    </a:lnTo>
                    <a:lnTo>
                      <a:pt x="15385" y="10879"/>
                    </a:lnTo>
                    <a:lnTo>
                      <a:pt x="12935" y="13920"/>
                    </a:lnTo>
                    <a:cubicBezTo>
                      <a:pt x="13087" y="14506"/>
                      <a:pt x="13240" y="15091"/>
                      <a:pt x="13392" y="15677"/>
                    </a:cubicBezTo>
                    <a:lnTo>
                      <a:pt x="14474" y="16871"/>
                    </a:lnTo>
                    <a:cubicBezTo>
                      <a:pt x="15669" y="18289"/>
                      <a:pt x="15151" y="18067"/>
                      <a:pt x="16918" y="18536"/>
                    </a:cubicBezTo>
                    <a:cubicBezTo>
                      <a:pt x="16964" y="19067"/>
                      <a:pt x="17466" y="18909"/>
                      <a:pt x="17512" y="19440"/>
                    </a:cubicBezTo>
                    <a:lnTo>
                      <a:pt x="16593" y="19498"/>
                    </a:lnTo>
                    <a:lnTo>
                      <a:pt x="16593" y="19916"/>
                    </a:lnTo>
                    <a:lnTo>
                      <a:pt x="13626" y="18243"/>
                    </a:lnTo>
                    <a:lnTo>
                      <a:pt x="10220" y="16485"/>
                    </a:lnTo>
                    <a:lnTo>
                      <a:pt x="6264" y="13808"/>
                    </a:lnTo>
                    <a:lnTo>
                      <a:pt x="5604" y="12552"/>
                    </a:lnTo>
                    <a:lnTo>
                      <a:pt x="2857" y="10377"/>
                    </a:lnTo>
                    <a:lnTo>
                      <a:pt x="2857" y="9038"/>
                    </a:lnTo>
                    <a:lnTo>
                      <a:pt x="2857" y="6946"/>
                    </a:lnTo>
                    <a:lnTo>
                      <a:pt x="1758" y="6109"/>
                    </a:lnTo>
                    <a:lnTo>
                      <a:pt x="440" y="3431"/>
                    </a:lnTo>
                    <a:cubicBezTo>
                      <a:pt x="293" y="2399"/>
                      <a:pt x="147" y="1367"/>
                      <a:pt x="0" y="335"/>
                    </a:cubicBez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7" name="Google Shape;157;p18"/>
              <p:cNvSpPr/>
              <p:nvPr/>
            </p:nvSpPr>
            <p:spPr>
              <a:xfrm>
                <a:off x="3887151" y="4674367"/>
                <a:ext cx="268908" cy="400728"/>
              </a:xfrm>
              <a:custGeom>
                <a:rect b="b" l="l" r="r" t="t"/>
                <a:pathLst>
                  <a:path extrusionOk="0" h="20000" w="20000">
                    <a:moveTo>
                      <a:pt x="19915" y="1494"/>
                    </a:moveTo>
                    <a:lnTo>
                      <a:pt x="19915" y="2069"/>
                    </a:lnTo>
                    <a:lnTo>
                      <a:pt x="19060" y="2356"/>
                    </a:lnTo>
                    <a:lnTo>
                      <a:pt x="18547" y="3851"/>
                    </a:lnTo>
                    <a:lnTo>
                      <a:pt x="17692" y="5920"/>
                    </a:lnTo>
                    <a:lnTo>
                      <a:pt x="18547" y="5920"/>
                    </a:lnTo>
                    <a:lnTo>
                      <a:pt x="19060" y="7701"/>
                    </a:lnTo>
                    <a:lnTo>
                      <a:pt x="17692" y="8563"/>
                    </a:lnTo>
                    <a:lnTo>
                      <a:pt x="17265" y="9195"/>
                    </a:lnTo>
                    <a:lnTo>
                      <a:pt x="15556" y="10057"/>
                    </a:lnTo>
                    <a:lnTo>
                      <a:pt x="15556" y="10690"/>
                    </a:lnTo>
                    <a:lnTo>
                      <a:pt x="13675" y="10977"/>
                    </a:lnTo>
                    <a:lnTo>
                      <a:pt x="12821" y="12529"/>
                    </a:lnTo>
                    <a:lnTo>
                      <a:pt x="12821" y="13678"/>
                    </a:lnTo>
                    <a:lnTo>
                      <a:pt x="11966" y="13678"/>
                    </a:lnTo>
                    <a:lnTo>
                      <a:pt x="13675" y="14540"/>
                    </a:lnTo>
                    <a:lnTo>
                      <a:pt x="16410" y="16034"/>
                    </a:lnTo>
                    <a:lnTo>
                      <a:pt x="17265" y="16034"/>
                    </a:lnTo>
                    <a:lnTo>
                      <a:pt x="17265" y="16897"/>
                    </a:lnTo>
                    <a:lnTo>
                      <a:pt x="13675" y="17816"/>
                    </a:lnTo>
                    <a:lnTo>
                      <a:pt x="11966" y="19310"/>
                    </a:lnTo>
                    <a:lnTo>
                      <a:pt x="9744" y="19943"/>
                    </a:lnTo>
                    <a:lnTo>
                      <a:pt x="8376" y="18736"/>
                    </a:lnTo>
                    <a:lnTo>
                      <a:pt x="8034" y="18736"/>
                    </a:lnTo>
                    <a:lnTo>
                      <a:pt x="8034" y="19943"/>
                    </a:lnTo>
                    <a:lnTo>
                      <a:pt x="7009" y="19310"/>
                    </a:lnTo>
                    <a:lnTo>
                      <a:pt x="5812" y="19310"/>
                    </a:lnTo>
                    <a:lnTo>
                      <a:pt x="6154" y="18391"/>
                    </a:lnTo>
                    <a:lnTo>
                      <a:pt x="4444" y="18391"/>
                    </a:lnTo>
                    <a:lnTo>
                      <a:pt x="4872" y="16897"/>
                    </a:lnTo>
                    <a:lnTo>
                      <a:pt x="5812" y="16322"/>
                    </a:lnTo>
                    <a:lnTo>
                      <a:pt x="6154" y="16322"/>
                    </a:lnTo>
                    <a:lnTo>
                      <a:pt x="4872" y="16034"/>
                    </a:lnTo>
                    <a:lnTo>
                      <a:pt x="4872" y="14540"/>
                    </a:lnTo>
                    <a:lnTo>
                      <a:pt x="5812" y="13678"/>
                    </a:lnTo>
                    <a:lnTo>
                      <a:pt x="4872" y="13103"/>
                    </a:lnTo>
                    <a:lnTo>
                      <a:pt x="4444" y="13103"/>
                    </a:lnTo>
                    <a:lnTo>
                      <a:pt x="2222" y="12529"/>
                    </a:lnTo>
                    <a:lnTo>
                      <a:pt x="2222" y="13103"/>
                    </a:lnTo>
                    <a:lnTo>
                      <a:pt x="1368" y="13103"/>
                    </a:lnTo>
                    <a:lnTo>
                      <a:pt x="0" y="12529"/>
                    </a:lnTo>
                    <a:lnTo>
                      <a:pt x="1368" y="10057"/>
                    </a:lnTo>
                    <a:lnTo>
                      <a:pt x="4444" y="8563"/>
                    </a:lnTo>
                    <a:lnTo>
                      <a:pt x="5812" y="7701"/>
                    </a:lnTo>
                    <a:lnTo>
                      <a:pt x="6154" y="6782"/>
                    </a:lnTo>
                    <a:lnTo>
                      <a:pt x="6154" y="5345"/>
                    </a:lnTo>
                    <a:lnTo>
                      <a:pt x="8034" y="4770"/>
                    </a:lnTo>
                    <a:lnTo>
                      <a:pt x="9316" y="5920"/>
                    </a:lnTo>
                    <a:lnTo>
                      <a:pt x="11538" y="5920"/>
                    </a:lnTo>
                    <a:lnTo>
                      <a:pt x="12821" y="5920"/>
                    </a:lnTo>
                    <a:lnTo>
                      <a:pt x="11966" y="4770"/>
                    </a:lnTo>
                    <a:lnTo>
                      <a:pt x="11966" y="4425"/>
                    </a:lnTo>
                    <a:lnTo>
                      <a:pt x="13675" y="3851"/>
                    </a:lnTo>
                    <a:lnTo>
                      <a:pt x="15043" y="3506"/>
                    </a:lnTo>
                    <a:lnTo>
                      <a:pt x="15556" y="2356"/>
                    </a:lnTo>
                    <a:lnTo>
                      <a:pt x="17265" y="1494"/>
                    </a:lnTo>
                    <a:lnTo>
                      <a:pt x="17265" y="0"/>
                    </a:lnTo>
                    <a:lnTo>
                      <a:pt x="18547" y="575"/>
                    </a:lnTo>
                    <a:lnTo>
                      <a:pt x="19915" y="1494"/>
                    </a:lnTo>
                    <a:close/>
                  </a:path>
                </a:pathLst>
              </a:custGeom>
              <a:solidFill>
                <a:srgbClr val="E8E8E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58" name="Google Shape;158;p18"/>
              <p:cNvSpPr/>
              <p:nvPr/>
            </p:nvSpPr>
            <p:spPr>
              <a:xfrm>
                <a:off x="3887063" y="4684507"/>
                <a:ext cx="720000" cy="720000"/>
              </a:xfrm>
              <a:prstGeom prst="ellipse">
                <a:avLst/>
              </a:prstGeom>
              <a:solidFill>
                <a:srgbClr val="E8E8E8">
                  <a:alpha val="45882"/>
                </a:srgbClr>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159" name="Google Shape;159;p18"/>
              <p:cNvSpPr/>
              <p:nvPr/>
            </p:nvSpPr>
            <p:spPr>
              <a:xfrm>
                <a:off x="4175481" y="4952485"/>
                <a:ext cx="232454" cy="294219"/>
              </a:xfrm>
              <a:custGeom>
                <a:rect b="b" l="l" r="r" t="t"/>
                <a:pathLst>
                  <a:path extrusionOk="0" h="20000" w="20000">
                    <a:moveTo>
                      <a:pt x="10810" y="19962"/>
                    </a:moveTo>
                    <a:lnTo>
                      <a:pt x="9857" y="19583"/>
                    </a:lnTo>
                    <a:lnTo>
                      <a:pt x="8857" y="18977"/>
                    </a:lnTo>
                    <a:lnTo>
                      <a:pt x="8857" y="18598"/>
                    </a:lnTo>
                    <a:lnTo>
                      <a:pt x="8857" y="18030"/>
                    </a:lnTo>
                    <a:lnTo>
                      <a:pt x="9143" y="17424"/>
                    </a:lnTo>
                    <a:lnTo>
                      <a:pt x="8857" y="17045"/>
                    </a:lnTo>
                    <a:lnTo>
                      <a:pt x="7619" y="17045"/>
                    </a:lnTo>
                    <a:lnTo>
                      <a:pt x="6619" y="17424"/>
                    </a:lnTo>
                    <a:lnTo>
                      <a:pt x="4667" y="18030"/>
                    </a:lnTo>
                    <a:lnTo>
                      <a:pt x="3190" y="18598"/>
                    </a:lnTo>
                    <a:lnTo>
                      <a:pt x="3190" y="18409"/>
                    </a:lnTo>
                    <a:lnTo>
                      <a:pt x="2714" y="18030"/>
                    </a:lnTo>
                    <a:lnTo>
                      <a:pt x="2714" y="18409"/>
                    </a:lnTo>
                    <a:lnTo>
                      <a:pt x="2714" y="18977"/>
                    </a:lnTo>
                    <a:lnTo>
                      <a:pt x="2714" y="19394"/>
                    </a:lnTo>
                    <a:lnTo>
                      <a:pt x="1952" y="18977"/>
                    </a:lnTo>
                    <a:lnTo>
                      <a:pt x="1238" y="18977"/>
                    </a:lnTo>
                    <a:lnTo>
                      <a:pt x="0" y="19394"/>
                    </a:lnTo>
                    <a:lnTo>
                      <a:pt x="0" y="18409"/>
                    </a:lnTo>
                    <a:lnTo>
                      <a:pt x="762" y="18030"/>
                    </a:lnTo>
                    <a:lnTo>
                      <a:pt x="1238" y="17652"/>
                    </a:lnTo>
                    <a:lnTo>
                      <a:pt x="1952" y="17424"/>
                    </a:lnTo>
                    <a:lnTo>
                      <a:pt x="2429" y="16439"/>
                    </a:lnTo>
                    <a:lnTo>
                      <a:pt x="3190" y="16061"/>
                    </a:lnTo>
                    <a:lnTo>
                      <a:pt x="2714" y="15492"/>
                    </a:lnTo>
                    <a:lnTo>
                      <a:pt x="3905" y="15265"/>
                    </a:lnTo>
                    <a:lnTo>
                      <a:pt x="3905" y="15492"/>
                    </a:lnTo>
                    <a:lnTo>
                      <a:pt x="4476" y="15492"/>
                    </a:lnTo>
                    <a:lnTo>
                      <a:pt x="4667" y="15492"/>
                    </a:lnTo>
                    <a:lnTo>
                      <a:pt x="7619" y="14886"/>
                    </a:lnTo>
                    <a:lnTo>
                      <a:pt x="7905" y="14470"/>
                    </a:lnTo>
                    <a:lnTo>
                      <a:pt x="8381" y="14886"/>
                    </a:lnTo>
                    <a:lnTo>
                      <a:pt x="8857" y="15265"/>
                    </a:lnTo>
                    <a:lnTo>
                      <a:pt x="9143" y="14886"/>
                    </a:lnTo>
                    <a:lnTo>
                      <a:pt x="9857" y="14470"/>
                    </a:lnTo>
                    <a:lnTo>
                      <a:pt x="9143" y="13939"/>
                    </a:lnTo>
                    <a:lnTo>
                      <a:pt x="9619" y="13333"/>
                    </a:lnTo>
                    <a:lnTo>
                      <a:pt x="10333" y="11932"/>
                    </a:lnTo>
                    <a:lnTo>
                      <a:pt x="9857" y="10758"/>
                    </a:lnTo>
                    <a:lnTo>
                      <a:pt x="11095" y="10152"/>
                    </a:lnTo>
                    <a:lnTo>
                      <a:pt x="11095" y="10758"/>
                    </a:lnTo>
                    <a:lnTo>
                      <a:pt x="10810" y="11174"/>
                    </a:lnTo>
                    <a:lnTo>
                      <a:pt x="10810" y="11364"/>
                    </a:lnTo>
                    <a:lnTo>
                      <a:pt x="11095" y="11932"/>
                    </a:lnTo>
                    <a:lnTo>
                      <a:pt x="11571" y="11932"/>
                    </a:lnTo>
                    <a:lnTo>
                      <a:pt x="11810" y="11742"/>
                    </a:lnTo>
                    <a:lnTo>
                      <a:pt x="13571" y="11174"/>
                    </a:lnTo>
                    <a:lnTo>
                      <a:pt x="14286" y="9205"/>
                    </a:lnTo>
                    <a:lnTo>
                      <a:pt x="14810" y="9205"/>
                    </a:lnTo>
                    <a:lnTo>
                      <a:pt x="14810" y="7652"/>
                    </a:lnTo>
                    <a:lnTo>
                      <a:pt x="15000" y="6061"/>
                    </a:lnTo>
                    <a:lnTo>
                      <a:pt x="14810" y="4091"/>
                    </a:lnTo>
                    <a:lnTo>
                      <a:pt x="14810" y="4508"/>
                    </a:lnTo>
                    <a:lnTo>
                      <a:pt x="14286" y="4091"/>
                    </a:lnTo>
                    <a:lnTo>
                      <a:pt x="14286" y="3712"/>
                    </a:lnTo>
                    <a:lnTo>
                      <a:pt x="14286" y="2538"/>
                    </a:lnTo>
                    <a:lnTo>
                      <a:pt x="14810" y="1932"/>
                    </a:lnTo>
                    <a:lnTo>
                      <a:pt x="14286" y="1174"/>
                    </a:lnTo>
                    <a:lnTo>
                      <a:pt x="15000" y="985"/>
                    </a:lnTo>
                    <a:lnTo>
                      <a:pt x="15524" y="1932"/>
                    </a:lnTo>
                    <a:lnTo>
                      <a:pt x="16000" y="1553"/>
                    </a:lnTo>
                    <a:lnTo>
                      <a:pt x="16286" y="1553"/>
                    </a:lnTo>
                    <a:lnTo>
                      <a:pt x="16286" y="985"/>
                    </a:lnTo>
                    <a:lnTo>
                      <a:pt x="15524" y="985"/>
                    </a:lnTo>
                    <a:lnTo>
                      <a:pt x="15524" y="0"/>
                    </a:lnTo>
                    <a:lnTo>
                      <a:pt x="16000" y="379"/>
                    </a:lnTo>
                    <a:lnTo>
                      <a:pt x="16762" y="379"/>
                    </a:lnTo>
                    <a:lnTo>
                      <a:pt x="17048" y="1932"/>
                    </a:lnTo>
                    <a:lnTo>
                      <a:pt x="18000" y="2538"/>
                    </a:lnTo>
                    <a:lnTo>
                      <a:pt x="18714" y="3712"/>
                    </a:lnTo>
                    <a:lnTo>
                      <a:pt x="19190" y="4697"/>
                    </a:lnTo>
                    <a:lnTo>
                      <a:pt x="19476" y="4697"/>
                    </a:lnTo>
                    <a:lnTo>
                      <a:pt x="19476" y="6061"/>
                    </a:lnTo>
                    <a:lnTo>
                      <a:pt x="18714" y="6667"/>
                    </a:lnTo>
                    <a:lnTo>
                      <a:pt x="19476" y="7841"/>
                    </a:lnTo>
                    <a:lnTo>
                      <a:pt x="18714" y="7841"/>
                    </a:lnTo>
                    <a:lnTo>
                      <a:pt x="18238" y="8220"/>
                    </a:lnTo>
                    <a:lnTo>
                      <a:pt x="18238" y="9205"/>
                    </a:lnTo>
                    <a:lnTo>
                      <a:pt x="19190" y="11364"/>
                    </a:lnTo>
                    <a:lnTo>
                      <a:pt x="19190" y="13485"/>
                    </a:lnTo>
                    <a:lnTo>
                      <a:pt x="19952" y="14318"/>
                    </a:lnTo>
                    <a:lnTo>
                      <a:pt x="19190" y="14470"/>
                    </a:lnTo>
                    <a:lnTo>
                      <a:pt x="19190" y="15492"/>
                    </a:lnTo>
                    <a:lnTo>
                      <a:pt x="18000" y="16061"/>
                    </a:lnTo>
                    <a:lnTo>
                      <a:pt x="18238" y="14886"/>
                    </a:lnTo>
                    <a:lnTo>
                      <a:pt x="17524" y="14470"/>
                    </a:lnTo>
                    <a:lnTo>
                      <a:pt x="17524" y="15265"/>
                    </a:lnTo>
                    <a:lnTo>
                      <a:pt x="17524" y="15492"/>
                    </a:lnTo>
                    <a:lnTo>
                      <a:pt x="17048" y="15265"/>
                    </a:lnTo>
                    <a:lnTo>
                      <a:pt x="16762" y="15492"/>
                    </a:lnTo>
                    <a:lnTo>
                      <a:pt x="16762" y="16439"/>
                    </a:lnTo>
                    <a:lnTo>
                      <a:pt x="16286" y="17045"/>
                    </a:lnTo>
                    <a:lnTo>
                      <a:pt x="15524" y="15871"/>
                    </a:lnTo>
                    <a:lnTo>
                      <a:pt x="15000" y="16061"/>
                    </a:lnTo>
                    <a:lnTo>
                      <a:pt x="14810" y="17045"/>
                    </a:lnTo>
                    <a:lnTo>
                      <a:pt x="14048" y="16818"/>
                    </a:lnTo>
                    <a:lnTo>
                      <a:pt x="12857" y="17424"/>
                    </a:lnTo>
                    <a:lnTo>
                      <a:pt x="13048" y="16818"/>
                    </a:lnTo>
                    <a:lnTo>
                      <a:pt x="11810" y="16818"/>
                    </a:lnTo>
                    <a:lnTo>
                      <a:pt x="11810" y="16061"/>
                    </a:lnTo>
                    <a:lnTo>
                      <a:pt x="11571" y="16061"/>
                    </a:lnTo>
                    <a:lnTo>
                      <a:pt x="11571" y="17045"/>
                    </a:lnTo>
                    <a:lnTo>
                      <a:pt x="12286" y="17424"/>
                    </a:lnTo>
                    <a:lnTo>
                      <a:pt x="12286" y="18030"/>
                    </a:lnTo>
                    <a:lnTo>
                      <a:pt x="11095" y="18409"/>
                    </a:lnTo>
                    <a:lnTo>
                      <a:pt x="10810" y="19962"/>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0" name="Google Shape;160;p18"/>
              <p:cNvSpPr/>
              <p:nvPr/>
            </p:nvSpPr>
            <p:spPr>
              <a:xfrm>
                <a:off x="4317998" y="4799101"/>
                <a:ext cx="130064" cy="158961"/>
              </a:xfrm>
              <a:custGeom>
                <a:rect b="b" l="l" r="r" t="t"/>
                <a:pathLst>
                  <a:path extrusionOk="0" h="20000" w="20000">
                    <a:moveTo>
                      <a:pt x="3162" y="19930"/>
                    </a:moveTo>
                    <a:lnTo>
                      <a:pt x="2308" y="19228"/>
                    </a:lnTo>
                    <a:lnTo>
                      <a:pt x="2308" y="17404"/>
                    </a:lnTo>
                    <a:lnTo>
                      <a:pt x="0" y="16351"/>
                    </a:lnTo>
                    <a:lnTo>
                      <a:pt x="0" y="14526"/>
                    </a:lnTo>
                    <a:lnTo>
                      <a:pt x="1368" y="12632"/>
                    </a:lnTo>
                    <a:lnTo>
                      <a:pt x="0" y="10877"/>
                    </a:lnTo>
                    <a:lnTo>
                      <a:pt x="940" y="10526"/>
                    </a:lnTo>
                    <a:lnTo>
                      <a:pt x="2308" y="10877"/>
                    </a:lnTo>
                    <a:lnTo>
                      <a:pt x="4444" y="10877"/>
                    </a:lnTo>
                    <a:lnTo>
                      <a:pt x="3504" y="8702"/>
                    </a:lnTo>
                    <a:lnTo>
                      <a:pt x="4444" y="8702"/>
                    </a:lnTo>
                    <a:lnTo>
                      <a:pt x="3504" y="6175"/>
                    </a:lnTo>
                    <a:lnTo>
                      <a:pt x="3162" y="2877"/>
                    </a:lnTo>
                    <a:lnTo>
                      <a:pt x="1368" y="421"/>
                    </a:lnTo>
                    <a:lnTo>
                      <a:pt x="2308" y="0"/>
                    </a:lnTo>
                    <a:lnTo>
                      <a:pt x="4444" y="1123"/>
                    </a:lnTo>
                    <a:lnTo>
                      <a:pt x="8034" y="4000"/>
                    </a:lnTo>
                    <a:lnTo>
                      <a:pt x="11538" y="5754"/>
                    </a:lnTo>
                    <a:lnTo>
                      <a:pt x="12821" y="5754"/>
                    </a:lnTo>
                    <a:lnTo>
                      <a:pt x="14188" y="6877"/>
                    </a:lnTo>
                    <a:lnTo>
                      <a:pt x="15983" y="6877"/>
                    </a:lnTo>
                    <a:lnTo>
                      <a:pt x="16410" y="4702"/>
                    </a:lnTo>
                    <a:lnTo>
                      <a:pt x="17265" y="5053"/>
                    </a:lnTo>
                    <a:lnTo>
                      <a:pt x="17265" y="7579"/>
                    </a:lnTo>
                    <a:lnTo>
                      <a:pt x="18547" y="9754"/>
                    </a:lnTo>
                    <a:lnTo>
                      <a:pt x="19915" y="9474"/>
                    </a:lnTo>
                    <a:lnTo>
                      <a:pt x="19915" y="9754"/>
                    </a:lnTo>
                    <a:lnTo>
                      <a:pt x="18547" y="10526"/>
                    </a:lnTo>
                    <a:lnTo>
                      <a:pt x="17692" y="10877"/>
                    </a:lnTo>
                    <a:lnTo>
                      <a:pt x="15043" y="11579"/>
                    </a:lnTo>
                    <a:lnTo>
                      <a:pt x="13675" y="12632"/>
                    </a:lnTo>
                    <a:lnTo>
                      <a:pt x="13675" y="15228"/>
                    </a:lnTo>
                    <a:lnTo>
                      <a:pt x="13675" y="16351"/>
                    </a:lnTo>
                    <a:lnTo>
                      <a:pt x="8034" y="14526"/>
                    </a:lnTo>
                    <a:lnTo>
                      <a:pt x="5812" y="13754"/>
                    </a:lnTo>
                    <a:lnTo>
                      <a:pt x="4872" y="14526"/>
                    </a:lnTo>
                    <a:lnTo>
                      <a:pt x="4444" y="15649"/>
                    </a:lnTo>
                    <a:lnTo>
                      <a:pt x="3504" y="14526"/>
                    </a:lnTo>
                    <a:lnTo>
                      <a:pt x="2308" y="15228"/>
                    </a:lnTo>
                    <a:lnTo>
                      <a:pt x="2308" y="15649"/>
                    </a:lnTo>
                    <a:lnTo>
                      <a:pt x="4444" y="16351"/>
                    </a:lnTo>
                    <a:lnTo>
                      <a:pt x="4872" y="17404"/>
                    </a:lnTo>
                    <a:lnTo>
                      <a:pt x="5812" y="17404"/>
                    </a:lnTo>
                    <a:lnTo>
                      <a:pt x="4872" y="18526"/>
                    </a:lnTo>
                    <a:lnTo>
                      <a:pt x="4444" y="18526"/>
                    </a:lnTo>
                    <a:lnTo>
                      <a:pt x="3504" y="19930"/>
                    </a:lnTo>
                    <a:lnTo>
                      <a:pt x="3162" y="19930"/>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1" name="Google Shape;161;p18"/>
              <p:cNvSpPr/>
              <p:nvPr/>
            </p:nvSpPr>
            <p:spPr>
              <a:xfrm>
                <a:off x="3202934" y="5460093"/>
                <a:ext cx="1180042" cy="1180042"/>
              </a:xfrm>
              <a:prstGeom prst="ellipse">
                <a:avLst/>
              </a:prstGeom>
              <a:solidFill>
                <a:srgbClr val="E8E8E8">
                  <a:alpha val="45882"/>
                </a:srgbClr>
              </a:solidFill>
              <a:ln cap="flat" cmpd="sng" w="9525">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sp>
            <p:nvSpPr>
              <p:cNvPr id="162" name="Google Shape;162;p18"/>
              <p:cNvSpPr/>
              <p:nvPr/>
            </p:nvSpPr>
            <p:spPr>
              <a:xfrm>
                <a:off x="3651585" y="6178317"/>
                <a:ext cx="36643" cy="49104"/>
              </a:xfrm>
              <a:custGeom>
                <a:rect b="b" l="l" r="r" t="t"/>
                <a:pathLst>
                  <a:path extrusionOk="0" h="15522" w="11673">
                    <a:moveTo>
                      <a:pt x="11673" y="0"/>
                    </a:moveTo>
                    <a:cubicBezTo>
                      <a:pt x="11486" y="2555"/>
                      <a:pt x="11298" y="5110"/>
                      <a:pt x="11111" y="7665"/>
                    </a:cubicBezTo>
                    <a:lnTo>
                      <a:pt x="7407" y="15522"/>
                    </a:lnTo>
                    <a:lnTo>
                      <a:pt x="0" y="7665"/>
                    </a:lnTo>
                    <a:lnTo>
                      <a:pt x="0" y="4093"/>
                    </a:lnTo>
                    <a:lnTo>
                      <a:pt x="11673" y="0"/>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3" name="Google Shape;163;p18"/>
              <p:cNvSpPr/>
              <p:nvPr/>
            </p:nvSpPr>
            <p:spPr>
              <a:xfrm>
                <a:off x="3457963" y="6022798"/>
                <a:ext cx="216000" cy="181550"/>
              </a:xfrm>
              <a:custGeom>
                <a:rect b="b" l="l" r="r" t="t"/>
                <a:pathLst>
                  <a:path extrusionOk="0" h="10000" w="10000">
                    <a:moveTo>
                      <a:pt x="2120" y="126"/>
                    </a:moveTo>
                    <a:cubicBezTo>
                      <a:pt x="2318" y="159"/>
                      <a:pt x="2496" y="568"/>
                      <a:pt x="2837" y="401"/>
                    </a:cubicBezTo>
                    <a:lnTo>
                      <a:pt x="3622" y="378"/>
                    </a:lnTo>
                    <a:cubicBezTo>
                      <a:pt x="3586" y="581"/>
                      <a:pt x="4075" y="502"/>
                      <a:pt x="4039" y="706"/>
                    </a:cubicBezTo>
                    <a:cubicBezTo>
                      <a:pt x="4022" y="839"/>
                      <a:pt x="4514" y="876"/>
                      <a:pt x="4497" y="1010"/>
                    </a:cubicBezTo>
                    <a:lnTo>
                      <a:pt x="4933" y="1185"/>
                    </a:lnTo>
                    <a:cubicBezTo>
                      <a:pt x="4956" y="1263"/>
                      <a:pt x="5140" y="1356"/>
                      <a:pt x="5163" y="1432"/>
                    </a:cubicBezTo>
                    <a:cubicBezTo>
                      <a:pt x="5269" y="1675"/>
                      <a:pt x="5214" y="1654"/>
                      <a:pt x="5320" y="1897"/>
                    </a:cubicBezTo>
                    <a:cubicBezTo>
                      <a:pt x="5449" y="2391"/>
                      <a:pt x="5601" y="2590"/>
                      <a:pt x="5858" y="3278"/>
                    </a:cubicBezTo>
                    <a:lnTo>
                      <a:pt x="6946" y="5174"/>
                    </a:lnTo>
                    <a:cubicBezTo>
                      <a:pt x="8146" y="7422"/>
                      <a:pt x="7626" y="7069"/>
                      <a:pt x="9402" y="7812"/>
                    </a:cubicBezTo>
                    <a:cubicBezTo>
                      <a:pt x="9449" y="8654"/>
                      <a:pt x="9954" y="8404"/>
                      <a:pt x="10000" y="9244"/>
                    </a:cubicBezTo>
                    <a:lnTo>
                      <a:pt x="9077" y="9338"/>
                    </a:lnTo>
                    <a:lnTo>
                      <a:pt x="9077" y="10000"/>
                    </a:lnTo>
                    <a:lnTo>
                      <a:pt x="6093" y="7347"/>
                    </a:lnTo>
                    <a:lnTo>
                      <a:pt x="2669" y="4561"/>
                    </a:lnTo>
                    <a:lnTo>
                      <a:pt x="71" y="1411"/>
                    </a:lnTo>
                    <a:cubicBezTo>
                      <a:pt x="48" y="1338"/>
                      <a:pt x="24" y="1263"/>
                      <a:pt x="0" y="1189"/>
                    </a:cubicBezTo>
                    <a:cubicBezTo>
                      <a:pt x="-6" y="979"/>
                      <a:pt x="204" y="1109"/>
                      <a:pt x="198" y="899"/>
                    </a:cubicBezTo>
                    <a:cubicBezTo>
                      <a:pt x="106" y="845"/>
                      <a:pt x="339" y="1128"/>
                      <a:pt x="455" y="694"/>
                    </a:cubicBezTo>
                    <a:lnTo>
                      <a:pt x="790" y="720"/>
                    </a:lnTo>
                    <a:lnTo>
                      <a:pt x="1152" y="20"/>
                    </a:lnTo>
                    <a:cubicBezTo>
                      <a:pt x="1295" y="-66"/>
                      <a:pt x="1654" y="156"/>
                      <a:pt x="1650" y="203"/>
                    </a:cubicBezTo>
                    <a:cubicBezTo>
                      <a:pt x="1646" y="249"/>
                      <a:pt x="1922" y="93"/>
                      <a:pt x="2120" y="126"/>
                    </a:cubicBez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4" name="Google Shape;164;p18"/>
              <p:cNvSpPr/>
              <p:nvPr/>
            </p:nvSpPr>
            <p:spPr>
              <a:xfrm>
                <a:off x="3536233" y="5578572"/>
                <a:ext cx="199246" cy="396010"/>
              </a:xfrm>
              <a:custGeom>
                <a:rect b="b" l="l" r="r" t="t"/>
                <a:pathLst>
                  <a:path extrusionOk="0" h="20000" w="20000">
                    <a:moveTo>
                      <a:pt x="0" y="1324"/>
                    </a:moveTo>
                    <a:lnTo>
                      <a:pt x="557" y="1155"/>
                    </a:lnTo>
                    <a:lnTo>
                      <a:pt x="891" y="1155"/>
                    </a:lnTo>
                    <a:lnTo>
                      <a:pt x="1727" y="1155"/>
                    </a:lnTo>
                    <a:lnTo>
                      <a:pt x="2284" y="873"/>
                    </a:lnTo>
                    <a:lnTo>
                      <a:pt x="3175" y="873"/>
                    </a:lnTo>
                    <a:lnTo>
                      <a:pt x="4011" y="1324"/>
                    </a:lnTo>
                    <a:lnTo>
                      <a:pt x="4624" y="873"/>
                    </a:lnTo>
                    <a:lnTo>
                      <a:pt x="6072" y="592"/>
                    </a:lnTo>
                    <a:lnTo>
                      <a:pt x="6072" y="169"/>
                    </a:lnTo>
                    <a:lnTo>
                      <a:pt x="7521" y="0"/>
                    </a:lnTo>
                    <a:lnTo>
                      <a:pt x="8412" y="451"/>
                    </a:lnTo>
                    <a:lnTo>
                      <a:pt x="10696" y="592"/>
                    </a:lnTo>
                    <a:lnTo>
                      <a:pt x="11253" y="592"/>
                    </a:lnTo>
                    <a:lnTo>
                      <a:pt x="10696" y="1324"/>
                    </a:lnTo>
                    <a:lnTo>
                      <a:pt x="12646" y="2479"/>
                    </a:lnTo>
                    <a:lnTo>
                      <a:pt x="13872" y="2366"/>
                    </a:lnTo>
                    <a:lnTo>
                      <a:pt x="14429" y="2479"/>
                    </a:lnTo>
                    <a:lnTo>
                      <a:pt x="13872" y="2789"/>
                    </a:lnTo>
                    <a:lnTo>
                      <a:pt x="12981" y="2789"/>
                    </a:lnTo>
                    <a:lnTo>
                      <a:pt x="12981" y="3211"/>
                    </a:lnTo>
                    <a:lnTo>
                      <a:pt x="12089" y="3211"/>
                    </a:lnTo>
                    <a:lnTo>
                      <a:pt x="11253" y="3634"/>
                    </a:lnTo>
                    <a:lnTo>
                      <a:pt x="11253" y="4394"/>
                    </a:lnTo>
                    <a:lnTo>
                      <a:pt x="10696" y="4676"/>
                    </a:lnTo>
                    <a:lnTo>
                      <a:pt x="9805" y="4817"/>
                    </a:lnTo>
                    <a:lnTo>
                      <a:pt x="9248" y="6113"/>
                    </a:lnTo>
                    <a:lnTo>
                      <a:pt x="11253" y="7296"/>
                    </a:lnTo>
                    <a:lnTo>
                      <a:pt x="12089" y="8169"/>
                    </a:lnTo>
                    <a:lnTo>
                      <a:pt x="14429" y="9324"/>
                    </a:lnTo>
                    <a:lnTo>
                      <a:pt x="15265" y="9634"/>
                    </a:lnTo>
                    <a:lnTo>
                      <a:pt x="15877" y="9775"/>
                    </a:lnTo>
                    <a:lnTo>
                      <a:pt x="16713" y="10366"/>
                    </a:lnTo>
                    <a:lnTo>
                      <a:pt x="17604" y="10930"/>
                    </a:lnTo>
                    <a:lnTo>
                      <a:pt x="18217" y="10930"/>
                    </a:lnTo>
                    <a:lnTo>
                      <a:pt x="18217" y="11690"/>
                    </a:lnTo>
                    <a:lnTo>
                      <a:pt x="19610" y="13577"/>
                    </a:lnTo>
                    <a:lnTo>
                      <a:pt x="19610" y="14000"/>
                    </a:lnTo>
                    <a:lnTo>
                      <a:pt x="19944" y="14282"/>
                    </a:lnTo>
                    <a:lnTo>
                      <a:pt x="19610" y="14592"/>
                    </a:lnTo>
                    <a:lnTo>
                      <a:pt x="19610" y="14732"/>
                    </a:lnTo>
                    <a:lnTo>
                      <a:pt x="19944" y="15014"/>
                    </a:lnTo>
                    <a:lnTo>
                      <a:pt x="19610" y="15437"/>
                    </a:lnTo>
                    <a:lnTo>
                      <a:pt x="19944" y="15775"/>
                    </a:lnTo>
                    <a:lnTo>
                      <a:pt x="19053" y="16479"/>
                    </a:lnTo>
                    <a:lnTo>
                      <a:pt x="17604" y="16930"/>
                    </a:lnTo>
                    <a:lnTo>
                      <a:pt x="16713" y="16930"/>
                    </a:lnTo>
                    <a:lnTo>
                      <a:pt x="16156" y="17352"/>
                    </a:lnTo>
                    <a:lnTo>
                      <a:pt x="13872" y="17803"/>
                    </a:lnTo>
                    <a:lnTo>
                      <a:pt x="13538" y="18085"/>
                    </a:lnTo>
                    <a:lnTo>
                      <a:pt x="12981" y="18817"/>
                    </a:lnTo>
                    <a:lnTo>
                      <a:pt x="12089" y="18366"/>
                    </a:lnTo>
                    <a:lnTo>
                      <a:pt x="12089" y="19239"/>
                    </a:lnTo>
                    <a:lnTo>
                      <a:pt x="10696" y="19239"/>
                    </a:lnTo>
                    <a:lnTo>
                      <a:pt x="8969" y="19972"/>
                    </a:lnTo>
                    <a:lnTo>
                      <a:pt x="8969" y="18535"/>
                    </a:lnTo>
                    <a:lnTo>
                      <a:pt x="9248" y="18366"/>
                    </a:lnTo>
                    <a:lnTo>
                      <a:pt x="8969" y="17803"/>
                    </a:lnTo>
                    <a:lnTo>
                      <a:pt x="8412" y="17803"/>
                    </a:lnTo>
                    <a:lnTo>
                      <a:pt x="7744" y="17634"/>
                    </a:lnTo>
                    <a:lnTo>
                      <a:pt x="10139" y="17042"/>
                    </a:lnTo>
                    <a:lnTo>
                      <a:pt x="11532" y="16930"/>
                    </a:lnTo>
                    <a:lnTo>
                      <a:pt x="11532" y="16479"/>
                    </a:lnTo>
                    <a:lnTo>
                      <a:pt x="11253" y="15887"/>
                    </a:lnTo>
                    <a:lnTo>
                      <a:pt x="12089" y="15775"/>
                    </a:lnTo>
                    <a:lnTo>
                      <a:pt x="13538" y="15437"/>
                    </a:lnTo>
                    <a:lnTo>
                      <a:pt x="14429" y="15324"/>
                    </a:lnTo>
                    <a:lnTo>
                      <a:pt x="15265" y="15014"/>
                    </a:lnTo>
                    <a:lnTo>
                      <a:pt x="15265" y="14000"/>
                    </a:lnTo>
                    <a:lnTo>
                      <a:pt x="15042" y="12845"/>
                    </a:lnTo>
                    <a:lnTo>
                      <a:pt x="15042" y="12394"/>
                    </a:lnTo>
                    <a:lnTo>
                      <a:pt x="15042" y="11972"/>
                    </a:lnTo>
                    <a:lnTo>
                      <a:pt x="15042" y="11521"/>
                    </a:lnTo>
                    <a:lnTo>
                      <a:pt x="15042" y="10930"/>
                    </a:lnTo>
                    <a:lnTo>
                      <a:pt x="14429" y="10930"/>
                    </a:lnTo>
                    <a:lnTo>
                      <a:pt x="14429" y="10085"/>
                    </a:lnTo>
                    <a:lnTo>
                      <a:pt x="12646" y="9324"/>
                    </a:lnTo>
                    <a:lnTo>
                      <a:pt x="11532" y="8592"/>
                    </a:lnTo>
                    <a:lnTo>
                      <a:pt x="10139" y="7887"/>
                    </a:lnTo>
                    <a:lnTo>
                      <a:pt x="9248" y="7296"/>
                    </a:lnTo>
                    <a:lnTo>
                      <a:pt x="8412" y="6732"/>
                    </a:lnTo>
                    <a:lnTo>
                      <a:pt x="7744" y="6563"/>
                    </a:lnTo>
                    <a:lnTo>
                      <a:pt x="5237" y="5549"/>
                    </a:lnTo>
                    <a:lnTo>
                      <a:pt x="5237" y="5127"/>
                    </a:lnTo>
                    <a:lnTo>
                      <a:pt x="6072" y="5127"/>
                    </a:lnTo>
                    <a:lnTo>
                      <a:pt x="6908" y="5127"/>
                    </a:lnTo>
                    <a:lnTo>
                      <a:pt x="6908" y="4394"/>
                    </a:lnTo>
                    <a:lnTo>
                      <a:pt x="6630" y="3944"/>
                    </a:lnTo>
                    <a:lnTo>
                      <a:pt x="6072" y="3944"/>
                    </a:lnTo>
                    <a:lnTo>
                      <a:pt x="5460" y="3521"/>
                    </a:lnTo>
                    <a:lnTo>
                      <a:pt x="3733" y="3521"/>
                    </a:lnTo>
                    <a:lnTo>
                      <a:pt x="1727" y="3070"/>
                    </a:lnTo>
                    <a:lnTo>
                      <a:pt x="1727" y="2366"/>
                    </a:lnTo>
                    <a:lnTo>
                      <a:pt x="1727" y="2028"/>
                    </a:lnTo>
                    <a:lnTo>
                      <a:pt x="557" y="1746"/>
                    </a:lnTo>
                    <a:lnTo>
                      <a:pt x="0" y="1324"/>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5" name="Google Shape;165;p18"/>
              <p:cNvSpPr/>
              <p:nvPr/>
            </p:nvSpPr>
            <p:spPr>
              <a:xfrm>
                <a:off x="3386799" y="6052668"/>
                <a:ext cx="268429" cy="294219"/>
              </a:xfrm>
              <a:custGeom>
                <a:rect b="b" l="l" r="r" t="t"/>
                <a:pathLst>
                  <a:path extrusionOk="0" h="20000" w="20000">
                    <a:moveTo>
                      <a:pt x="17207" y="19962"/>
                    </a:moveTo>
                    <a:lnTo>
                      <a:pt x="16140" y="18409"/>
                    </a:lnTo>
                    <a:lnTo>
                      <a:pt x="15524" y="18030"/>
                    </a:lnTo>
                    <a:lnTo>
                      <a:pt x="14661" y="17424"/>
                    </a:lnTo>
                    <a:lnTo>
                      <a:pt x="12936" y="16439"/>
                    </a:lnTo>
                    <a:lnTo>
                      <a:pt x="12936" y="15871"/>
                    </a:lnTo>
                    <a:lnTo>
                      <a:pt x="11663" y="14848"/>
                    </a:lnTo>
                    <a:lnTo>
                      <a:pt x="10637" y="13295"/>
                    </a:lnTo>
                    <a:lnTo>
                      <a:pt x="10637" y="13106"/>
                    </a:lnTo>
                    <a:lnTo>
                      <a:pt x="9569" y="11742"/>
                    </a:lnTo>
                    <a:lnTo>
                      <a:pt x="9569" y="11364"/>
                    </a:lnTo>
                    <a:lnTo>
                      <a:pt x="8501" y="10152"/>
                    </a:lnTo>
                    <a:lnTo>
                      <a:pt x="8296" y="9583"/>
                    </a:lnTo>
                    <a:lnTo>
                      <a:pt x="7433" y="9205"/>
                    </a:lnTo>
                    <a:lnTo>
                      <a:pt x="6571" y="7045"/>
                    </a:lnTo>
                    <a:lnTo>
                      <a:pt x="6776" y="6629"/>
                    </a:lnTo>
                    <a:lnTo>
                      <a:pt x="4682" y="5644"/>
                    </a:lnTo>
                    <a:lnTo>
                      <a:pt x="4435" y="4886"/>
                    </a:lnTo>
                    <a:lnTo>
                      <a:pt x="4025" y="4886"/>
                    </a:lnTo>
                    <a:lnTo>
                      <a:pt x="2957" y="3485"/>
                    </a:lnTo>
                    <a:lnTo>
                      <a:pt x="2752" y="3485"/>
                    </a:lnTo>
                    <a:lnTo>
                      <a:pt x="164" y="1553"/>
                    </a:lnTo>
                    <a:lnTo>
                      <a:pt x="0" y="758"/>
                    </a:lnTo>
                    <a:lnTo>
                      <a:pt x="0" y="0"/>
                    </a:lnTo>
                    <a:lnTo>
                      <a:pt x="1068" y="0"/>
                    </a:lnTo>
                    <a:lnTo>
                      <a:pt x="2752" y="758"/>
                    </a:lnTo>
                    <a:lnTo>
                      <a:pt x="4025" y="758"/>
                    </a:lnTo>
                    <a:lnTo>
                      <a:pt x="5503" y="1932"/>
                    </a:lnTo>
                    <a:lnTo>
                      <a:pt x="5503" y="2538"/>
                    </a:lnTo>
                    <a:lnTo>
                      <a:pt x="7885" y="4091"/>
                    </a:lnTo>
                    <a:lnTo>
                      <a:pt x="8912" y="4886"/>
                    </a:lnTo>
                    <a:lnTo>
                      <a:pt x="9979" y="6061"/>
                    </a:lnTo>
                    <a:lnTo>
                      <a:pt x="10637" y="5644"/>
                    </a:lnTo>
                    <a:lnTo>
                      <a:pt x="11047" y="6061"/>
                    </a:lnTo>
                    <a:lnTo>
                      <a:pt x="11253" y="7045"/>
                    </a:lnTo>
                    <a:lnTo>
                      <a:pt x="11910" y="7045"/>
                    </a:lnTo>
                    <a:lnTo>
                      <a:pt x="12320" y="7652"/>
                    </a:lnTo>
                    <a:lnTo>
                      <a:pt x="12936" y="8030"/>
                    </a:lnTo>
                    <a:lnTo>
                      <a:pt x="14004" y="8598"/>
                    </a:lnTo>
                    <a:lnTo>
                      <a:pt x="14456" y="8977"/>
                    </a:lnTo>
                    <a:lnTo>
                      <a:pt x="13593" y="9205"/>
                    </a:lnTo>
                    <a:lnTo>
                      <a:pt x="14456" y="9205"/>
                    </a:lnTo>
                    <a:lnTo>
                      <a:pt x="15113" y="8977"/>
                    </a:lnTo>
                    <a:lnTo>
                      <a:pt x="15524" y="9205"/>
                    </a:lnTo>
                    <a:lnTo>
                      <a:pt x="15688" y="9773"/>
                    </a:lnTo>
                    <a:lnTo>
                      <a:pt x="15113" y="10152"/>
                    </a:lnTo>
                    <a:lnTo>
                      <a:pt x="15688" y="10152"/>
                    </a:lnTo>
                    <a:lnTo>
                      <a:pt x="15113" y="10758"/>
                    </a:lnTo>
                    <a:lnTo>
                      <a:pt x="15688" y="11136"/>
                    </a:lnTo>
                    <a:lnTo>
                      <a:pt x="16797" y="11364"/>
                    </a:lnTo>
                    <a:lnTo>
                      <a:pt x="17207" y="12311"/>
                    </a:lnTo>
                    <a:lnTo>
                      <a:pt x="17864" y="13295"/>
                    </a:lnTo>
                    <a:lnTo>
                      <a:pt x="17454" y="13864"/>
                    </a:lnTo>
                    <a:lnTo>
                      <a:pt x="18070" y="13712"/>
                    </a:lnTo>
                    <a:lnTo>
                      <a:pt x="18891" y="13712"/>
                    </a:lnTo>
                    <a:lnTo>
                      <a:pt x="19548" y="14697"/>
                    </a:lnTo>
                    <a:lnTo>
                      <a:pt x="19959" y="14848"/>
                    </a:lnTo>
                    <a:lnTo>
                      <a:pt x="19138" y="15871"/>
                    </a:lnTo>
                    <a:lnTo>
                      <a:pt x="19548" y="16250"/>
                    </a:lnTo>
                    <a:lnTo>
                      <a:pt x="19548" y="17197"/>
                    </a:lnTo>
                    <a:lnTo>
                      <a:pt x="19138" y="19583"/>
                    </a:lnTo>
                    <a:lnTo>
                      <a:pt x="18070" y="18977"/>
                    </a:lnTo>
                    <a:lnTo>
                      <a:pt x="17864" y="19583"/>
                    </a:lnTo>
                    <a:lnTo>
                      <a:pt x="17207" y="19356"/>
                    </a:lnTo>
                    <a:lnTo>
                      <a:pt x="17207" y="19962"/>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6" name="Google Shape;166;p18"/>
              <p:cNvSpPr/>
              <p:nvPr/>
            </p:nvSpPr>
            <p:spPr>
              <a:xfrm>
                <a:off x="3637240" y="6346887"/>
                <a:ext cx="229687" cy="75298"/>
              </a:xfrm>
              <a:custGeom>
                <a:rect b="b" l="l" r="r" t="t"/>
                <a:pathLst>
                  <a:path extrusionOk="0" h="20000" w="20000">
                    <a:moveTo>
                      <a:pt x="19952" y="19853"/>
                    </a:moveTo>
                    <a:lnTo>
                      <a:pt x="18699" y="18382"/>
                    </a:lnTo>
                    <a:lnTo>
                      <a:pt x="16916" y="16029"/>
                    </a:lnTo>
                    <a:lnTo>
                      <a:pt x="15952" y="17500"/>
                    </a:lnTo>
                    <a:lnTo>
                      <a:pt x="14747" y="16029"/>
                    </a:lnTo>
                    <a:lnTo>
                      <a:pt x="13687" y="16029"/>
                    </a:lnTo>
                    <a:lnTo>
                      <a:pt x="12193" y="15294"/>
                    </a:lnTo>
                    <a:lnTo>
                      <a:pt x="10988" y="13824"/>
                    </a:lnTo>
                    <a:lnTo>
                      <a:pt x="8482" y="11471"/>
                    </a:lnTo>
                    <a:lnTo>
                      <a:pt x="6988" y="12059"/>
                    </a:lnTo>
                    <a:lnTo>
                      <a:pt x="5012" y="9853"/>
                    </a:lnTo>
                    <a:lnTo>
                      <a:pt x="2458" y="8382"/>
                    </a:lnTo>
                    <a:lnTo>
                      <a:pt x="2940" y="7647"/>
                    </a:lnTo>
                    <a:lnTo>
                      <a:pt x="1253" y="6029"/>
                    </a:lnTo>
                    <a:lnTo>
                      <a:pt x="0" y="5441"/>
                    </a:lnTo>
                    <a:lnTo>
                      <a:pt x="482" y="5441"/>
                    </a:lnTo>
                    <a:lnTo>
                      <a:pt x="964" y="5441"/>
                    </a:lnTo>
                    <a:lnTo>
                      <a:pt x="1735" y="2353"/>
                    </a:lnTo>
                    <a:lnTo>
                      <a:pt x="2217" y="0"/>
                    </a:lnTo>
                    <a:lnTo>
                      <a:pt x="4241" y="1471"/>
                    </a:lnTo>
                    <a:lnTo>
                      <a:pt x="4241" y="0"/>
                    </a:lnTo>
                    <a:lnTo>
                      <a:pt x="5012" y="0"/>
                    </a:lnTo>
                    <a:lnTo>
                      <a:pt x="5687" y="1471"/>
                    </a:lnTo>
                    <a:lnTo>
                      <a:pt x="6217" y="2353"/>
                    </a:lnTo>
                    <a:lnTo>
                      <a:pt x="6988" y="1471"/>
                    </a:lnTo>
                    <a:lnTo>
                      <a:pt x="7470" y="5441"/>
                    </a:lnTo>
                    <a:lnTo>
                      <a:pt x="10699" y="6029"/>
                    </a:lnTo>
                    <a:lnTo>
                      <a:pt x="11470" y="6029"/>
                    </a:lnTo>
                    <a:lnTo>
                      <a:pt x="11711" y="3824"/>
                    </a:lnTo>
                    <a:lnTo>
                      <a:pt x="12723" y="3824"/>
                    </a:lnTo>
                    <a:lnTo>
                      <a:pt x="12964" y="5441"/>
                    </a:lnTo>
                    <a:lnTo>
                      <a:pt x="13446" y="5441"/>
                    </a:lnTo>
                    <a:lnTo>
                      <a:pt x="14747" y="5441"/>
                    </a:lnTo>
                    <a:lnTo>
                      <a:pt x="15470" y="6029"/>
                    </a:lnTo>
                    <a:lnTo>
                      <a:pt x="16241" y="9853"/>
                    </a:lnTo>
                    <a:lnTo>
                      <a:pt x="17494" y="12059"/>
                    </a:lnTo>
                    <a:lnTo>
                      <a:pt x="17976" y="11471"/>
                    </a:lnTo>
                    <a:lnTo>
                      <a:pt x="18988" y="11471"/>
                    </a:lnTo>
                    <a:lnTo>
                      <a:pt x="19952" y="12059"/>
                    </a:lnTo>
                    <a:lnTo>
                      <a:pt x="19470" y="13824"/>
                    </a:lnTo>
                    <a:lnTo>
                      <a:pt x="19470" y="16029"/>
                    </a:lnTo>
                    <a:lnTo>
                      <a:pt x="19952" y="18382"/>
                    </a:lnTo>
                    <a:lnTo>
                      <a:pt x="19952" y="19853"/>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7" name="Google Shape;167;p18"/>
              <p:cNvSpPr/>
              <p:nvPr/>
            </p:nvSpPr>
            <p:spPr>
              <a:xfrm>
                <a:off x="4082776" y="6412423"/>
                <a:ext cx="98240" cy="52988"/>
              </a:xfrm>
              <a:custGeom>
                <a:rect b="b" l="l" r="r" t="t"/>
                <a:pathLst>
                  <a:path extrusionOk="0" h="20000" w="20000">
                    <a:moveTo>
                      <a:pt x="2373" y="19787"/>
                    </a:moveTo>
                    <a:lnTo>
                      <a:pt x="0" y="19787"/>
                    </a:lnTo>
                    <a:lnTo>
                      <a:pt x="678" y="15532"/>
                    </a:lnTo>
                    <a:lnTo>
                      <a:pt x="1808" y="12128"/>
                    </a:lnTo>
                    <a:lnTo>
                      <a:pt x="4633" y="8723"/>
                    </a:lnTo>
                    <a:lnTo>
                      <a:pt x="7684" y="6596"/>
                    </a:lnTo>
                    <a:lnTo>
                      <a:pt x="9379" y="3404"/>
                    </a:lnTo>
                    <a:lnTo>
                      <a:pt x="14124" y="0"/>
                    </a:lnTo>
                    <a:lnTo>
                      <a:pt x="19887" y="0"/>
                    </a:lnTo>
                    <a:lnTo>
                      <a:pt x="17627" y="3404"/>
                    </a:lnTo>
                    <a:lnTo>
                      <a:pt x="16949" y="3404"/>
                    </a:lnTo>
                    <a:lnTo>
                      <a:pt x="14576" y="5532"/>
                    </a:lnTo>
                    <a:lnTo>
                      <a:pt x="7684" y="12128"/>
                    </a:lnTo>
                    <a:lnTo>
                      <a:pt x="4633" y="17660"/>
                    </a:lnTo>
                    <a:lnTo>
                      <a:pt x="3503" y="17660"/>
                    </a:lnTo>
                    <a:lnTo>
                      <a:pt x="2373" y="19787"/>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8" name="Google Shape;168;p18"/>
              <p:cNvSpPr/>
              <p:nvPr/>
            </p:nvSpPr>
            <p:spPr>
              <a:xfrm>
                <a:off x="3994224" y="6404057"/>
                <a:ext cx="84403" cy="23705"/>
              </a:xfrm>
              <a:custGeom>
                <a:rect b="b" l="l" r="r" t="t"/>
                <a:pathLst>
                  <a:path extrusionOk="0" h="20000" w="20000">
                    <a:moveTo>
                      <a:pt x="8947" y="19524"/>
                    </a:moveTo>
                    <a:lnTo>
                      <a:pt x="5395" y="19524"/>
                    </a:lnTo>
                    <a:lnTo>
                      <a:pt x="4079" y="14762"/>
                    </a:lnTo>
                    <a:lnTo>
                      <a:pt x="0" y="14762"/>
                    </a:lnTo>
                    <a:lnTo>
                      <a:pt x="0" y="10000"/>
                    </a:lnTo>
                    <a:lnTo>
                      <a:pt x="1447" y="7143"/>
                    </a:lnTo>
                    <a:lnTo>
                      <a:pt x="4079" y="2857"/>
                    </a:lnTo>
                    <a:lnTo>
                      <a:pt x="7500" y="7143"/>
                    </a:lnTo>
                    <a:lnTo>
                      <a:pt x="9605" y="10000"/>
                    </a:lnTo>
                    <a:lnTo>
                      <a:pt x="11053" y="7143"/>
                    </a:lnTo>
                    <a:lnTo>
                      <a:pt x="15789" y="10000"/>
                    </a:lnTo>
                    <a:lnTo>
                      <a:pt x="16447" y="7143"/>
                    </a:lnTo>
                    <a:lnTo>
                      <a:pt x="17763" y="7143"/>
                    </a:lnTo>
                    <a:lnTo>
                      <a:pt x="17763" y="2857"/>
                    </a:lnTo>
                    <a:lnTo>
                      <a:pt x="18553" y="0"/>
                    </a:lnTo>
                    <a:lnTo>
                      <a:pt x="19868" y="2857"/>
                    </a:lnTo>
                    <a:lnTo>
                      <a:pt x="17763" y="10000"/>
                    </a:lnTo>
                    <a:lnTo>
                      <a:pt x="13026" y="14762"/>
                    </a:lnTo>
                    <a:lnTo>
                      <a:pt x="12368" y="19524"/>
                    </a:lnTo>
                    <a:lnTo>
                      <a:pt x="9605" y="14762"/>
                    </a:lnTo>
                    <a:lnTo>
                      <a:pt x="8947" y="19524"/>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69" name="Google Shape;169;p18"/>
              <p:cNvSpPr/>
              <p:nvPr/>
            </p:nvSpPr>
            <p:spPr>
              <a:xfrm>
                <a:off x="3974851" y="6436128"/>
                <a:ext cx="42893" cy="29281"/>
              </a:xfrm>
              <a:custGeom>
                <a:rect b="b" l="l" r="r" t="t"/>
                <a:pathLst>
                  <a:path extrusionOk="0" h="20000" w="20000">
                    <a:moveTo>
                      <a:pt x="15897" y="19615"/>
                    </a:moveTo>
                    <a:lnTo>
                      <a:pt x="12051" y="11923"/>
                    </a:lnTo>
                    <a:lnTo>
                      <a:pt x="5128" y="5769"/>
                    </a:lnTo>
                    <a:lnTo>
                      <a:pt x="0" y="5769"/>
                    </a:lnTo>
                    <a:lnTo>
                      <a:pt x="0" y="2308"/>
                    </a:lnTo>
                    <a:lnTo>
                      <a:pt x="6667" y="2308"/>
                    </a:lnTo>
                    <a:lnTo>
                      <a:pt x="12051" y="0"/>
                    </a:lnTo>
                    <a:lnTo>
                      <a:pt x="13077" y="5769"/>
                    </a:lnTo>
                    <a:lnTo>
                      <a:pt x="17179" y="5769"/>
                    </a:lnTo>
                    <a:lnTo>
                      <a:pt x="19744" y="11923"/>
                    </a:lnTo>
                    <a:lnTo>
                      <a:pt x="17179" y="15769"/>
                    </a:lnTo>
                    <a:lnTo>
                      <a:pt x="15897" y="19615"/>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0" name="Google Shape;170;p18"/>
              <p:cNvSpPr/>
              <p:nvPr/>
            </p:nvSpPr>
            <p:spPr>
              <a:xfrm>
                <a:off x="3865543" y="6404057"/>
                <a:ext cx="31824" cy="12550"/>
              </a:xfrm>
              <a:custGeom>
                <a:rect b="b" l="l" r="r" t="t"/>
                <a:pathLst>
                  <a:path extrusionOk="0" h="20000" w="20000">
                    <a:moveTo>
                      <a:pt x="10690" y="19091"/>
                    </a:moveTo>
                    <a:lnTo>
                      <a:pt x="5517" y="13636"/>
                    </a:lnTo>
                    <a:lnTo>
                      <a:pt x="0" y="13636"/>
                    </a:lnTo>
                    <a:lnTo>
                      <a:pt x="0" y="0"/>
                    </a:lnTo>
                    <a:lnTo>
                      <a:pt x="5517" y="5455"/>
                    </a:lnTo>
                    <a:lnTo>
                      <a:pt x="10690" y="0"/>
                    </a:lnTo>
                    <a:lnTo>
                      <a:pt x="19655" y="13636"/>
                    </a:lnTo>
                    <a:lnTo>
                      <a:pt x="10690" y="13636"/>
                    </a:lnTo>
                    <a:lnTo>
                      <a:pt x="10690" y="19091"/>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1" name="Google Shape;171;p18"/>
              <p:cNvSpPr/>
              <p:nvPr/>
            </p:nvSpPr>
            <p:spPr>
              <a:xfrm>
                <a:off x="3828184" y="6369197"/>
                <a:ext cx="27673" cy="9760"/>
              </a:xfrm>
              <a:custGeom>
                <a:rect b="b" l="l" r="r" t="t"/>
                <a:pathLst>
                  <a:path extrusionOk="0" h="20000" w="20000">
                    <a:moveTo>
                      <a:pt x="10833" y="18824"/>
                    </a:moveTo>
                    <a:lnTo>
                      <a:pt x="0" y="12941"/>
                    </a:lnTo>
                    <a:lnTo>
                      <a:pt x="0" y="0"/>
                    </a:lnTo>
                    <a:lnTo>
                      <a:pt x="19583" y="0"/>
                    </a:lnTo>
                    <a:lnTo>
                      <a:pt x="17083" y="12941"/>
                    </a:lnTo>
                    <a:lnTo>
                      <a:pt x="12917" y="12941"/>
                    </a:lnTo>
                    <a:lnTo>
                      <a:pt x="10833" y="18824"/>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2" name="Google Shape;172;p18"/>
              <p:cNvSpPr/>
              <p:nvPr/>
            </p:nvSpPr>
            <p:spPr>
              <a:xfrm>
                <a:off x="3897367" y="6406846"/>
                <a:ext cx="17987" cy="20916"/>
              </a:xfrm>
              <a:custGeom>
                <a:rect b="b" l="l" r="r" t="t"/>
                <a:pathLst>
                  <a:path extrusionOk="0" h="20000" w="20000">
                    <a:moveTo>
                      <a:pt x="16250" y="19459"/>
                    </a:moveTo>
                    <a:lnTo>
                      <a:pt x="0" y="14054"/>
                    </a:lnTo>
                    <a:lnTo>
                      <a:pt x="0" y="8649"/>
                    </a:lnTo>
                    <a:lnTo>
                      <a:pt x="9375" y="14054"/>
                    </a:lnTo>
                    <a:lnTo>
                      <a:pt x="6875" y="5405"/>
                    </a:lnTo>
                    <a:lnTo>
                      <a:pt x="9375" y="0"/>
                    </a:lnTo>
                    <a:lnTo>
                      <a:pt x="19375" y="0"/>
                    </a:lnTo>
                    <a:lnTo>
                      <a:pt x="16250" y="19459"/>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3" name="Google Shape;173;p18"/>
              <p:cNvSpPr/>
              <p:nvPr/>
            </p:nvSpPr>
            <p:spPr>
              <a:xfrm>
                <a:off x="3731324" y="6095903"/>
                <a:ext cx="249059" cy="204976"/>
              </a:xfrm>
              <a:custGeom>
                <a:rect b="b" l="l" r="r" t="t"/>
                <a:pathLst>
                  <a:path extrusionOk="0" h="20000" w="20000">
                    <a:moveTo>
                      <a:pt x="1818" y="5312"/>
                    </a:moveTo>
                    <a:lnTo>
                      <a:pt x="2262" y="6775"/>
                    </a:lnTo>
                    <a:lnTo>
                      <a:pt x="4346" y="7588"/>
                    </a:lnTo>
                    <a:lnTo>
                      <a:pt x="5499" y="7588"/>
                    </a:lnTo>
                    <a:lnTo>
                      <a:pt x="7982" y="8130"/>
                    </a:lnTo>
                    <a:lnTo>
                      <a:pt x="9889" y="7317"/>
                    </a:lnTo>
                    <a:lnTo>
                      <a:pt x="11885" y="5908"/>
                    </a:lnTo>
                    <a:lnTo>
                      <a:pt x="12151" y="3089"/>
                    </a:lnTo>
                    <a:lnTo>
                      <a:pt x="13304" y="2818"/>
                    </a:lnTo>
                    <a:lnTo>
                      <a:pt x="13969" y="0"/>
                    </a:lnTo>
                    <a:lnTo>
                      <a:pt x="17428" y="325"/>
                    </a:lnTo>
                    <a:lnTo>
                      <a:pt x="17428" y="867"/>
                    </a:lnTo>
                    <a:lnTo>
                      <a:pt x="16984" y="1409"/>
                    </a:lnTo>
                    <a:lnTo>
                      <a:pt x="16984" y="1680"/>
                    </a:lnTo>
                    <a:lnTo>
                      <a:pt x="16763" y="1680"/>
                    </a:lnTo>
                    <a:lnTo>
                      <a:pt x="16763" y="2222"/>
                    </a:lnTo>
                    <a:lnTo>
                      <a:pt x="17428" y="2818"/>
                    </a:lnTo>
                    <a:lnTo>
                      <a:pt x="17694" y="3686"/>
                    </a:lnTo>
                    <a:lnTo>
                      <a:pt x="17694" y="3902"/>
                    </a:lnTo>
                    <a:lnTo>
                      <a:pt x="17428" y="5095"/>
                    </a:lnTo>
                    <a:lnTo>
                      <a:pt x="18137" y="5312"/>
                    </a:lnTo>
                    <a:lnTo>
                      <a:pt x="19246" y="6775"/>
                    </a:lnTo>
                    <a:lnTo>
                      <a:pt x="19956" y="7317"/>
                    </a:lnTo>
                    <a:lnTo>
                      <a:pt x="19512" y="7588"/>
                    </a:lnTo>
                    <a:lnTo>
                      <a:pt x="17694" y="8130"/>
                    </a:lnTo>
                    <a:lnTo>
                      <a:pt x="16984" y="8726"/>
                    </a:lnTo>
                    <a:lnTo>
                      <a:pt x="16763" y="10407"/>
                    </a:lnTo>
                    <a:lnTo>
                      <a:pt x="16984" y="11762"/>
                    </a:lnTo>
                    <a:lnTo>
                      <a:pt x="15610" y="13171"/>
                    </a:lnTo>
                    <a:lnTo>
                      <a:pt x="14457" y="14038"/>
                    </a:lnTo>
                    <a:lnTo>
                      <a:pt x="14678" y="14634"/>
                    </a:lnTo>
                    <a:lnTo>
                      <a:pt x="14457" y="16856"/>
                    </a:lnTo>
                    <a:lnTo>
                      <a:pt x="13792" y="18537"/>
                    </a:lnTo>
                    <a:lnTo>
                      <a:pt x="10998" y="19946"/>
                    </a:lnTo>
                    <a:lnTo>
                      <a:pt x="10776" y="17940"/>
                    </a:lnTo>
                    <a:lnTo>
                      <a:pt x="9889" y="17940"/>
                    </a:lnTo>
                    <a:lnTo>
                      <a:pt x="9180" y="18537"/>
                    </a:lnTo>
                    <a:lnTo>
                      <a:pt x="9180" y="17073"/>
                    </a:lnTo>
                    <a:lnTo>
                      <a:pt x="8958" y="17724"/>
                    </a:lnTo>
                    <a:lnTo>
                      <a:pt x="7982" y="17073"/>
                    </a:lnTo>
                    <a:lnTo>
                      <a:pt x="7805" y="17724"/>
                    </a:lnTo>
                    <a:lnTo>
                      <a:pt x="7095" y="17940"/>
                    </a:lnTo>
                    <a:lnTo>
                      <a:pt x="6652" y="17724"/>
                    </a:lnTo>
                    <a:lnTo>
                      <a:pt x="5987" y="18537"/>
                    </a:lnTo>
                    <a:lnTo>
                      <a:pt x="5499" y="17073"/>
                    </a:lnTo>
                    <a:lnTo>
                      <a:pt x="4789" y="16856"/>
                    </a:lnTo>
                    <a:lnTo>
                      <a:pt x="3636" y="17073"/>
                    </a:lnTo>
                    <a:lnTo>
                      <a:pt x="3193" y="16856"/>
                    </a:lnTo>
                    <a:lnTo>
                      <a:pt x="2528" y="17073"/>
                    </a:lnTo>
                    <a:lnTo>
                      <a:pt x="2528" y="15447"/>
                    </a:lnTo>
                    <a:lnTo>
                      <a:pt x="2528" y="14634"/>
                    </a:lnTo>
                    <a:lnTo>
                      <a:pt x="2262" y="12629"/>
                    </a:lnTo>
                    <a:lnTo>
                      <a:pt x="1375" y="11762"/>
                    </a:lnTo>
                    <a:lnTo>
                      <a:pt x="710" y="11762"/>
                    </a:lnTo>
                    <a:lnTo>
                      <a:pt x="1153" y="11220"/>
                    </a:lnTo>
                    <a:lnTo>
                      <a:pt x="266" y="10949"/>
                    </a:lnTo>
                    <a:lnTo>
                      <a:pt x="710" y="9864"/>
                    </a:lnTo>
                    <a:lnTo>
                      <a:pt x="0" y="8997"/>
                    </a:lnTo>
                    <a:lnTo>
                      <a:pt x="0" y="7588"/>
                    </a:lnTo>
                    <a:lnTo>
                      <a:pt x="266" y="6179"/>
                    </a:lnTo>
                    <a:lnTo>
                      <a:pt x="710" y="5312"/>
                    </a:lnTo>
                    <a:lnTo>
                      <a:pt x="1153" y="5095"/>
                    </a:lnTo>
                    <a:lnTo>
                      <a:pt x="1375" y="5095"/>
                    </a:lnTo>
                    <a:lnTo>
                      <a:pt x="1818" y="5312"/>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4" name="Google Shape;174;p18"/>
              <p:cNvSpPr/>
              <p:nvPr/>
            </p:nvSpPr>
            <p:spPr>
              <a:xfrm>
                <a:off x="3753466" y="6015018"/>
                <a:ext cx="232454" cy="164539"/>
              </a:xfrm>
              <a:custGeom>
                <a:rect b="b" l="l" r="r" t="t"/>
                <a:pathLst>
                  <a:path extrusionOk="0" h="20000" w="20000">
                    <a:moveTo>
                      <a:pt x="9619" y="7365"/>
                    </a:moveTo>
                    <a:lnTo>
                      <a:pt x="9857" y="9797"/>
                    </a:lnTo>
                    <a:lnTo>
                      <a:pt x="10810" y="8716"/>
                    </a:lnTo>
                    <a:lnTo>
                      <a:pt x="11571" y="8716"/>
                    </a:lnTo>
                    <a:lnTo>
                      <a:pt x="10810" y="7365"/>
                    </a:lnTo>
                    <a:lnTo>
                      <a:pt x="11095" y="6959"/>
                    </a:lnTo>
                    <a:lnTo>
                      <a:pt x="11571" y="5270"/>
                    </a:lnTo>
                    <a:lnTo>
                      <a:pt x="12286" y="4595"/>
                    </a:lnTo>
                    <a:lnTo>
                      <a:pt x="12857" y="5270"/>
                    </a:lnTo>
                    <a:lnTo>
                      <a:pt x="13571" y="2500"/>
                    </a:lnTo>
                    <a:lnTo>
                      <a:pt x="14333" y="0"/>
                    </a:lnTo>
                    <a:lnTo>
                      <a:pt x="14810" y="743"/>
                    </a:lnTo>
                    <a:lnTo>
                      <a:pt x="14810" y="1757"/>
                    </a:lnTo>
                    <a:lnTo>
                      <a:pt x="15000" y="743"/>
                    </a:lnTo>
                    <a:lnTo>
                      <a:pt x="15524" y="743"/>
                    </a:lnTo>
                    <a:lnTo>
                      <a:pt x="15524" y="1757"/>
                    </a:lnTo>
                    <a:lnTo>
                      <a:pt x="16286" y="1757"/>
                    </a:lnTo>
                    <a:lnTo>
                      <a:pt x="16286" y="2770"/>
                    </a:lnTo>
                    <a:lnTo>
                      <a:pt x="16762" y="3514"/>
                    </a:lnTo>
                    <a:lnTo>
                      <a:pt x="17048" y="3514"/>
                    </a:lnTo>
                    <a:lnTo>
                      <a:pt x="17048" y="4189"/>
                    </a:lnTo>
                    <a:lnTo>
                      <a:pt x="16762" y="4595"/>
                    </a:lnTo>
                    <a:lnTo>
                      <a:pt x="17524" y="4595"/>
                    </a:lnTo>
                    <a:lnTo>
                      <a:pt x="18000" y="4189"/>
                    </a:lnTo>
                    <a:lnTo>
                      <a:pt x="19000" y="5270"/>
                    </a:lnTo>
                    <a:lnTo>
                      <a:pt x="19952" y="5270"/>
                    </a:lnTo>
                    <a:lnTo>
                      <a:pt x="19952" y="6284"/>
                    </a:lnTo>
                    <a:lnTo>
                      <a:pt x="19000" y="6284"/>
                    </a:lnTo>
                    <a:lnTo>
                      <a:pt x="18238" y="6959"/>
                    </a:lnTo>
                    <a:lnTo>
                      <a:pt x="18000" y="6959"/>
                    </a:lnTo>
                    <a:lnTo>
                      <a:pt x="17524" y="6959"/>
                    </a:lnTo>
                    <a:lnTo>
                      <a:pt x="18714" y="8716"/>
                    </a:lnTo>
                    <a:lnTo>
                      <a:pt x="17048" y="9122"/>
                    </a:lnTo>
                    <a:lnTo>
                      <a:pt x="16762" y="8716"/>
                    </a:lnTo>
                    <a:lnTo>
                      <a:pt x="16286" y="9122"/>
                    </a:lnTo>
                    <a:lnTo>
                      <a:pt x="16762" y="10135"/>
                    </a:lnTo>
                    <a:lnTo>
                      <a:pt x="13048" y="9797"/>
                    </a:lnTo>
                    <a:lnTo>
                      <a:pt x="12286" y="13311"/>
                    </a:lnTo>
                    <a:lnTo>
                      <a:pt x="11095" y="13581"/>
                    </a:lnTo>
                    <a:lnTo>
                      <a:pt x="10810" y="17162"/>
                    </a:lnTo>
                    <a:lnTo>
                      <a:pt x="8667" y="18851"/>
                    </a:lnTo>
                    <a:lnTo>
                      <a:pt x="6619" y="19932"/>
                    </a:lnTo>
                    <a:lnTo>
                      <a:pt x="3905" y="19257"/>
                    </a:lnTo>
                    <a:lnTo>
                      <a:pt x="2714" y="19257"/>
                    </a:lnTo>
                    <a:lnTo>
                      <a:pt x="476" y="18176"/>
                    </a:lnTo>
                    <a:lnTo>
                      <a:pt x="0" y="16419"/>
                    </a:lnTo>
                    <a:lnTo>
                      <a:pt x="1238" y="16419"/>
                    </a:lnTo>
                    <a:lnTo>
                      <a:pt x="1952" y="17162"/>
                    </a:lnTo>
                    <a:lnTo>
                      <a:pt x="2476" y="17162"/>
                    </a:lnTo>
                    <a:lnTo>
                      <a:pt x="2714" y="15405"/>
                    </a:lnTo>
                    <a:lnTo>
                      <a:pt x="3190" y="13581"/>
                    </a:lnTo>
                    <a:lnTo>
                      <a:pt x="4476" y="13311"/>
                    </a:lnTo>
                    <a:lnTo>
                      <a:pt x="6619" y="11892"/>
                    </a:lnTo>
                    <a:lnTo>
                      <a:pt x="9143" y="8041"/>
                    </a:lnTo>
                    <a:lnTo>
                      <a:pt x="9619" y="7365"/>
                    </a:lnTo>
                    <a:close/>
                  </a:path>
                </a:pathLst>
              </a:custGeom>
              <a:solidFill>
                <a:srgbClr val="102F4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lay"/>
                  <a:ea typeface="Play"/>
                  <a:cs typeface="Play"/>
                  <a:sym typeface="Play"/>
                </a:endParaRPr>
              </a:p>
            </p:txBody>
          </p:sp>
          <p:sp>
            <p:nvSpPr>
              <p:cNvPr id="175" name="Google Shape;175;p18"/>
              <p:cNvSpPr/>
              <p:nvPr/>
            </p:nvSpPr>
            <p:spPr>
              <a:xfrm rot="-1394513">
                <a:off x="3981388" y="5024742"/>
                <a:ext cx="181926" cy="169200"/>
              </a:xfrm>
              <a:custGeom>
                <a:rect b="b" l="l" r="r" t="t"/>
                <a:pathLst>
                  <a:path extrusionOk="0" h="149658" w="179705">
                    <a:moveTo>
                      <a:pt x="32302" y="54242"/>
                    </a:moveTo>
                    <a:cubicBezTo>
                      <a:pt x="35692" y="47354"/>
                      <a:pt x="42444" y="22609"/>
                      <a:pt x="50260" y="15293"/>
                    </a:cubicBezTo>
                    <a:cubicBezTo>
                      <a:pt x="58076" y="7977"/>
                      <a:pt x="75141" y="13391"/>
                      <a:pt x="79199" y="10347"/>
                    </a:cubicBezTo>
                    <a:cubicBezTo>
                      <a:pt x="80787" y="7172"/>
                      <a:pt x="83556" y="10920"/>
                      <a:pt x="89452" y="11379"/>
                    </a:cubicBezTo>
                    <a:cubicBezTo>
                      <a:pt x="95348" y="11838"/>
                      <a:pt x="107189" y="14051"/>
                      <a:pt x="114574" y="13103"/>
                    </a:cubicBezTo>
                    <a:cubicBezTo>
                      <a:pt x="121959" y="12155"/>
                      <a:pt x="127415" y="6483"/>
                      <a:pt x="133765" y="5689"/>
                    </a:cubicBezTo>
                    <a:cubicBezTo>
                      <a:pt x="141881" y="3814"/>
                      <a:pt x="155636" y="-3331"/>
                      <a:pt x="163270" y="1854"/>
                    </a:cubicBezTo>
                    <a:cubicBezTo>
                      <a:pt x="170904" y="7039"/>
                      <a:pt x="178376" y="22910"/>
                      <a:pt x="179567" y="36801"/>
                    </a:cubicBezTo>
                    <a:cubicBezTo>
                      <a:pt x="180758" y="50692"/>
                      <a:pt x="173954" y="75017"/>
                      <a:pt x="170414" y="85198"/>
                    </a:cubicBezTo>
                    <a:cubicBezTo>
                      <a:pt x="166874" y="95379"/>
                      <a:pt x="162119" y="95409"/>
                      <a:pt x="158326" y="97888"/>
                    </a:cubicBezTo>
                    <a:cubicBezTo>
                      <a:pt x="154533" y="100367"/>
                      <a:pt x="151702" y="98760"/>
                      <a:pt x="147656" y="100074"/>
                    </a:cubicBezTo>
                    <a:cubicBezTo>
                      <a:pt x="143610" y="101388"/>
                      <a:pt x="138103" y="103974"/>
                      <a:pt x="134051" y="105770"/>
                    </a:cubicBezTo>
                    <a:cubicBezTo>
                      <a:pt x="129999" y="107566"/>
                      <a:pt x="127554" y="109116"/>
                      <a:pt x="123341" y="110850"/>
                    </a:cubicBezTo>
                    <a:cubicBezTo>
                      <a:pt x="119128" y="112584"/>
                      <a:pt x="113538" y="115383"/>
                      <a:pt x="108775" y="116177"/>
                    </a:cubicBezTo>
                    <a:cubicBezTo>
                      <a:pt x="105600" y="118558"/>
                      <a:pt x="101024" y="125730"/>
                      <a:pt x="95819" y="128107"/>
                    </a:cubicBezTo>
                    <a:cubicBezTo>
                      <a:pt x="90614" y="130485"/>
                      <a:pt x="82178" y="128465"/>
                      <a:pt x="77545" y="130442"/>
                    </a:cubicBezTo>
                    <a:cubicBezTo>
                      <a:pt x="72912" y="132419"/>
                      <a:pt x="71195" y="136792"/>
                      <a:pt x="68020" y="139967"/>
                    </a:cubicBezTo>
                    <a:cubicBezTo>
                      <a:pt x="58703" y="146385"/>
                      <a:pt x="16136" y="149830"/>
                      <a:pt x="5060" y="149652"/>
                    </a:cubicBezTo>
                    <a:cubicBezTo>
                      <a:pt x="-6016" y="149474"/>
                      <a:pt x="4227" y="122606"/>
                      <a:pt x="6386" y="112260"/>
                    </a:cubicBezTo>
                    <a:cubicBezTo>
                      <a:pt x="8545" y="101915"/>
                      <a:pt x="16799" y="105812"/>
                      <a:pt x="18014" y="87579"/>
                    </a:cubicBezTo>
                    <a:cubicBezTo>
                      <a:pt x="19043" y="72140"/>
                      <a:pt x="19485" y="68548"/>
                      <a:pt x="29920" y="56623"/>
                    </a:cubicBezTo>
                    <a:cubicBezTo>
                      <a:pt x="31805" y="54469"/>
                      <a:pt x="28912" y="61130"/>
                      <a:pt x="32302" y="54242"/>
                    </a:cubicBezTo>
                    <a:close/>
                  </a:path>
                </a:pathLst>
              </a:custGeom>
              <a:solidFill>
                <a:srgbClr val="102F4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grpSp>
        <p:cxnSp>
          <p:nvCxnSpPr>
            <p:cNvPr id="176" name="Google Shape;176;p18"/>
            <p:cNvCxnSpPr/>
            <p:nvPr/>
          </p:nvCxnSpPr>
          <p:spPr>
            <a:xfrm>
              <a:off x="1120183" y="6499055"/>
              <a:ext cx="1565244" cy="0"/>
            </a:xfrm>
            <a:prstGeom prst="straightConnector1">
              <a:avLst/>
            </a:prstGeom>
            <a:noFill/>
            <a:ln cap="flat" cmpd="sng" w="12700">
              <a:solidFill>
                <a:schemeClr val="dk2"/>
              </a:solidFill>
              <a:prstDash val="solid"/>
              <a:miter lim="800000"/>
              <a:headEnd len="sm" w="sm" type="none"/>
              <a:tailEnd len="sm" w="sm" type="none"/>
            </a:ln>
          </p:spPr>
        </p:cxnSp>
        <p:sp>
          <p:nvSpPr>
            <p:cNvPr id="177" name="Google Shape;177;p18"/>
            <p:cNvSpPr txBox="1"/>
            <p:nvPr/>
          </p:nvSpPr>
          <p:spPr>
            <a:xfrm>
              <a:off x="1120181" y="6235608"/>
              <a:ext cx="1477082" cy="263451"/>
            </a:xfrm>
            <a:prstGeom prst="rect">
              <a:avLst/>
            </a:prstGeom>
            <a:noFill/>
            <a:ln>
              <a:noFill/>
            </a:ln>
          </p:spPr>
          <p:txBody>
            <a:bodyPr anchorCtr="0" anchor="b" bIns="36000" lIns="0" spcFirstLastPara="1" rIns="0" wrap="square" tIns="45700">
              <a:spAutoFit/>
            </a:bodyPr>
            <a:lstStyle/>
            <a:p>
              <a:pPr indent="0" lvl="0" marL="0" marR="0" rtl="0" algn="just">
                <a:lnSpc>
                  <a:spcPct val="100000"/>
                </a:lnSpc>
                <a:spcBef>
                  <a:spcPts val="0"/>
                </a:spcBef>
                <a:spcAft>
                  <a:spcPts val="0"/>
                </a:spcAft>
                <a:buClr>
                  <a:srgbClr val="000000"/>
                </a:buClr>
                <a:buSzPts val="800"/>
                <a:buFont typeface="Arial"/>
                <a:buNone/>
              </a:pPr>
              <a:r>
                <a:rPr b="0" i="0" lang="en-US" sz="800" u="none" cap="none" strike="noStrike">
                  <a:solidFill>
                    <a:schemeClr val="dk2"/>
                  </a:solidFill>
                  <a:latin typeface="Proxima Nova"/>
                  <a:ea typeface="Proxima Nova"/>
                  <a:cs typeface="Proxima Nova"/>
                  <a:sym typeface="Proxima Nova"/>
                </a:rPr>
                <a:t>Singapore | Malaysia | Indonesia | Vietnam</a:t>
              </a:r>
              <a:endParaRPr b="0" i="0" sz="1400" u="none" cap="none" strike="noStrike">
                <a:solidFill>
                  <a:srgbClr val="000000"/>
                </a:solidFill>
                <a:latin typeface="Arial"/>
                <a:ea typeface="Arial"/>
                <a:cs typeface="Arial"/>
                <a:sym typeface="Arial"/>
              </a:endParaRPr>
            </a:p>
          </p:txBody>
        </p:sp>
        <p:cxnSp>
          <p:nvCxnSpPr>
            <p:cNvPr id="178" name="Google Shape;178;p18"/>
            <p:cNvCxnSpPr/>
            <p:nvPr/>
          </p:nvCxnSpPr>
          <p:spPr>
            <a:xfrm>
              <a:off x="3629807" y="5551622"/>
              <a:ext cx="830053" cy="0"/>
            </a:xfrm>
            <a:prstGeom prst="straightConnector1">
              <a:avLst/>
            </a:prstGeom>
            <a:noFill/>
            <a:ln cap="flat" cmpd="sng" w="12700">
              <a:solidFill>
                <a:schemeClr val="dk2"/>
              </a:solidFill>
              <a:prstDash val="solid"/>
              <a:miter lim="800000"/>
              <a:headEnd len="sm" w="sm" type="none"/>
              <a:tailEnd len="sm" w="sm" type="none"/>
            </a:ln>
          </p:spPr>
        </p:cxnSp>
        <p:sp>
          <p:nvSpPr>
            <p:cNvPr id="179" name="Google Shape;179;p18"/>
            <p:cNvSpPr txBox="1"/>
            <p:nvPr/>
          </p:nvSpPr>
          <p:spPr>
            <a:xfrm>
              <a:off x="3742259" y="5295792"/>
              <a:ext cx="710247" cy="263451"/>
            </a:xfrm>
            <a:prstGeom prst="rect">
              <a:avLst/>
            </a:prstGeom>
            <a:noFill/>
            <a:ln>
              <a:noFill/>
            </a:ln>
          </p:spPr>
          <p:txBody>
            <a:bodyPr anchorCtr="0" anchor="b" bIns="36000" lIns="0" spcFirstLastPara="1" rIns="0" wrap="square" tIns="45700">
              <a:sp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chemeClr val="dk2"/>
                  </a:solidFill>
                  <a:latin typeface="Proxima Nova"/>
                  <a:ea typeface="Proxima Nova"/>
                  <a:cs typeface="Proxima Nova"/>
                  <a:sym typeface="Proxima Nova"/>
                </a:rPr>
                <a:t>Japan | South Korea</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120181" y="3860464"/>
              <a:ext cx="1848087" cy="123326"/>
            </a:xfrm>
            <a:prstGeom prst="rect">
              <a:avLst/>
            </a:prstGeom>
            <a:noFill/>
            <a:ln>
              <a:noFill/>
            </a:ln>
          </p:spPr>
          <p:txBody>
            <a:bodyPr anchorCtr="0" anchor="t" bIns="0" lIns="0" spcFirstLastPara="1" rIns="91425"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chemeClr val="dk2"/>
                  </a:solidFill>
                  <a:latin typeface="Proxima Nova"/>
                  <a:ea typeface="Proxima Nova"/>
                  <a:cs typeface="Proxima Nova"/>
                  <a:sym typeface="Proxima Nova"/>
                </a:rPr>
                <a:t>Track Record of Regional Clientele</a:t>
              </a:r>
              <a:endParaRPr b="0" i="0" sz="1400" u="none" cap="none" strike="noStrike">
                <a:solidFill>
                  <a:srgbClr val="000000"/>
                </a:solidFill>
                <a:latin typeface="Arial"/>
                <a:ea typeface="Arial"/>
                <a:cs typeface="Arial"/>
                <a:sym typeface="Arial"/>
              </a:endParaRPr>
            </a:p>
          </p:txBody>
        </p:sp>
        <p:grpSp>
          <p:nvGrpSpPr>
            <p:cNvPr id="181" name="Google Shape;181;p18"/>
            <p:cNvGrpSpPr/>
            <p:nvPr/>
          </p:nvGrpSpPr>
          <p:grpSpPr>
            <a:xfrm>
              <a:off x="3449687" y="5932794"/>
              <a:ext cx="1705501" cy="302512"/>
              <a:chOff x="3637837" y="6094639"/>
              <a:chExt cx="1705501" cy="302512"/>
            </a:xfrm>
          </p:grpSpPr>
          <p:cxnSp>
            <p:nvCxnSpPr>
              <p:cNvPr id="182" name="Google Shape;182;p18"/>
              <p:cNvCxnSpPr/>
              <p:nvPr/>
            </p:nvCxnSpPr>
            <p:spPr>
              <a:xfrm>
                <a:off x="3637837" y="6251550"/>
                <a:ext cx="1705501" cy="260"/>
              </a:xfrm>
              <a:prstGeom prst="straightConnector1">
                <a:avLst/>
              </a:prstGeom>
              <a:noFill/>
              <a:ln cap="flat" cmpd="sng" w="12700">
                <a:solidFill>
                  <a:schemeClr val="dk2"/>
                </a:solidFill>
                <a:prstDash val="solid"/>
                <a:miter lim="800000"/>
                <a:headEnd len="sm" w="sm" type="none"/>
                <a:tailEnd len="sm" w="sm" type="none"/>
              </a:ln>
            </p:spPr>
          </p:cxnSp>
          <p:sp>
            <p:nvSpPr>
              <p:cNvPr id="183" name="Google Shape;183;p18"/>
              <p:cNvSpPr txBox="1"/>
              <p:nvPr/>
            </p:nvSpPr>
            <p:spPr>
              <a:xfrm>
                <a:off x="3940764" y="6094639"/>
                <a:ext cx="1402574" cy="164791"/>
              </a:xfrm>
              <a:prstGeom prst="rect">
                <a:avLst/>
              </a:prstGeom>
              <a:noFill/>
              <a:ln>
                <a:noFill/>
              </a:ln>
            </p:spPr>
            <p:txBody>
              <a:bodyPr anchorCtr="0" anchor="b" bIns="36000" lIns="0" spcFirstLastPara="1" rIns="0" wrap="square" tIns="45700">
                <a:spAutoFit/>
              </a:bodyPr>
              <a:lstStyle/>
              <a:p>
                <a:pPr indent="0" lvl="0" marL="0" marR="0" rtl="0" algn="r">
                  <a:lnSpc>
                    <a:spcPct val="100000"/>
                  </a:lnSpc>
                  <a:spcBef>
                    <a:spcPts val="0"/>
                  </a:spcBef>
                  <a:spcAft>
                    <a:spcPts val="0"/>
                  </a:spcAft>
                  <a:buClr>
                    <a:srgbClr val="000000"/>
                  </a:buClr>
                  <a:buSzPts val="800"/>
                  <a:buFont typeface="Arial"/>
                  <a:buNone/>
                </a:pPr>
                <a:r>
                  <a:rPr b="1" i="1" lang="en-US" sz="800" u="none" cap="none" strike="noStrike">
                    <a:solidFill>
                      <a:schemeClr val="dk2"/>
                    </a:solidFill>
                    <a:latin typeface="Proxima Nova"/>
                    <a:ea typeface="Proxima Nova"/>
                    <a:cs typeface="Proxima Nova"/>
                    <a:sym typeface="Proxima Nova"/>
                  </a:rPr>
                  <a:t>Upcoming Pipeline Projects</a:t>
                </a:r>
                <a:endParaRPr b="0" i="0" sz="1400" u="none" cap="none" strike="noStrike">
                  <a:solidFill>
                    <a:srgbClr val="000000"/>
                  </a:solidFill>
                  <a:latin typeface="Arial"/>
                  <a:ea typeface="Arial"/>
                  <a:cs typeface="Arial"/>
                  <a:sym typeface="Arial"/>
                </a:endParaRPr>
              </a:p>
            </p:txBody>
          </p:sp>
          <p:sp>
            <p:nvSpPr>
              <p:cNvPr id="184" name="Google Shape;184;p18"/>
              <p:cNvSpPr txBox="1"/>
              <p:nvPr/>
            </p:nvSpPr>
            <p:spPr>
              <a:xfrm>
                <a:off x="3765248" y="6232360"/>
                <a:ext cx="1578090" cy="164791"/>
              </a:xfrm>
              <a:prstGeom prst="rect">
                <a:avLst/>
              </a:prstGeom>
              <a:noFill/>
              <a:ln>
                <a:noFill/>
              </a:ln>
            </p:spPr>
            <p:txBody>
              <a:bodyPr anchorCtr="0" anchor="b" bIns="36000" lIns="0" spcFirstLastPara="1" rIns="0" wrap="square" tIns="45700">
                <a:sp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chemeClr val="dk2"/>
                    </a:solidFill>
                    <a:latin typeface="Proxima Nova"/>
                    <a:ea typeface="Proxima Nova"/>
                    <a:cs typeface="Proxima Nova"/>
                    <a:sym typeface="Proxima Nova"/>
                  </a:rPr>
                  <a:t>Philippines | Cambodia | Myanmar</a:t>
                </a:r>
                <a:endParaRPr b="0" i="0" sz="1400" u="none" cap="none" strike="noStrike">
                  <a:solidFill>
                    <a:srgbClr val="000000"/>
                  </a:solidFill>
                  <a:latin typeface="Arial"/>
                  <a:ea typeface="Arial"/>
                  <a:cs typeface="Arial"/>
                  <a:sym typeface="Arial"/>
                </a:endParaRPr>
              </a:p>
            </p:txBody>
          </p:sp>
        </p:grpSp>
      </p:grpSp>
      <p:cxnSp>
        <p:nvCxnSpPr>
          <p:cNvPr id="185" name="Google Shape;185;p18"/>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186" name="Google Shape;186;p18"/>
          <p:cNvCxnSpPr/>
          <p:nvPr/>
        </p:nvCxnSpPr>
        <p:spPr>
          <a:xfrm rot="10800000">
            <a:off x="286800" y="5978714"/>
            <a:ext cx="9331200" cy="0"/>
          </a:xfrm>
          <a:prstGeom prst="straightConnector1">
            <a:avLst/>
          </a:prstGeom>
          <a:noFill/>
          <a:ln cap="flat" cmpd="sng" w="19050">
            <a:solidFill>
              <a:schemeClr val="dk2"/>
            </a:solidFill>
            <a:prstDash val="solid"/>
            <a:miter lim="800000"/>
            <a:headEnd len="sm" w="sm" type="none"/>
            <a:tailEnd len="sm" w="sm" type="none"/>
          </a:ln>
        </p:spPr>
      </p:cxnSp>
      <p:sp>
        <p:nvSpPr>
          <p:cNvPr id="187" name="Google Shape;187;p18"/>
          <p:cNvSpPr/>
          <p:nvPr/>
        </p:nvSpPr>
        <p:spPr>
          <a:xfrm>
            <a:off x="286800" y="5978715"/>
            <a:ext cx="177554" cy="28614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roxima Nova"/>
              <a:ea typeface="Proxima Nova"/>
              <a:cs typeface="Proxima Nova"/>
              <a:sym typeface="Proxima Nova"/>
            </a:endParaRPr>
          </a:p>
        </p:txBody>
      </p:sp>
      <p:cxnSp>
        <p:nvCxnSpPr>
          <p:cNvPr id="188" name="Google Shape;188;p18"/>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cxnSp>
        <p:nvCxnSpPr>
          <p:cNvPr id="189" name="Google Shape;189;p18"/>
          <p:cNvCxnSpPr/>
          <p:nvPr/>
        </p:nvCxnSpPr>
        <p:spPr>
          <a:xfrm rot="10800000">
            <a:off x="286800" y="805841"/>
            <a:ext cx="9331200" cy="0"/>
          </a:xfrm>
          <a:prstGeom prst="straightConnector1">
            <a:avLst/>
          </a:prstGeom>
          <a:noFill/>
          <a:ln cap="flat" cmpd="sng" w="19050">
            <a:solidFill>
              <a:schemeClr val="dk2"/>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
          <p:cNvSpPr txBox="1"/>
          <p:nvPr/>
        </p:nvSpPr>
        <p:spPr>
          <a:xfrm>
            <a:off x="3523696" y="288002"/>
            <a:ext cx="2858610" cy="21414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7F7F7F"/>
              </a:solidFill>
              <a:latin typeface="Proxima Nova"/>
              <a:ea typeface="Proxima Nova"/>
              <a:cs typeface="Proxima Nova"/>
              <a:sym typeface="Proxima Nova"/>
            </a:endParaRPr>
          </a:p>
        </p:txBody>
      </p:sp>
      <p:grpSp>
        <p:nvGrpSpPr>
          <p:cNvPr id="11" name="Google Shape;11;p11"/>
          <p:cNvGrpSpPr/>
          <p:nvPr/>
        </p:nvGrpSpPr>
        <p:grpSpPr>
          <a:xfrm>
            <a:off x="-1152526" y="704852"/>
            <a:ext cx="1056902" cy="818035"/>
            <a:chOff x="-1152526" y="704850"/>
            <a:chExt cx="1056902" cy="818035"/>
          </a:xfrm>
        </p:grpSpPr>
        <p:sp>
          <p:nvSpPr>
            <p:cNvPr id="12" name="Google Shape;12;p11"/>
            <p:cNvSpPr/>
            <p:nvPr/>
          </p:nvSpPr>
          <p:spPr>
            <a:xfrm>
              <a:off x="-857251" y="704850"/>
              <a:ext cx="761627" cy="23486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roxima Nova"/>
                  <a:ea typeface="Proxima Nova"/>
                  <a:cs typeface="Proxima Nova"/>
                  <a:sym typeface="Proxima Nova"/>
                </a:rPr>
                <a:t>#000000</a:t>
              </a:r>
              <a:endParaRPr b="0" i="0" sz="1400" u="none" cap="none" strike="noStrike">
                <a:solidFill>
                  <a:srgbClr val="000000"/>
                </a:solidFill>
                <a:latin typeface="Arial"/>
                <a:ea typeface="Arial"/>
                <a:cs typeface="Arial"/>
                <a:sym typeface="Arial"/>
              </a:endParaRPr>
            </a:p>
          </p:txBody>
        </p:sp>
        <p:sp>
          <p:nvSpPr>
            <p:cNvPr id="13" name="Google Shape;13;p11"/>
            <p:cNvSpPr/>
            <p:nvPr/>
          </p:nvSpPr>
          <p:spPr>
            <a:xfrm>
              <a:off x="-857251" y="996435"/>
              <a:ext cx="761627" cy="234865"/>
            </a:xfrm>
            <a:prstGeom prst="rect">
              <a:avLst/>
            </a:prstGeom>
            <a:solidFill>
              <a:srgbClr val="05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Proxima Nova"/>
                  <a:ea typeface="Proxima Nova"/>
                  <a:cs typeface="Proxima Nova"/>
                  <a:sym typeface="Proxima Nova"/>
                </a:rPr>
                <a:t>#00B14F</a:t>
              </a:r>
              <a:endParaRPr b="0" i="0" sz="1400" u="none" cap="none" strike="noStrike">
                <a:solidFill>
                  <a:srgbClr val="000000"/>
                </a:solidFill>
                <a:latin typeface="Arial"/>
                <a:ea typeface="Arial"/>
                <a:cs typeface="Arial"/>
                <a:sym typeface="Arial"/>
              </a:endParaRPr>
            </a:p>
          </p:txBody>
        </p:sp>
        <p:sp>
          <p:nvSpPr>
            <p:cNvPr id="14" name="Google Shape;14;p11"/>
            <p:cNvSpPr/>
            <p:nvPr/>
          </p:nvSpPr>
          <p:spPr>
            <a:xfrm>
              <a:off x="-857251" y="1288020"/>
              <a:ext cx="761627" cy="2348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Proxima Nova"/>
                  <a:ea typeface="Proxima Nova"/>
                  <a:cs typeface="Proxima Nova"/>
                  <a:sym typeface="Proxima Nova"/>
                </a:rPr>
                <a:t>#FFFFFF</a:t>
              </a:r>
              <a:endParaRPr b="0" i="0" sz="1400" u="none" cap="none" strike="noStrike">
                <a:solidFill>
                  <a:srgbClr val="000000"/>
                </a:solidFill>
                <a:latin typeface="Arial"/>
                <a:ea typeface="Arial"/>
                <a:cs typeface="Arial"/>
                <a:sym typeface="Arial"/>
              </a:endParaRPr>
            </a:p>
          </p:txBody>
        </p:sp>
        <p:sp>
          <p:nvSpPr>
            <p:cNvPr id="15" name="Google Shape;15;p11"/>
            <p:cNvSpPr/>
            <p:nvPr/>
          </p:nvSpPr>
          <p:spPr>
            <a:xfrm>
              <a:off x="-1152526" y="704850"/>
              <a:ext cx="234000" cy="234865"/>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Proxima Nova"/>
                <a:ea typeface="Proxima Nova"/>
                <a:cs typeface="Proxima Nova"/>
                <a:sym typeface="Proxima Nova"/>
              </a:endParaRPr>
            </a:p>
          </p:txBody>
        </p:sp>
        <p:sp>
          <p:nvSpPr>
            <p:cNvPr id="16" name="Google Shape;16;p11"/>
            <p:cNvSpPr/>
            <p:nvPr/>
          </p:nvSpPr>
          <p:spPr>
            <a:xfrm>
              <a:off x="-1152526" y="996435"/>
              <a:ext cx="234000" cy="234865"/>
            </a:xfrm>
            <a:prstGeom prst="rect">
              <a:avLst/>
            </a:prstGeom>
            <a:solidFill>
              <a:srgbClr val="05B05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Proxima Nova"/>
                <a:ea typeface="Proxima Nova"/>
                <a:cs typeface="Proxima Nova"/>
                <a:sym typeface="Proxima Nova"/>
              </a:endParaRPr>
            </a:p>
          </p:txBody>
        </p:sp>
        <p:sp>
          <p:nvSpPr>
            <p:cNvPr id="17" name="Google Shape;17;p11"/>
            <p:cNvSpPr/>
            <p:nvPr/>
          </p:nvSpPr>
          <p:spPr>
            <a:xfrm>
              <a:off x="-1152526" y="1288020"/>
              <a:ext cx="234000" cy="2348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Proxima Nova"/>
                <a:ea typeface="Proxima Nova"/>
                <a:cs typeface="Proxima Nova"/>
                <a:sym typeface="Proxima Nova"/>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6.png"/><Relationship Id="rId13" Type="http://schemas.openxmlformats.org/officeDocument/2006/relationships/image" Target="../media/image14.png"/><Relationship Id="rId12" Type="http://schemas.openxmlformats.org/officeDocument/2006/relationships/image" Target="../media/image15.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jpg"/><Relationship Id="rId9" Type="http://schemas.openxmlformats.org/officeDocument/2006/relationships/image" Target="../media/image7.png"/><Relationship Id="rId5" Type="http://schemas.openxmlformats.org/officeDocument/2006/relationships/image" Target="../media/image1.jpg"/><Relationship Id="rId6" Type="http://schemas.openxmlformats.org/officeDocument/2006/relationships/image" Target="../media/image8.jpg"/><Relationship Id="rId7" Type="http://schemas.openxmlformats.org/officeDocument/2006/relationships/image" Target="../media/image11.jp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7.png"/><Relationship Id="rId5"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19.png"/><Relationship Id="rId5" Type="http://schemas.openxmlformats.org/officeDocument/2006/relationships/image" Target="../media/image3.png"/><Relationship Id="rId6" Type="http://schemas.openxmlformats.org/officeDocument/2006/relationships/image" Target="../media/image9.jpg"/><Relationship Id="rId7" Type="http://schemas.openxmlformats.org/officeDocument/2006/relationships/image" Target="../media/image16.png"/><Relationship Id="rId8" Type="http://schemas.openxmlformats.org/officeDocument/2006/relationships/hyperlink" Target="https://investors.grab.com/financial-information/quarterly-results/default.aspx"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2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investors.grab.com/financial-information/quarterly-results/default.aspx" TargetMode="Externa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20000"/>
          </a:blip>
          <a:stretch>
            <a:fillRect/>
          </a:stretch>
        </a:blipFill>
      </p:bgPr>
    </p:bg>
    <p:spTree>
      <p:nvGrpSpPr>
        <p:cNvPr id="193" name="Shape 193"/>
        <p:cNvGrpSpPr/>
        <p:nvPr/>
      </p:nvGrpSpPr>
      <p:grpSpPr>
        <a:xfrm>
          <a:off x="0" y="0"/>
          <a:ext cx="0" cy="0"/>
          <a:chOff x="0" y="0"/>
          <a:chExt cx="0" cy="0"/>
        </a:xfrm>
      </p:grpSpPr>
      <p:sp>
        <p:nvSpPr>
          <p:cNvPr id="194" name="Google Shape;194;p1"/>
          <p:cNvSpPr txBox="1"/>
          <p:nvPr>
            <p:ph type="ctrTitle"/>
          </p:nvPr>
        </p:nvSpPr>
        <p:spPr>
          <a:xfrm>
            <a:off x="328777" y="2753209"/>
            <a:ext cx="8503101" cy="553111"/>
          </a:xfrm>
          <a:prstGeom prst="rect">
            <a:avLst/>
          </a:prstGeom>
          <a:noFill/>
          <a:ln>
            <a:noFill/>
          </a:ln>
        </p:spPr>
        <p:txBody>
          <a:bodyPr anchorCtr="0" anchor="ctr" bIns="0" lIns="91425" spcFirstLastPara="1" rIns="91425" wrap="square" tIns="0">
            <a:noAutofit/>
          </a:bodyPr>
          <a:lstStyle/>
          <a:p>
            <a:pPr indent="0" lvl="0" marL="0" rtl="0" algn="l">
              <a:lnSpc>
                <a:spcPct val="90000"/>
              </a:lnSpc>
              <a:spcBef>
                <a:spcPts val="0"/>
              </a:spcBef>
              <a:spcAft>
                <a:spcPts val="0"/>
              </a:spcAft>
              <a:buClr>
                <a:schemeClr val="dk2"/>
              </a:buClr>
              <a:buSzPts val="4800"/>
              <a:buFont typeface="Arial"/>
              <a:buNone/>
            </a:pPr>
            <a:r>
              <a:rPr lang="en-US" sz="4800"/>
              <a:t>         Holdings</a:t>
            </a:r>
            <a:endParaRPr/>
          </a:p>
        </p:txBody>
      </p:sp>
      <p:sp>
        <p:nvSpPr>
          <p:cNvPr id="195" name="Google Shape;195;p1"/>
          <p:cNvSpPr txBox="1"/>
          <p:nvPr>
            <p:ph idx="2" type="body"/>
          </p:nvPr>
        </p:nvSpPr>
        <p:spPr>
          <a:xfrm>
            <a:off x="318144" y="3447400"/>
            <a:ext cx="5010443" cy="290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7F7F7F"/>
              </a:buClr>
              <a:buSzPts val="1500"/>
              <a:buNone/>
            </a:pPr>
            <a:r>
              <a:rPr lang="en-US" sz="1500">
                <a:latin typeface="Proxima Nova"/>
                <a:ea typeface="Proxima Nova"/>
                <a:cs typeface="Proxima Nova"/>
                <a:sym typeface="Proxima Nova"/>
              </a:rPr>
              <a:t>NQ:GRAB</a:t>
            </a:r>
            <a:endParaRPr/>
          </a:p>
        </p:txBody>
      </p:sp>
      <p:pic>
        <p:nvPicPr>
          <p:cNvPr descr="A green text with a white background&#10;&#10;AI-generated content may be incorrect." id="196" name="Google Shape;196;p1"/>
          <p:cNvPicPr preferRelativeResize="0"/>
          <p:nvPr/>
        </p:nvPicPr>
        <p:blipFill rotWithShape="1">
          <a:blip r:embed="rId4">
            <a:alphaModFix/>
          </a:blip>
          <a:srcRect b="0" l="0" r="0" t="0"/>
          <a:stretch/>
        </p:blipFill>
        <p:spPr>
          <a:xfrm>
            <a:off x="318144" y="2709541"/>
            <a:ext cx="1474963" cy="5531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02" name="Google Shape;202;p2"/>
          <p:cNvSpPr txBox="1"/>
          <p:nvPr>
            <p:ph idx="2" type="body"/>
          </p:nvPr>
        </p:nvSpPr>
        <p:spPr>
          <a:xfrm>
            <a:off x="286321" y="591765"/>
            <a:ext cx="9331076" cy="290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Overview</a:t>
            </a:r>
            <a:endParaRPr/>
          </a:p>
        </p:txBody>
      </p:sp>
      <p:sp>
        <p:nvSpPr>
          <p:cNvPr id="203" name="Google Shape;203;p2"/>
          <p:cNvSpPr txBox="1"/>
          <p:nvPr>
            <p:ph idx="3" type="body"/>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rtl="0" algn="l">
              <a:lnSpc>
                <a:spcPct val="100000"/>
              </a:lnSpc>
              <a:spcBef>
                <a:spcPts val="0"/>
              </a:spcBef>
              <a:spcAft>
                <a:spcPts val="0"/>
              </a:spcAft>
              <a:buClr>
                <a:srgbClr val="7F7F7F"/>
              </a:buClr>
              <a:buSzPts val="800"/>
              <a:buNone/>
            </a:pPr>
            <a:r>
              <a:rPr lang="en-US"/>
              <a:t>Source(s): Capital IQ</a:t>
            </a:r>
            <a:endParaRPr/>
          </a:p>
        </p:txBody>
      </p:sp>
      <p:sp>
        <p:nvSpPr>
          <p:cNvPr id="204" name="Google Shape;204;p2"/>
          <p:cNvSpPr txBox="1"/>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marR="0" rtl="0" algn="l">
              <a:lnSpc>
                <a:spcPct val="90000"/>
              </a:lnSpc>
              <a:spcBef>
                <a:spcPts val="0"/>
              </a:spcBef>
              <a:spcAft>
                <a:spcPts val="0"/>
              </a:spcAft>
              <a:buClr>
                <a:schemeClr val="dk1"/>
              </a:buClr>
              <a:buSzPts val="1000"/>
              <a:buFont typeface="Arial"/>
              <a:buAutoNum type="romanUcPeriod"/>
            </a:pPr>
            <a:r>
              <a:rPr b="0" i="0" lang="en-US" sz="1000" u="none" cap="none" strike="noStrike">
                <a:solidFill>
                  <a:schemeClr val="dk1"/>
                </a:solidFill>
                <a:latin typeface="Proxima Nova"/>
                <a:ea typeface="Proxima Nova"/>
                <a:cs typeface="Proxima Nova"/>
                <a:sym typeface="Proxima Nova"/>
              </a:rPr>
              <a:t>OVERVIEW</a:t>
            </a:r>
            <a:endParaRPr b="0" i="0" sz="1400" u="none" cap="none" strike="noStrike">
              <a:solidFill>
                <a:srgbClr val="000000"/>
              </a:solidFill>
              <a:latin typeface="Arial"/>
              <a:ea typeface="Arial"/>
              <a:cs typeface="Arial"/>
              <a:sym typeface="Arial"/>
            </a:endParaRPr>
          </a:p>
        </p:txBody>
      </p:sp>
      <p:sp>
        <p:nvSpPr>
          <p:cNvPr id="205" name="Google Shape;205;p2"/>
          <p:cNvSpPr txBox="1"/>
          <p:nvPr/>
        </p:nvSpPr>
        <p:spPr>
          <a:xfrm>
            <a:off x="286800" y="1023428"/>
            <a:ext cx="4666200" cy="94986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Company Overview</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Grab Holdings Limited, </a:t>
            </a:r>
            <a:r>
              <a:rPr b="1" i="0" lang="en-US" sz="800" u="none" cap="none" strike="noStrike">
                <a:solidFill>
                  <a:schemeClr val="dk1"/>
                </a:solidFill>
                <a:latin typeface="Proxima Nova"/>
                <a:ea typeface="Proxima Nova"/>
                <a:cs typeface="Proxima Nova"/>
                <a:sym typeface="Proxima Nova"/>
              </a:rPr>
              <a:t>founded</a:t>
            </a:r>
            <a:r>
              <a:rPr b="0" i="0" lang="en-US" sz="800" u="none" cap="none" strike="noStrike">
                <a:solidFill>
                  <a:schemeClr val="dk1"/>
                </a:solidFill>
                <a:latin typeface="Proxima Nova"/>
                <a:ea typeface="Proxima Nova"/>
                <a:cs typeface="Proxima Nova"/>
                <a:sym typeface="Proxima Nova"/>
              </a:rPr>
              <a:t> </a:t>
            </a:r>
            <a:r>
              <a:rPr b="1" i="0" lang="en-US" sz="800" u="none" cap="none" strike="noStrike">
                <a:solidFill>
                  <a:schemeClr val="dk1"/>
                </a:solidFill>
                <a:latin typeface="Proxima Nova"/>
                <a:ea typeface="Proxima Nova"/>
                <a:cs typeface="Proxima Nova"/>
                <a:sym typeface="Proxima Nova"/>
              </a:rPr>
              <a:t>in 2012</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Headquartered in Singapore </a:t>
            </a:r>
            <a:r>
              <a:rPr b="0" i="0" lang="en-US" sz="800" u="none" cap="none" strike="noStrike">
                <a:solidFill>
                  <a:schemeClr val="dk1"/>
                </a:solidFill>
                <a:latin typeface="Proxima Nova"/>
                <a:ea typeface="Proxima Nova"/>
                <a:cs typeface="Proxima Nova"/>
                <a:sym typeface="Proxima Nova"/>
              </a:rPr>
              <a:t>and </a:t>
            </a:r>
            <a:r>
              <a:rPr b="1" i="0" lang="en-US" sz="800" u="none" cap="none" strike="noStrike">
                <a:solidFill>
                  <a:schemeClr val="dk1"/>
                </a:solidFill>
                <a:latin typeface="Proxima Nova"/>
                <a:ea typeface="Proxima Nova"/>
                <a:cs typeface="Proxima Nova"/>
                <a:sym typeface="Proxima Nova"/>
              </a:rPr>
              <a:t>operates in 8 SEA countries:</a:t>
            </a:r>
            <a:r>
              <a:rPr b="0" i="0" lang="en-US" sz="800" u="none" cap="none" strike="noStrike">
                <a:solidFill>
                  <a:schemeClr val="dk1"/>
                </a:solidFill>
                <a:latin typeface="Proxima Nova"/>
                <a:ea typeface="Proxima Nova"/>
                <a:cs typeface="Proxima Nova"/>
                <a:sym typeface="Proxima Nova"/>
              </a:rPr>
              <a:t> Singapore, Malaysia, Cambodia, Indonesia, Myanmar, Philippines, Thailand and Vietnam</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As an operator of a </a:t>
            </a:r>
            <a:r>
              <a:rPr b="1" i="0" lang="en-US" sz="800" u="none" cap="none" strike="noStrike">
                <a:solidFill>
                  <a:schemeClr val="dk1"/>
                </a:solidFill>
                <a:latin typeface="Proxima Nova"/>
                <a:ea typeface="Proxima Nova"/>
                <a:cs typeface="Proxima Nova"/>
                <a:sym typeface="Proxima Nova"/>
              </a:rPr>
              <a:t>“super-app”</a:t>
            </a:r>
            <a:r>
              <a:rPr b="0" i="0" lang="en-US" sz="800" u="none" cap="none" strike="noStrike">
                <a:solidFill>
                  <a:schemeClr val="dk1"/>
                </a:solidFill>
                <a:latin typeface="Proxima Nova"/>
                <a:ea typeface="Proxima Nova"/>
                <a:cs typeface="Proxima Nova"/>
                <a:sym typeface="Proxima Nova"/>
              </a:rPr>
              <a:t>, Grab is </a:t>
            </a:r>
            <a:r>
              <a:rPr b="1" i="0" lang="en-US" sz="800" u="none" cap="none" strike="noStrike">
                <a:solidFill>
                  <a:schemeClr val="dk1"/>
                </a:solidFill>
                <a:latin typeface="Proxima Nova"/>
                <a:ea typeface="Proxima Nova"/>
                <a:cs typeface="Proxima Nova"/>
                <a:sym typeface="Proxima Nova"/>
              </a:rPr>
              <a:t>primarily considered </a:t>
            </a:r>
            <a:r>
              <a:rPr b="0" i="0" lang="en-US" sz="800" u="none" cap="none" strike="noStrike">
                <a:solidFill>
                  <a:schemeClr val="dk1"/>
                </a:solidFill>
                <a:latin typeface="Proxima Nova"/>
                <a:ea typeface="Proxima Nova"/>
                <a:cs typeface="Proxima Nova"/>
                <a:sym typeface="Proxima Nova"/>
              </a:rPr>
              <a:t>as a </a:t>
            </a:r>
            <a:r>
              <a:rPr b="1" i="0" lang="en-US" sz="800" u="none" cap="none" strike="noStrike">
                <a:solidFill>
                  <a:schemeClr val="dk1"/>
                </a:solidFill>
                <a:latin typeface="Proxima Nova"/>
                <a:ea typeface="Proxima Nova"/>
                <a:cs typeface="Proxima Nova"/>
                <a:sym typeface="Proxima Nova"/>
              </a:rPr>
              <a:t>technology</a:t>
            </a:r>
            <a:r>
              <a:rPr b="0" i="0" lang="en-US" sz="800" u="none" cap="none" strike="noStrike">
                <a:solidFill>
                  <a:schemeClr val="dk1"/>
                </a:solidFill>
                <a:latin typeface="Proxima Nova"/>
                <a:ea typeface="Proxima Nova"/>
                <a:cs typeface="Proxima Nova"/>
                <a:sym typeface="Proxima Nova"/>
              </a:rPr>
              <a:t> company</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Grab combines </a:t>
            </a:r>
            <a:r>
              <a:rPr b="1" i="0" lang="en-US" sz="800" u="none" cap="none" strike="noStrike">
                <a:solidFill>
                  <a:schemeClr val="dk1"/>
                </a:solidFill>
                <a:latin typeface="Proxima Nova"/>
                <a:ea typeface="Proxima Nova"/>
                <a:cs typeface="Proxima Nova"/>
                <a:sym typeface="Proxima Nova"/>
              </a:rPr>
              <a:t>multiple service areas</a:t>
            </a:r>
            <a:r>
              <a:rPr b="0" i="0" lang="en-US" sz="800" u="none" cap="none" strike="noStrike">
                <a:solidFill>
                  <a:schemeClr val="dk1"/>
                </a:solidFill>
                <a:latin typeface="Proxima Nova"/>
                <a:ea typeface="Proxima Nova"/>
                <a:cs typeface="Proxima Nova"/>
                <a:sym typeface="Proxima Nova"/>
              </a:rPr>
              <a:t>, mainly </a:t>
            </a:r>
            <a:r>
              <a:rPr b="1" i="0" lang="en-US" sz="800" u="none" cap="none" strike="noStrike">
                <a:solidFill>
                  <a:schemeClr val="dk1"/>
                </a:solidFill>
                <a:latin typeface="Proxima Nova"/>
                <a:ea typeface="Proxima Nova"/>
                <a:cs typeface="Proxima Nova"/>
                <a:sym typeface="Proxima Nova"/>
              </a:rPr>
              <a:t>mobility </a:t>
            </a:r>
            <a:r>
              <a:rPr b="0" i="0" lang="en-US" sz="800" u="none" cap="none" strike="noStrike">
                <a:solidFill>
                  <a:schemeClr val="dk1"/>
                </a:solidFill>
                <a:latin typeface="Proxima Nova"/>
                <a:ea typeface="Proxima Nova"/>
                <a:cs typeface="Proxima Nova"/>
                <a:sym typeface="Proxima Nova"/>
              </a:rPr>
              <a:t>services, </a:t>
            </a:r>
            <a:r>
              <a:rPr b="1" i="0" lang="en-US" sz="800" u="none" cap="none" strike="noStrike">
                <a:solidFill>
                  <a:schemeClr val="dk1"/>
                </a:solidFill>
                <a:latin typeface="Proxima Nova"/>
                <a:ea typeface="Proxima Nova"/>
                <a:cs typeface="Proxima Nova"/>
                <a:sym typeface="Proxima Nova"/>
              </a:rPr>
              <a:t>delivery</a:t>
            </a:r>
            <a:r>
              <a:rPr b="0" i="0" lang="en-US" sz="800" u="none" cap="none" strike="noStrike">
                <a:solidFill>
                  <a:schemeClr val="dk1"/>
                </a:solidFill>
                <a:latin typeface="Proxima Nova"/>
                <a:ea typeface="Proxima Nova"/>
                <a:cs typeface="Proxima Nova"/>
                <a:sym typeface="Proxima Nova"/>
              </a:rPr>
              <a:t> services and </a:t>
            </a:r>
            <a:r>
              <a:rPr b="1" i="0" lang="en-US" sz="800" u="none" cap="none" strike="noStrike">
                <a:solidFill>
                  <a:schemeClr val="dk1"/>
                </a:solidFill>
                <a:latin typeface="Proxima Nova"/>
                <a:ea typeface="Proxima Nova"/>
                <a:cs typeface="Proxima Nova"/>
                <a:sym typeface="Proxima Nova"/>
              </a:rPr>
              <a:t>financial </a:t>
            </a:r>
            <a:r>
              <a:rPr b="0" i="0" lang="en-US" sz="800" u="none" cap="none" strike="noStrike">
                <a:solidFill>
                  <a:schemeClr val="dk1"/>
                </a:solidFill>
                <a:latin typeface="Proxima Nova"/>
                <a:ea typeface="Proxima Nova"/>
                <a:cs typeface="Proxima Nova"/>
                <a:sym typeface="Proxima Nova"/>
              </a:rPr>
              <a:t>services</a:t>
            </a:r>
            <a:endParaRPr b="0" i="0" sz="800" u="none" cap="none" strike="noStrike">
              <a:solidFill>
                <a:srgbClr val="000000"/>
              </a:solidFill>
              <a:latin typeface="Proxima Nova"/>
              <a:ea typeface="Proxima Nova"/>
              <a:cs typeface="Proxima Nova"/>
              <a:sym typeface="Proxima Nova"/>
            </a:endParaRPr>
          </a:p>
        </p:txBody>
      </p:sp>
      <p:sp>
        <p:nvSpPr>
          <p:cNvPr id="206" name="Google Shape;206;p2"/>
          <p:cNvSpPr txBox="1"/>
          <p:nvPr/>
        </p:nvSpPr>
        <p:spPr>
          <a:xfrm>
            <a:off x="4972572" y="1023428"/>
            <a:ext cx="4644900" cy="3288900"/>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Industry Overview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Consumer trends (Macro tailwind)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SEA’s 600M+ population are </a:t>
            </a:r>
            <a:r>
              <a:rPr b="1" i="0" lang="en-US" sz="800" u="none" cap="none" strike="noStrike">
                <a:solidFill>
                  <a:schemeClr val="dk1"/>
                </a:solidFill>
                <a:latin typeface="Proxima Nova"/>
                <a:ea typeface="Proxima Nova"/>
                <a:cs typeface="Proxima Nova"/>
                <a:sym typeface="Proxima Nova"/>
              </a:rPr>
              <a:t>mobile-first consumers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Rapid digital adoption</a:t>
            </a:r>
            <a:r>
              <a:rPr b="0" i="0" lang="en-US" sz="800" u="none" cap="none" strike="noStrike">
                <a:solidFill>
                  <a:schemeClr val="dk1"/>
                </a:solidFill>
                <a:latin typeface="Proxima Nova"/>
                <a:ea typeface="Proxima Nova"/>
                <a:cs typeface="Proxima Nova"/>
                <a:sym typeface="Proxima Nova"/>
              </a:rPr>
              <a:t>, 450M internet users in SEA</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Consumers are shifting to </a:t>
            </a:r>
            <a:r>
              <a:rPr b="1" i="0" lang="en-US" sz="800" u="none" cap="none" strike="noStrike">
                <a:solidFill>
                  <a:schemeClr val="dk1"/>
                </a:solidFill>
                <a:latin typeface="Proxima Nova"/>
                <a:ea typeface="Proxima Nova"/>
                <a:cs typeface="Proxima Nova"/>
                <a:sym typeface="Proxima Nova"/>
              </a:rPr>
              <a:t>on-demand, app-based services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Urbanisation &amp; rising middle class means </a:t>
            </a:r>
            <a:r>
              <a:rPr b="1" i="0" lang="en-US" sz="800" u="none" cap="none" strike="noStrike">
                <a:solidFill>
                  <a:schemeClr val="dk1"/>
                </a:solidFill>
                <a:latin typeface="Proxima Nova"/>
                <a:ea typeface="Proxima Nova"/>
                <a:cs typeface="Proxima Nova"/>
                <a:sym typeface="Proxima Nova"/>
              </a:rPr>
              <a:t>higher disposable income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Mobility services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SEA ride-hailing projected to fetch </a:t>
            </a:r>
            <a:r>
              <a:rPr b="1" i="0" lang="en-US" sz="800" u="none" cap="none" strike="noStrike">
                <a:solidFill>
                  <a:schemeClr val="dk1"/>
                </a:solidFill>
                <a:latin typeface="Proxima Nova"/>
                <a:ea typeface="Proxima Nova"/>
                <a:cs typeface="Proxima Nova"/>
                <a:sym typeface="Proxima Nova"/>
              </a:rPr>
              <a:t>US$9.4B revenue in 2025 </a:t>
            </a:r>
            <a:r>
              <a:rPr b="0" i="0" lang="en-US" sz="800" u="none" cap="none" strike="noStrike">
                <a:solidFill>
                  <a:schemeClr val="dk1"/>
                </a:solidFill>
                <a:latin typeface="Proxima Nova"/>
                <a:ea typeface="Proxima Nova"/>
                <a:cs typeface="Proxima Nova"/>
                <a:sym typeface="Proxima Nova"/>
              </a:rPr>
              <a:t>with a </a:t>
            </a:r>
            <a:r>
              <a:rPr b="1" i="0" lang="en-US" sz="800" u="none" cap="none" strike="noStrike">
                <a:solidFill>
                  <a:schemeClr val="dk1"/>
                </a:solidFill>
                <a:latin typeface="Proxima Nova"/>
                <a:ea typeface="Proxima Nova"/>
                <a:cs typeface="Proxima Nova"/>
                <a:sym typeface="Proxima Nova"/>
              </a:rPr>
              <a:t>CAGR of 6% through 2030</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Market drivers: </a:t>
            </a:r>
            <a:r>
              <a:rPr b="0" i="0" lang="en-US" sz="800" u="none" cap="none" strike="noStrike">
                <a:solidFill>
                  <a:schemeClr val="dk1"/>
                </a:solidFill>
                <a:latin typeface="Proxima Nova"/>
                <a:ea typeface="Proxima Nova"/>
                <a:cs typeface="Proxima Nova"/>
                <a:sym typeface="Proxima Nova"/>
              </a:rPr>
              <a:t>Increasing urban congestion, reduced car ownership</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Takeaway: </a:t>
            </a:r>
            <a:r>
              <a:rPr b="0" i="0" lang="en-US" sz="800" u="none" cap="none" strike="noStrike">
                <a:solidFill>
                  <a:schemeClr val="dk1"/>
                </a:solidFill>
                <a:latin typeface="Proxima Nova"/>
                <a:ea typeface="Proxima Nova"/>
                <a:cs typeface="Proxima Nova"/>
                <a:sym typeface="Proxima Nova"/>
              </a:rPr>
              <a:t>Steady growth, but lower margin versus other segments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Delivery services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SEA delivery market projected to fetch </a:t>
            </a:r>
            <a:r>
              <a:rPr b="1" i="0" lang="en-US" sz="800" u="none" cap="none" strike="noStrike">
                <a:solidFill>
                  <a:schemeClr val="dk1"/>
                </a:solidFill>
                <a:latin typeface="Proxima Nova"/>
                <a:ea typeface="Proxima Nova"/>
                <a:cs typeface="Proxima Nova"/>
                <a:sym typeface="Proxima Nova"/>
              </a:rPr>
              <a:t>US$45.1B revenue in 2025 </a:t>
            </a:r>
            <a:r>
              <a:rPr b="0" i="0" lang="en-US" sz="800" u="none" cap="none" strike="noStrike">
                <a:solidFill>
                  <a:schemeClr val="dk1"/>
                </a:solidFill>
                <a:latin typeface="Proxima Nova"/>
                <a:ea typeface="Proxima Nova"/>
                <a:cs typeface="Proxima Nova"/>
                <a:sym typeface="Proxima Nova"/>
              </a:rPr>
              <a:t>with a </a:t>
            </a:r>
            <a:r>
              <a:rPr b="1" i="0" lang="en-US" sz="800" u="none" cap="none" strike="noStrike">
                <a:solidFill>
                  <a:schemeClr val="dk1"/>
                </a:solidFill>
                <a:latin typeface="Proxima Nova"/>
                <a:ea typeface="Proxima Nova"/>
                <a:cs typeface="Proxima Nova"/>
                <a:sym typeface="Proxima Nova"/>
              </a:rPr>
              <a:t>CAGR of 10.8% through 2030</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High frequency use case</a:t>
            </a:r>
            <a:r>
              <a:rPr b="0" i="0" lang="en-US" sz="800" u="none" cap="none" strike="noStrike">
                <a:solidFill>
                  <a:schemeClr val="dk1"/>
                </a:solidFill>
                <a:latin typeface="Proxima Nova"/>
                <a:ea typeface="Proxima Nova"/>
                <a:cs typeface="Proxima Nova"/>
                <a:sym typeface="Proxima Nova"/>
              </a:rPr>
              <a:t>, post-pandemic consumers still </a:t>
            </a:r>
            <a:r>
              <a:rPr b="1" i="0" lang="en-US" sz="800" u="none" cap="none" strike="noStrike">
                <a:solidFill>
                  <a:schemeClr val="dk1"/>
                </a:solidFill>
                <a:latin typeface="Proxima Nova"/>
                <a:ea typeface="Proxima Nova"/>
                <a:cs typeface="Proxima Nova"/>
                <a:sym typeface="Proxima Nova"/>
              </a:rPr>
              <a:t>maintain habit of ordering food online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Takeaway: </a:t>
            </a:r>
            <a:r>
              <a:rPr b="0" i="0" lang="en-US" sz="800" u="none" cap="none" strike="noStrike">
                <a:solidFill>
                  <a:schemeClr val="dk1"/>
                </a:solidFill>
                <a:latin typeface="Proxima Nova"/>
                <a:ea typeface="Proxima Nova"/>
                <a:cs typeface="Proxima Nova"/>
                <a:sym typeface="Proxima Nova"/>
              </a:rPr>
              <a:t>Largest near-term growth driver, subscription model </a:t>
            </a:r>
            <a:r>
              <a:rPr b="1" i="0" lang="en-US" sz="800" u="none" cap="none" strike="noStrike">
                <a:solidFill>
                  <a:schemeClr val="dk1"/>
                </a:solidFill>
                <a:latin typeface="Proxima Nova"/>
                <a:ea typeface="Proxima Nova"/>
                <a:cs typeface="Proxima Nova"/>
                <a:sym typeface="Proxima Nova"/>
              </a:rPr>
              <a:t>increases stickiness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Financial services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SEA fintech market projected to surpass </a:t>
            </a:r>
            <a:r>
              <a:rPr b="1" i="0" lang="en-US" sz="800" u="none" cap="none" strike="noStrike">
                <a:solidFill>
                  <a:schemeClr val="dk1"/>
                </a:solidFill>
                <a:latin typeface="Proxima Nova"/>
                <a:ea typeface="Proxima Nova"/>
                <a:cs typeface="Proxima Nova"/>
                <a:sym typeface="Proxima Nova"/>
              </a:rPr>
              <a:t>US$33B revenue in 2025 </a:t>
            </a:r>
            <a:r>
              <a:rPr b="0" i="0" lang="en-US" sz="800" u="none" cap="none" strike="noStrike">
                <a:solidFill>
                  <a:schemeClr val="dk1"/>
                </a:solidFill>
                <a:latin typeface="Proxima Nova"/>
                <a:ea typeface="Proxima Nova"/>
                <a:cs typeface="Proxima Nova"/>
                <a:sym typeface="Proxima Nova"/>
              </a:rPr>
              <a:t>with a </a:t>
            </a:r>
            <a:r>
              <a:rPr b="1" i="0" lang="en-US" sz="800" u="none" cap="none" strike="noStrike">
                <a:solidFill>
                  <a:schemeClr val="dk1"/>
                </a:solidFill>
                <a:latin typeface="Proxima Nova"/>
                <a:ea typeface="Proxima Nova"/>
                <a:cs typeface="Proxima Nova"/>
                <a:sym typeface="Proxima Nova"/>
              </a:rPr>
              <a:t>CAGR of 15-20% through 2030</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70+% of adults in SEA are </a:t>
            </a:r>
            <a:r>
              <a:rPr b="1" i="0" lang="en-US" sz="800" u="none" cap="none" strike="noStrike">
                <a:solidFill>
                  <a:schemeClr val="dk1"/>
                </a:solidFill>
                <a:latin typeface="Proxima Nova"/>
                <a:ea typeface="Proxima Nova"/>
                <a:cs typeface="Proxima Nova"/>
                <a:sym typeface="Proxima Nova"/>
              </a:rPr>
              <a:t>unbanked</a:t>
            </a:r>
            <a:r>
              <a:rPr b="0" i="0" lang="en-US" sz="800" u="none" cap="none" strike="noStrike">
                <a:solidFill>
                  <a:schemeClr val="dk1"/>
                </a:solidFill>
                <a:latin typeface="Proxima Nova"/>
                <a:ea typeface="Proxima Nova"/>
                <a:cs typeface="Proxima Nova"/>
                <a:sym typeface="Proxima Nova"/>
              </a:rPr>
              <a:t> or </a:t>
            </a:r>
            <a:r>
              <a:rPr b="1" i="0" lang="en-US" sz="800" u="none" cap="none" strike="noStrike">
                <a:solidFill>
                  <a:schemeClr val="dk1"/>
                </a:solidFill>
                <a:latin typeface="Proxima Nova"/>
                <a:ea typeface="Proxima Nova"/>
                <a:cs typeface="Proxima Nova"/>
                <a:sym typeface="Proxima Nova"/>
              </a:rPr>
              <a:t>underbanked</a:t>
            </a:r>
            <a:r>
              <a:rPr b="0" i="0" lang="en-US" sz="800" u="none" cap="none" strike="noStrike">
                <a:solidFill>
                  <a:schemeClr val="dk1"/>
                </a:solidFill>
                <a:latin typeface="Proxima Nova"/>
                <a:ea typeface="Proxima Nova"/>
                <a:cs typeface="Proxima Nova"/>
                <a:sym typeface="Proxima Nova"/>
              </a:rPr>
              <a:t>, creating </a:t>
            </a:r>
            <a:r>
              <a:rPr b="1" i="0" lang="en-US" sz="800" u="none" cap="none" strike="noStrike">
                <a:solidFill>
                  <a:schemeClr val="dk1"/>
                </a:solidFill>
                <a:latin typeface="Proxima Nova"/>
                <a:ea typeface="Proxima Nova"/>
                <a:cs typeface="Proxima Nova"/>
                <a:sym typeface="Proxima Nova"/>
              </a:rPr>
              <a:t>huge growth opportunities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GrabPay, lending, and insurance benefit from </a:t>
            </a:r>
            <a:r>
              <a:rPr b="1" i="0" lang="en-US" sz="800" u="none" cap="none" strike="noStrike">
                <a:solidFill>
                  <a:schemeClr val="dk1"/>
                </a:solidFill>
                <a:latin typeface="Proxima Nova"/>
                <a:ea typeface="Proxima Nova"/>
                <a:cs typeface="Proxima Nova"/>
                <a:sym typeface="Proxima Nova"/>
              </a:rPr>
              <a:t>ecosystem data</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Takeaway: </a:t>
            </a:r>
            <a:r>
              <a:rPr b="0" i="0" lang="en-US" sz="800" u="none" cap="none" strike="noStrike">
                <a:solidFill>
                  <a:schemeClr val="dk1"/>
                </a:solidFill>
                <a:latin typeface="Proxima Nova"/>
                <a:ea typeface="Proxima Nova"/>
                <a:cs typeface="Proxima Nova"/>
                <a:sym typeface="Proxima Nova"/>
              </a:rPr>
              <a:t>Long-term margin expansion driver, </a:t>
            </a:r>
            <a:r>
              <a:rPr b="1" i="0" lang="en-US" sz="800" u="none" cap="none" strike="noStrike">
                <a:solidFill>
                  <a:schemeClr val="dk1"/>
                </a:solidFill>
                <a:latin typeface="Proxima Nova"/>
                <a:ea typeface="Proxima Nova"/>
                <a:cs typeface="Proxima Nova"/>
                <a:sym typeface="Proxima Nova"/>
              </a:rPr>
              <a:t>higher profitability potential </a:t>
            </a:r>
            <a:r>
              <a:rPr b="0" i="0" lang="en-US" sz="800" u="none" cap="none" strike="noStrike">
                <a:solidFill>
                  <a:schemeClr val="dk1"/>
                </a:solidFill>
                <a:latin typeface="Proxima Nova"/>
                <a:ea typeface="Proxima Nova"/>
                <a:cs typeface="Proxima Nova"/>
                <a:sym typeface="Proxima Nova"/>
              </a:rPr>
              <a:t>than rides/delivery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Key Rivals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Regional rival: </a:t>
            </a:r>
            <a:r>
              <a:rPr b="0" i="0" lang="en-US" sz="800" u="none" cap="none" strike="noStrike">
                <a:solidFill>
                  <a:schemeClr val="dk1"/>
                </a:solidFill>
                <a:latin typeface="Proxima Nova"/>
                <a:ea typeface="Proxima Nova"/>
                <a:cs typeface="Proxima Nova"/>
                <a:sym typeface="Proxima Nova"/>
              </a:rPr>
              <a:t>GoTo (Gojek - Indonesia)</a:t>
            </a:r>
            <a:endParaRPr b="1" i="0" sz="800" u="none" cap="none" strike="noStrike">
              <a:solidFill>
                <a:schemeClr val="dk1"/>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Global rival: </a:t>
            </a:r>
            <a:r>
              <a:rPr b="0" i="0" lang="en-US" sz="800" u="none" cap="none" strike="noStrike">
                <a:solidFill>
                  <a:schemeClr val="dk1"/>
                </a:solidFill>
                <a:latin typeface="Proxima Nova"/>
                <a:ea typeface="Proxima Nova"/>
                <a:cs typeface="Proxima Nova"/>
                <a:sym typeface="Proxima Nova"/>
              </a:rPr>
              <a:t>Uber (United States)</a:t>
            </a:r>
            <a:endParaRPr b="1" i="0" sz="800" u="none" cap="none" strike="noStrike">
              <a:solidFill>
                <a:schemeClr val="dk1"/>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Other key competitors: </a:t>
            </a:r>
            <a:r>
              <a:rPr b="0" i="0" lang="en-US" sz="800" u="none" cap="none" strike="noStrike">
                <a:solidFill>
                  <a:schemeClr val="dk1"/>
                </a:solidFill>
                <a:latin typeface="Proxima Nova"/>
                <a:ea typeface="Proxima Nova"/>
                <a:cs typeface="Proxima Nova"/>
                <a:sym typeface="Proxima Nova"/>
              </a:rPr>
              <a:t>Delivery Hero </a:t>
            </a:r>
            <a:r>
              <a:rPr b="1" i="0" lang="en-US" sz="800" u="none" cap="none" strike="noStrike">
                <a:solidFill>
                  <a:schemeClr val="dk1"/>
                </a:solidFill>
                <a:latin typeface="Proxima Nova"/>
                <a:ea typeface="Proxima Nova"/>
                <a:cs typeface="Proxima Nova"/>
                <a:sym typeface="Proxima Nova"/>
              </a:rPr>
              <a:t>(</a:t>
            </a:r>
            <a:r>
              <a:rPr b="0" i="0" lang="en-US" sz="800" u="none" cap="none" strike="noStrike">
                <a:solidFill>
                  <a:schemeClr val="dk1"/>
                </a:solidFill>
                <a:latin typeface="Proxima Nova"/>
                <a:ea typeface="Proxima Nova"/>
                <a:cs typeface="Proxima Nova"/>
                <a:sym typeface="Proxima Nova"/>
              </a:rPr>
              <a:t>Foodpanda), Sea Group (ShopeePay)</a:t>
            </a:r>
            <a:endParaRPr b="1" i="0" sz="800" u="none" cap="none" strike="noStrike">
              <a:solidFill>
                <a:schemeClr val="dk1"/>
              </a:solidFill>
              <a:latin typeface="Proxima Nova"/>
              <a:ea typeface="Proxima Nova"/>
              <a:cs typeface="Proxima Nova"/>
              <a:sym typeface="Proxima Nova"/>
            </a:endParaRPr>
          </a:p>
        </p:txBody>
      </p:sp>
      <p:pic>
        <p:nvPicPr>
          <p:cNvPr id="207" name="Google Shape;207;p2"/>
          <p:cNvPicPr preferRelativeResize="0"/>
          <p:nvPr/>
        </p:nvPicPr>
        <p:blipFill rotWithShape="1">
          <a:blip r:embed="rId3">
            <a:alphaModFix/>
          </a:blip>
          <a:srcRect b="2547" l="0" r="0" t="2547"/>
          <a:stretch/>
        </p:blipFill>
        <p:spPr>
          <a:xfrm>
            <a:off x="-3151847" y="4002453"/>
            <a:ext cx="3069298" cy="1966547"/>
          </a:xfrm>
          <a:prstGeom prst="rect">
            <a:avLst/>
          </a:prstGeom>
          <a:noFill/>
          <a:ln>
            <a:noFill/>
          </a:ln>
        </p:spPr>
      </p:pic>
      <p:grpSp>
        <p:nvGrpSpPr>
          <p:cNvPr id="208" name="Google Shape;208;p2"/>
          <p:cNvGrpSpPr/>
          <p:nvPr/>
        </p:nvGrpSpPr>
        <p:grpSpPr>
          <a:xfrm>
            <a:off x="282894" y="2004554"/>
            <a:ext cx="4666200" cy="2042348"/>
            <a:chOff x="0" y="0"/>
            <a:chExt cx="4666200" cy="2042348"/>
          </a:xfrm>
        </p:grpSpPr>
        <p:sp>
          <p:nvSpPr>
            <p:cNvPr id="209" name="Google Shape;209;p2"/>
            <p:cNvSpPr/>
            <p:nvPr/>
          </p:nvSpPr>
          <p:spPr>
            <a:xfrm>
              <a:off x="0" y="0"/>
              <a:ext cx="4666200" cy="638234"/>
            </a:xfrm>
            <a:prstGeom prst="roundRect">
              <a:avLst>
                <a:gd fmla="val 10000" name="adj"/>
              </a:avLst>
            </a:prstGeom>
            <a:solidFill>
              <a:srgbClr val="05B050"/>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
            <p:cNvSpPr txBox="1"/>
            <p:nvPr/>
          </p:nvSpPr>
          <p:spPr>
            <a:xfrm>
              <a:off x="997063" y="0"/>
              <a:ext cx="3669136" cy="638234"/>
            </a:xfrm>
            <a:prstGeom prst="rect">
              <a:avLst/>
            </a:prstGeom>
            <a:noFill/>
            <a:ln>
              <a:noFill/>
            </a:ln>
          </p:spPr>
          <p:txBody>
            <a:bodyPr anchorCtr="0" anchor="t" bIns="30475" lIns="30475" spcFirstLastPara="1" rIns="30475" wrap="square" tIns="30475">
              <a:noAutofit/>
            </a:bodyPr>
            <a:lstStyle/>
            <a:p>
              <a:pPr indent="0" lvl="0" marL="0" marR="0" rtl="0" algn="l">
                <a:lnSpc>
                  <a:spcPct val="9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Mobility services (Ride-Hailing)</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80"/>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Core offering</a:t>
              </a:r>
              <a:r>
                <a:rPr b="0" i="0" lang="en-US" sz="700" u="none" cap="none" strike="noStrike">
                  <a:solidFill>
                    <a:schemeClr val="dk1"/>
                  </a:solidFill>
                  <a:latin typeface="Proxima Nova"/>
                  <a:ea typeface="Proxima Nova"/>
                  <a:cs typeface="Proxima Nova"/>
                  <a:sym typeface="Proxima Nova"/>
                </a:rPr>
                <a:t>: On-demand ride-hailing across 8 Southeast Asian countries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Key features: </a:t>
              </a:r>
              <a:r>
                <a:rPr b="0" i="0" lang="en-US" sz="700" u="none" cap="none" strike="noStrike">
                  <a:solidFill>
                    <a:schemeClr val="dk1"/>
                  </a:solidFill>
                  <a:latin typeface="Proxima Nova"/>
                  <a:ea typeface="Proxima Nova"/>
                  <a:cs typeface="Proxima Nova"/>
                  <a:sym typeface="Proxima Nova"/>
                </a:rPr>
                <a:t>Dynamic pricing &amp; route optimisation, GrabShare (Carpooling), Safety features (in-app driver verification, emergency assistance)</a:t>
              </a:r>
              <a:endParaRPr b="1" i="0" sz="700" u="none" cap="none" strike="noStrike">
                <a:solidFill>
                  <a:schemeClr val="dk1"/>
                </a:solidFill>
                <a:latin typeface="Proxima Nova"/>
                <a:ea typeface="Proxima Nova"/>
                <a:cs typeface="Proxima Nova"/>
                <a:sym typeface="Proxima Nova"/>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Strategic role: </a:t>
              </a:r>
              <a:r>
                <a:rPr b="0" i="0" lang="en-US" sz="700" u="none" cap="none" strike="noStrike">
                  <a:solidFill>
                    <a:schemeClr val="dk1"/>
                  </a:solidFill>
                  <a:latin typeface="Proxima Nova"/>
                  <a:ea typeface="Proxima Nova"/>
                  <a:cs typeface="Proxima Nova"/>
                  <a:sym typeface="Proxima Nova"/>
                </a:rPr>
                <a:t>Anchor service that built Grab’s brand and user base</a:t>
              </a:r>
              <a:endParaRPr b="1" i="0" sz="700" u="none" cap="none" strike="noStrike">
                <a:solidFill>
                  <a:schemeClr val="dk1"/>
                </a:solidFill>
                <a:latin typeface="Proxima Nova"/>
                <a:ea typeface="Proxima Nova"/>
                <a:cs typeface="Proxima Nova"/>
                <a:sym typeface="Proxima Nova"/>
              </a:endParaRPr>
            </a:p>
          </p:txBody>
        </p:sp>
        <p:sp>
          <p:nvSpPr>
            <p:cNvPr id="211" name="Google Shape;211;p2"/>
            <p:cNvSpPr/>
            <p:nvPr/>
          </p:nvSpPr>
          <p:spPr>
            <a:xfrm>
              <a:off x="63823" y="63823"/>
              <a:ext cx="933240" cy="510587"/>
            </a:xfrm>
            <a:prstGeom prst="roundRect">
              <a:avLst>
                <a:gd fmla="val 10000" name="adj"/>
              </a:avLst>
            </a:prstGeom>
            <a:blipFill rotWithShape="1">
              <a:blip r:embed="rId4">
                <a:alphaModFix/>
              </a:blip>
              <a:stretch>
                <a:fillRect b="-104" l="-6258" r="-27728" t="105"/>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0" y="702057"/>
              <a:ext cx="4666200" cy="638234"/>
            </a:xfrm>
            <a:prstGeom prst="roundRect">
              <a:avLst>
                <a:gd fmla="val 10000" name="adj"/>
              </a:avLst>
            </a:prstGeom>
            <a:solidFill>
              <a:srgbClr val="05B05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
            <p:cNvSpPr txBox="1"/>
            <p:nvPr/>
          </p:nvSpPr>
          <p:spPr>
            <a:xfrm>
              <a:off x="997063" y="702057"/>
              <a:ext cx="3669136" cy="638234"/>
            </a:xfrm>
            <a:prstGeom prst="rect">
              <a:avLst/>
            </a:prstGeom>
            <a:noFill/>
            <a:ln>
              <a:noFill/>
            </a:ln>
          </p:spPr>
          <p:txBody>
            <a:bodyPr anchorCtr="0" anchor="t" bIns="30475" lIns="30475" spcFirstLastPara="1" rIns="30475" wrap="square" tIns="30475">
              <a:noAutofit/>
            </a:bodyPr>
            <a:lstStyle/>
            <a:p>
              <a:pPr indent="0" lvl="0" marL="0" marR="0" rtl="0" algn="l">
                <a:lnSpc>
                  <a:spcPct val="9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Delivery services (Food, Groceries, Logistics)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80"/>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Core offering: </a:t>
              </a:r>
              <a:r>
                <a:rPr b="0" i="0" lang="en-US" sz="700" u="none" cap="none" strike="noStrike">
                  <a:solidFill>
                    <a:schemeClr val="dk1"/>
                  </a:solidFill>
                  <a:latin typeface="Proxima Nova"/>
                  <a:ea typeface="Proxima Nova"/>
                  <a:cs typeface="Proxima Nova"/>
                  <a:sym typeface="Proxima Nova"/>
                </a:rPr>
                <a:t>Food delivery (GrabFood), grocery delivery, and parcel logistics</a:t>
              </a:r>
              <a:endParaRPr b="1" i="0" sz="700" u="none" cap="none" strike="noStrike">
                <a:solidFill>
                  <a:schemeClr val="dk1"/>
                </a:solidFill>
                <a:latin typeface="Proxima Nova"/>
                <a:ea typeface="Proxima Nova"/>
                <a:cs typeface="Proxima Nova"/>
                <a:sym typeface="Proxima Nova"/>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Key features: </a:t>
              </a:r>
              <a:r>
                <a:rPr b="0" i="0" lang="en-US" sz="700" u="none" cap="none" strike="noStrike">
                  <a:solidFill>
                    <a:schemeClr val="dk1"/>
                  </a:solidFill>
                  <a:latin typeface="Proxima Nova"/>
                  <a:ea typeface="Proxima Nova"/>
                  <a:cs typeface="Proxima Nova"/>
                  <a:sym typeface="Proxima Nova"/>
                </a:rPr>
                <a:t>GrabUnlimited subscription (free delivery, discounts), Share saver (group orders)</a:t>
              </a:r>
              <a:endParaRPr b="1" i="0" sz="700" u="none" cap="none" strike="noStrike">
                <a:solidFill>
                  <a:schemeClr val="dk1"/>
                </a:solidFill>
                <a:latin typeface="Proxima Nova"/>
                <a:ea typeface="Proxima Nova"/>
                <a:cs typeface="Proxima Nova"/>
                <a:sym typeface="Proxima Nova"/>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Strategic role: </a:t>
              </a:r>
              <a:r>
                <a:rPr b="0" i="0" lang="en-US" sz="700" u="none" cap="none" strike="noStrike">
                  <a:solidFill>
                    <a:schemeClr val="dk1"/>
                  </a:solidFill>
                  <a:latin typeface="Proxima Nova"/>
                  <a:ea typeface="Proxima Nova"/>
                  <a:cs typeface="Proxima Nova"/>
                  <a:sym typeface="Proxima Nova"/>
                </a:rPr>
                <a:t>High-frequency service that drives daily app usage</a:t>
              </a:r>
              <a:endParaRPr b="1" i="0" sz="700" u="none" cap="none" strike="noStrike">
                <a:solidFill>
                  <a:schemeClr val="dk1"/>
                </a:solidFill>
                <a:latin typeface="Proxima Nova"/>
                <a:ea typeface="Proxima Nova"/>
                <a:cs typeface="Proxima Nova"/>
                <a:sym typeface="Proxima Nova"/>
              </a:endParaRPr>
            </a:p>
          </p:txBody>
        </p:sp>
        <p:sp>
          <p:nvSpPr>
            <p:cNvPr id="214" name="Google Shape;214;p2"/>
            <p:cNvSpPr/>
            <p:nvPr/>
          </p:nvSpPr>
          <p:spPr>
            <a:xfrm>
              <a:off x="63823" y="765880"/>
              <a:ext cx="933240" cy="510587"/>
            </a:xfrm>
            <a:prstGeom prst="roundRect">
              <a:avLst>
                <a:gd fmla="val 10000" name="adj"/>
              </a:avLst>
            </a:prstGeom>
            <a:blipFill rotWithShape="1">
              <a:blip r:embed="rId5">
                <a:alphaModFix/>
              </a:blip>
              <a:stretch>
                <a:fillRect b="-21977" l="-681" r="678" t="-15953"/>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
            <p:cNvSpPr/>
            <p:nvPr/>
          </p:nvSpPr>
          <p:spPr>
            <a:xfrm>
              <a:off x="0" y="1404114"/>
              <a:ext cx="4666200" cy="638234"/>
            </a:xfrm>
            <a:prstGeom prst="roundRect">
              <a:avLst>
                <a:gd fmla="val 10000" name="adj"/>
              </a:avLst>
            </a:prstGeom>
            <a:solidFill>
              <a:srgbClr val="05B050"/>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
            <p:cNvSpPr txBox="1"/>
            <p:nvPr/>
          </p:nvSpPr>
          <p:spPr>
            <a:xfrm>
              <a:off x="997063" y="1404114"/>
              <a:ext cx="3669136" cy="638234"/>
            </a:xfrm>
            <a:prstGeom prst="rect">
              <a:avLst/>
            </a:prstGeom>
            <a:noFill/>
            <a:ln>
              <a:noFill/>
            </a:ln>
          </p:spPr>
          <p:txBody>
            <a:bodyPr anchorCtr="0" anchor="t" bIns="30475" lIns="30475" spcFirstLastPara="1" rIns="30475" wrap="square" tIns="30475">
              <a:noAutofit/>
            </a:bodyPr>
            <a:lstStyle/>
            <a:p>
              <a:pPr indent="0" lvl="0" marL="0" marR="0" rtl="0" algn="l">
                <a:lnSpc>
                  <a:spcPct val="9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Financial services (Fintech &amp; Digital Banking)</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80"/>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Core offering: </a:t>
              </a:r>
              <a:r>
                <a:rPr b="0" i="0" lang="en-US" sz="700" u="none" cap="none" strike="noStrike">
                  <a:solidFill>
                    <a:schemeClr val="dk1"/>
                  </a:solidFill>
                  <a:latin typeface="Proxima Nova"/>
                  <a:ea typeface="Proxima Nova"/>
                  <a:cs typeface="Proxima Nova"/>
                  <a:sym typeface="Proxima Nova"/>
                </a:rPr>
                <a:t>Digital wallet (GrabPay), Buy-now-pay-later, lending and insurance</a:t>
              </a:r>
              <a:endParaRPr b="1" i="0" sz="700" u="none" cap="none" strike="noStrike">
                <a:solidFill>
                  <a:schemeClr val="dk1"/>
                </a:solidFill>
                <a:latin typeface="Proxima Nova"/>
                <a:ea typeface="Proxima Nova"/>
                <a:cs typeface="Proxima Nova"/>
                <a:sym typeface="Proxima Nova"/>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Key features: </a:t>
              </a:r>
              <a:r>
                <a:rPr b="0" i="0" lang="en-US" sz="700" u="none" cap="none" strike="noStrike">
                  <a:solidFill>
                    <a:schemeClr val="dk1"/>
                  </a:solidFill>
                  <a:latin typeface="Proxima Nova"/>
                  <a:ea typeface="Proxima Nova"/>
                  <a:cs typeface="Proxima Nova"/>
                  <a:sym typeface="Proxima Nova"/>
                </a:rPr>
                <a:t>Customer deposits from digital bank partnerships, credit scoring and bundled financial products for users and merchants</a:t>
              </a:r>
              <a:endParaRPr b="1" i="0" sz="700" u="none" cap="none" strike="noStrike">
                <a:solidFill>
                  <a:schemeClr val="dk1"/>
                </a:solidFill>
                <a:latin typeface="Proxima Nova"/>
                <a:ea typeface="Proxima Nova"/>
                <a:cs typeface="Proxima Nova"/>
                <a:sym typeface="Proxima Nova"/>
              </a:endParaRPr>
            </a:p>
            <a:p>
              <a:pPr indent="-57150" lvl="1" marL="57150" marR="0" rtl="0" algn="l">
                <a:lnSpc>
                  <a:spcPct val="90000"/>
                </a:lnSpc>
                <a:spcBef>
                  <a:spcPts val="105"/>
                </a:spcBef>
                <a:spcAft>
                  <a:spcPts val="0"/>
                </a:spcAft>
                <a:buClr>
                  <a:srgbClr val="000000"/>
                </a:buClr>
                <a:buSzPts val="700"/>
                <a:buFont typeface="Arial"/>
                <a:buChar char="•"/>
              </a:pPr>
              <a:r>
                <a:rPr b="1" i="0" lang="en-US" sz="700" u="none" cap="none" strike="noStrike">
                  <a:solidFill>
                    <a:schemeClr val="dk1"/>
                  </a:solidFill>
                  <a:latin typeface="Proxima Nova"/>
                  <a:ea typeface="Proxima Nova"/>
                  <a:cs typeface="Proxima Nova"/>
                  <a:sym typeface="Proxima Nova"/>
                </a:rPr>
                <a:t>Strategic role: </a:t>
              </a:r>
              <a:r>
                <a:rPr b="0" i="0" lang="en-US" sz="700" u="none" cap="none" strike="noStrike">
                  <a:solidFill>
                    <a:schemeClr val="dk1"/>
                  </a:solidFill>
                  <a:latin typeface="Proxima Nova"/>
                  <a:ea typeface="Proxima Nova"/>
                  <a:cs typeface="Proxima Nova"/>
                  <a:sym typeface="Proxima Nova"/>
                </a:rPr>
                <a:t>Highest margin growth engine, leveraging Grab’s ecosystem data</a:t>
              </a:r>
              <a:endParaRPr b="1" i="0" sz="700" u="none" cap="none" strike="noStrike">
                <a:solidFill>
                  <a:schemeClr val="dk1"/>
                </a:solidFill>
                <a:latin typeface="Proxima Nova"/>
                <a:ea typeface="Proxima Nova"/>
                <a:cs typeface="Proxima Nova"/>
                <a:sym typeface="Proxima Nova"/>
              </a:endParaRPr>
            </a:p>
          </p:txBody>
        </p:sp>
        <p:sp>
          <p:nvSpPr>
            <p:cNvPr id="217" name="Google Shape;217;p2"/>
            <p:cNvSpPr/>
            <p:nvPr/>
          </p:nvSpPr>
          <p:spPr>
            <a:xfrm>
              <a:off x="63823" y="1467938"/>
              <a:ext cx="933240" cy="510587"/>
            </a:xfrm>
            <a:prstGeom prst="roundRect">
              <a:avLst>
                <a:gd fmla="val 10000" name="adj"/>
              </a:avLst>
            </a:prstGeom>
            <a:blipFill rotWithShape="1">
              <a:blip r:embed="rId6">
                <a:alphaModFix/>
              </a:blip>
              <a:stretch>
                <a:fillRect b="-8723" l="-6257" r="-1948" t="-12468"/>
              </a:stretch>
            </a:blip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8" name="Google Shape;218;p2"/>
          <p:cNvPicPr preferRelativeResize="0"/>
          <p:nvPr/>
        </p:nvPicPr>
        <p:blipFill rotWithShape="1">
          <a:blip r:embed="rId7">
            <a:alphaModFix/>
          </a:blip>
          <a:srcRect b="0" l="935" r="2345" t="12778"/>
          <a:stretch/>
        </p:blipFill>
        <p:spPr>
          <a:xfrm>
            <a:off x="-3151847" y="2184400"/>
            <a:ext cx="3069298" cy="1761190"/>
          </a:xfrm>
          <a:prstGeom prst="rect">
            <a:avLst/>
          </a:prstGeom>
          <a:noFill/>
          <a:ln>
            <a:noFill/>
          </a:ln>
        </p:spPr>
      </p:pic>
      <p:pic>
        <p:nvPicPr>
          <p:cNvPr descr="A screenshot of a computer&#10;&#10;AI-generated content may be incorrect." id="219" name="Google Shape;219;p2"/>
          <p:cNvPicPr preferRelativeResize="0"/>
          <p:nvPr/>
        </p:nvPicPr>
        <p:blipFill rotWithShape="1">
          <a:blip r:embed="rId8">
            <a:alphaModFix/>
          </a:blip>
          <a:srcRect b="0" l="0" r="0" t="0"/>
          <a:stretch/>
        </p:blipFill>
        <p:spPr>
          <a:xfrm>
            <a:off x="282894" y="5146916"/>
            <a:ext cx="4642540" cy="1103685"/>
          </a:xfrm>
          <a:prstGeom prst="rect">
            <a:avLst/>
          </a:prstGeom>
          <a:noFill/>
          <a:ln>
            <a:noFill/>
          </a:ln>
        </p:spPr>
      </p:pic>
      <p:pic>
        <p:nvPicPr>
          <p:cNvPr descr="A screenshot of a computer&#10;&#10;AI-generated content may be incorrect." id="220" name="Google Shape;220;p2"/>
          <p:cNvPicPr preferRelativeResize="0"/>
          <p:nvPr/>
        </p:nvPicPr>
        <p:blipFill rotWithShape="1">
          <a:blip r:embed="rId9">
            <a:alphaModFix/>
          </a:blip>
          <a:srcRect b="37982" l="0" r="0" t="0"/>
          <a:stretch/>
        </p:blipFill>
        <p:spPr>
          <a:xfrm>
            <a:off x="286320" y="4078163"/>
            <a:ext cx="4642541" cy="1037493"/>
          </a:xfrm>
          <a:prstGeom prst="rect">
            <a:avLst/>
          </a:prstGeom>
          <a:noFill/>
          <a:ln>
            <a:noFill/>
          </a:ln>
        </p:spPr>
      </p:pic>
      <p:pic>
        <p:nvPicPr>
          <p:cNvPr descr="Grab Logo PNG Transparent &amp; SVG Vector - Freebie Supply" id="221" name="Google Shape;221;p2"/>
          <p:cNvPicPr preferRelativeResize="0"/>
          <p:nvPr/>
        </p:nvPicPr>
        <p:blipFill rotWithShape="1">
          <a:blip r:embed="rId10">
            <a:alphaModFix/>
          </a:blip>
          <a:srcRect b="0" l="0" r="0" t="0"/>
          <a:stretch/>
        </p:blipFill>
        <p:spPr>
          <a:xfrm>
            <a:off x="5626507" y="4587339"/>
            <a:ext cx="1209192" cy="464303"/>
          </a:xfrm>
          <a:prstGeom prst="rect">
            <a:avLst/>
          </a:prstGeom>
          <a:noFill/>
          <a:ln>
            <a:noFill/>
          </a:ln>
        </p:spPr>
      </p:pic>
      <p:pic>
        <p:nvPicPr>
          <p:cNvPr descr="Download Foodpanda Logo in SVG Vector or PNG File Format - Logo.wine" id="222" name="Google Shape;222;p2"/>
          <p:cNvPicPr preferRelativeResize="0"/>
          <p:nvPr/>
        </p:nvPicPr>
        <p:blipFill rotWithShape="1">
          <a:blip r:embed="rId11">
            <a:alphaModFix/>
          </a:blip>
          <a:srcRect b="37135" l="9354" r="9662" t="35447"/>
          <a:stretch/>
        </p:blipFill>
        <p:spPr>
          <a:xfrm>
            <a:off x="7427000" y="5458386"/>
            <a:ext cx="2057069" cy="464302"/>
          </a:xfrm>
          <a:prstGeom prst="rect">
            <a:avLst/>
          </a:prstGeom>
          <a:noFill/>
          <a:ln>
            <a:noFill/>
          </a:ln>
        </p:spPr>
      </p:pic>
      <p:pic>
        <p:nvPicPr>
          <p:cNvPr id="223" name="Google Shape;223;p2"/>
          <p:cNvPicPr preferRelativeResize="0"/>
          <p:nvPr/>
        </p:nvPicPr>
        <p:blipFill rotWithShape="1">
          <a:blip r:embed="rId12">
            <a:alphaModFix/>
          </a:blip>
          <a:srcRect b="0" l="0" r="0" t="0"/>
          <a:stretch/>
        </p:blipFill>
        <p:spPr>
          <a:xfrm>
            <a:off x="7605148" y="4596909"/>
            <a:ext cx="1700775" cy="464302"/>
          </a:xfrm>
          <a:prstGeom prst="rect">
            <a:avLst/>
          </a:prstGeom>
          <a:noFill/>
          <a:ln>
            <a:noFill/>
          </a:ln>
        </p:spPr>
      </p:pic>
      <p:pic>
        <p:nvPicPr>
          <p:cNvPr id="224" name="Google Shape;224;p2"/>
          <p:cNvPicPr preferRelativeResize="0"/>
          <p:nvPr/>
        </p:nvPicPr>
        <p:blipFill rotWithShape="1">
          <a:blip r:embed="rId13">
            <a:alphaModFix/>
          </a:blip>
          <a:srcRect b="0" l="0" r="0" t="0"/>
          <a:stretch/>
        </p:blipFill>
        <p:spPr>
          <a:xfrm>
            <a:off x="5290877" y="5461762"/>
            <a:ext cx="1880452" cy="46430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ph idx="12" type="sldNum"/>
          </p:nvPr>
        </p:nvSpPr>
        <p:spPr>
          <a:xfrm>
            <a:off x="7605150" y="6336185"/>
            <a:ext cx="2012100" cy="214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0" name="Google Shape;230;p20"/>
          <p:cNvSpPr txBox="1"/>
          <p:nvPr>
            <p:ph idx="2" type="body"/>
          </p:nvPr>
        </p:nvSpPr>
        <p:spPr>
          <a:xfrm>
            <a:off x="287400" y="584027"/>
            <a:ext cx="9331200" cy="290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Unlocking Profitable Growth: Grab’s Fintech &amp; AI Transformation</a:t>
            </a:r>
            <a:endParaRPr/>
          </a:p>
        </p:txBody>
      </p:sp>
      <p:sp>
        <p:nvSpPr>
          <p:cNvPr id="231" name="Google Shape;231;p20"/>
          <p:cNvSpPr txBox="1"/>
          <p:nvPr/>
        </p:nvSpPr>
        <p:spPr>
          <a:xfrm>
            <a:off x="286800" y="284206"/>
            <a:ext cx="3165300" cy="243000"/>
          </a:xfrm>
          <a:prstGeom prst="rect">
            <a:avLst/>
          </a:prstGeom>
          <a:noFill/>
          <a:ln>
            <a:noFill/>
          </a:ln>
        </p:spPr>
        <p:txBody>
          <a:bodyPr anchorCtr="0" anchor="ctr" bIns="45700" lIns="91425" spcFirstLastPara="1" rIns="91425" wrap="square" tIns="45700">
            <a:noAutofit/>
          </a:bodyPr>
          <a:lstStyle/>
          <a:p>
            <a:pPr indent="-285757" lvl="0" marL="285757" marR="0" rtl="0" algn="l">
              <a:lnSpc>
                <a:spcPct val="90000"/>
              </a:lnSpc>
              <a:spcBef>
                <a:spcPts val="0"/>
              </a:spcBef>
              <a:spcAft>
                <a:spcPts val="0"/>
              </a:spcAft>
              <a:buClr>
                <a:schemeClr val="dk1"/>
              </a:buClr>
              <a:buSzPts val="1000"/>
              <a:buFont typeface="Arial"/>
              <a:buAutoNum type="romanUcPeriod"/>
            </a:pPr>
            <a:r>
              <a:rPr b="0" i="0" lang="en-US" sz="1000" u="none" cap="none" strike="noStrike">
                <a:solidFill>
                  <a:schemeClr val="dk1"/>
                </a:solidFill>
                <a:latin typeface="Proxima Nova"/>
                <a:ea typeface="Proxima Nova"/>
                <a:cs typeface="Proxima Nova"/>
                <a:sym typeface="Proxima Nova"/>
              </a:rPr>
              <a:t>INVESTMENT THESIS</a:t>
            </a:r>
            <a:endParaRPr b="0" i="0" sz="1000" u="none" cap="none" strike="noStrike">
              <a:solidFill>
                <a:schemeClr val="dk1"/>
              </a:solidFill>
              <a:latin typeface="Proxima Nova"/>
              <a:ea typeface="Proxima Nova"/>
              <a:cs typeface="Proxima Nova"/>
              <a:sym typeface="Proxima Nova"/>
            </a:endParaRPr>
          </a:p>
        </p:txBody>
      </p:sp>
      <p:sp>
        <p:nvSpPr>
          <p:cNvPr id="232" name="Google Shape;232;p20"/>
          <p:cNvSpPr txBox="1"/>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marR="0" rtl="0" algn="l">
              <a:lnSpc>
                <a:spcPct val="100000"/>
              </a:lnSpc>
              <a:spcBef>
                <a:spcPts val="0"/>
              </a:spcBef>
              <a:spcAft>
                <a:spcPts val="0"/>
              </a:spcAft>
              <a:buClr>
                <a:srgbClr val="7F7F7F"/>
              </a:buClr>
              <a:buSzPts val="800"/>
              <a:buFont typeface="Arial"/>
              <a:buNone/>
            </a:pPr>
            <a:r>
              <a:rPr b="0" i="1" lang="en-US" sz="800" u="none" cap="none" strike="noStrike">
                <a:solidFill>
                  <a:srgbClr val="7F7F7F"/>
                </a:solidFill>
                <a:latin typeface="Proxima Nova"/>
                <a:ea typeface="Proxima Nova"/>
                <a:cs typeface="Proxima Nova"/>
                <a:sym typeface="Proxima Nova"/>
              </a:rPr>
              <a:t>Source(s):</a:t>
            </a:r>
            <a:endParaRPr b="0" i="0" sz="1400" u="none" cap="none" strike="noStrike">
              <a:solidFill>
                <a:srgbClr val="000000"/>
              </a:solidFill>
              <a:latin typeface="Arial"/>
              <a:ea typeface="Arial"/>
              <a:cs typeface="Arial"/>
              <a:sym typeface="Arial"/>
            </a:endParaRPr>
          </a:p>
        </p:txBody>
      </p:sp>
      <p:sp>
        <p:nvSpPr>
          <p:cNvPr id="233" name="Google Shape;233;p20"/>
          <p:cNvSpPr txBox="1"/>
          <p:nvPr/>
        </p:nvSpPr>
        <p:spPr>
          <a:xfrm>
            <a:off x="305893" y="997268"/>
            <a:ext cx="4647107" cy="82675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Fintech as the growth engine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0" i="0" lang="en-US" sz="800" u="none" cap="none" strike="noStrike">
                <a:solidFill>
                  <a:srgbClr val="000000"/>
                </a:solidFill>
                <a:latin typeface="Proxima Nova"/>
                <a:ea typeface="Proxima Nova"/>
                <a:cs typeface="Proxima Nova"/>
                <a:sym typeface="Proxima Nova"/>
              </a:rPr>
              <a:t>Grab’s </a:t>
            </a:r>
            <a:r>
              <a:rPr b="1" i="0" lang="en-US" sz="800" u="none" cap="none" strike="noStrike">
                <a:solidFill>
                  <a:srgbClr val="000000"/>
                </a:solidFill>
                <a:latin typeface="Proxima Nova"/>
                <a:ea typeface="Proxima Nova"/>
                <a:cs typeface="Proxima Nova"/>
                <a:sym typeface="Proxima Nova"/>
              </a:rPr>
              <a:t>long-term grow</a:t>
            </a:r>
            <a:r>
              <a:rPr b="0" i="0" lang="en-US" sz="800" u="none" cap="none" strike="noStrike">
                <a:solidFill>
                  <a:srgbClr val="000000"/>
                </a:solidFill>
                <a:latin typeface="Proxima Nova"/>
                <a:ea typeface="Proxima Nova"/>
                <a:cs typeface="Proxima Nova"/>
                <a:sym typeface="Proxima Nova"/>
              </a:rPr>
              <a:t>th will come not from expanding rides or food delivery where it already dominates but from </a:t>
            </a:r>
            <a:r>
              <a:rPr b="1" i="0" lang="en-US" sz="800" u="none" cap="none" strike="noStrike">
                <a:solidFill>
                  <a:srgbClr val="000000"/>
                </a:solidFill>
                <a:latin typeface="Proxima Nova"/>
                <a:ea typeface="Proxima Nova"/>
                <a:cs typeface="Proxima Nova"/>
                <a:sym typeface="Proxima Nova"/>
              </a:rPr>
              <a:t>scaling fintech </a:t>
            </a:r>
            <a:r>
              <a:rPr b="0" i="0" lang="en-US" sz="800" u="none" cap="none" strike="noStrike">
                <a:solidFill>
                  <a:srgbClr val="000000"/>
                </a:solidFill>
                <a:latin typeface="Proxima Nova"/>
                <a:ea typeface="Proxima Nova"/>
                <a:cs typeface="Proxima Nova"/>
                <a:sym typeface="Proxima Nova"/>
              </a:rPr>
              <a:t>(GrabPay, lending, insurance) and </a:t>
            </a:r>
            <a:r>
              <a:rPr b="1" i="0" lang="en-US" sz="800" u="none" cap="none" strike="noStrike">
                <a:solidFill>
                  <a:srgbClr val="000000"/>
                </a:solidFill>
                <a:latin typeface="Proxima Nova"/>
                <a:ea typeface="Proxima Nova"/>
                <a:cs typeface="Proxima Nova"/>
                <a:sym typeface="Proxima Nova"/>
              </a:rPr>
              <a:t>embedding AI personalization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0" i="0" lang="en-US" sz="800" u="none" cap="none" strike="noStrike">
                <a:solidFill>
                  <a:srgbClr val="000000"/>
                </a:solidFill>
                <a:latin typeface="Proxima Nova"/>
                <a:ea typeface="Proxima Nova"/>
                <a:cs typeface="Proxima Nova"/>
                <a:sym typeface="Proxima Nova"/>
              </a:rPr>
              <a:t>These </a:t>
            </a:r>
            <a:r>
              <a:rPr b="1" i="0" lang="en-US" sz="800" u="none" cap="none" strike="noStrike">
                <a:solidFill>
                  <a:srgbClr val="000000"/>
                </a:solidFill>
                <a:latin typeface="Proxima Nova"/>
                <a:ea typeface="Proxima Nova"/>
                <a:cs typeface="Proxima Nova"/>
                <a:sym typeface="Proxima Nova"/>
              </a:rPr>
              <a:t>higher-margin, underleveraged services </a:t>
            </a:r>
            <a:r>
              <a:rPr b="0" i="0" lang="en-US" sz="800" u="none" cap="none" strike="noStrike">
                <a:solidFill>
                  <a:srgbClr val="000000"/>
                </a:solidFill>
                <a:latin typeface="Proxima Nova"/>
                <a:ea typeface="Proxima Nova"/>
                <a:cs typeface="Proxima Nova"/>
                <a:sym typeface="Proxima Nova"/>
              </a:rPr>
              <a:t>can transform Grab from a “super-app” into a fintech + AI platform, </a:t>
            </a:r>
            <a:r>
              <a:rPr b="1" i="0" lang="en-US" sz="800" u="none" cap="none" strike="noStrike">
                <a:solidFill>
                  <a:srgbClr val="000000"/>
                </a:solidFill>
                <a:latin typeface="Proxima Nova"/>
                <a:ea typeface="Proxima Nova"/>
                <a:cs typeface="Proxima Nova"/>
                <a:sym typeface="Proxima Nova"/>
              </a:rPr>
              <a:t>driving profitability, defensibility, and ecosystem stickiness</a:t>
            </a:r>
            <a:endParaRPr b="0" i="0" sz="1400" u="none" cap="none" strike="noStrike">
              <a:solidFill>
                <a:srgbClr val="000000"/>
              </a:solidFill>
              <a:latin typeface="Arial"/>
              <a:ea typeface="Arial"/>
              <a:cs typeface="Arial"/>
              <a:sym typeface="Arial"/>
            </a:endParaRPr>
          </a:p>
        </p:txBody>
      </p:sp>
      <p:sp>
        <p:nvSpPr>
          <p:cNvPr id="234" name="Google Shape;234;p20"/>
          <p:cNvSpPr txBox="1"/>
          <p:nvPr/>
        </p:nvSpPr>
        <p:spPr>
          <a:xfrm>
            <a:off x="305893" y="2076873"/>
            <a:ext cx="2602450" cy="82675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Past plans (2019-2023)</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Launches: </a:t>
            </a:r>
            <a:r>
              <a:rPr b="0" i="0" lang="en-US" sz="800" u="none" cap="none" strike="noStrike">
                <a:solidFill>
                  <a:srgbClr val="000000"/>
                </a:solidFill>
                <a:latin typeface="Proxima Nova"/>
                <a:ea typeface="Proxima Nova"/>
                <a:cs typeface="Proxima Nova"/>
                <a:sym typeface="Proxima Nova"/>
              </a:rPr>
              <a:t>GrabPay wallet, GrabInsure, GrabFinance</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Challenges: </a:t>
            </a:r>
            <a:r>
              <a:rPr b="0" i="0" lang="en-US" sz="800" u="none" cap="none" strike="noStrike">
                <a:solidFill>
                  <a:srgbClr val="000000"/>
                </a:solidFill>
                <a:latin typeface="Proxima Nova"/>
                <a:ea typeface="Proxima Nova"/>
                <a:cs typeface="Proxima Nova"/>
                <a:sym typeface="Proxima Nova"/>
              </a:rPr>
              <a:t>Initially slow adoption due to competitors (Touch-N-Go, ShopeePay)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Focus: </a:t>
            </a:r>
            <a:r>
              <a:rPr b="0" i="0" lang="en-US" sz="800" u="none" cap="none" strike="noStrike">
                <a:solidFill>
                  <a:srgbClr val="000000"/>
                </a:solidFill>
                <a:latin typeface="Proxima Nova"/>
                <a:ea typeface="Proxima Nova"/>
                <a:cs typeface="Proxima Nova"/>
                <a:sym typeface="Proxima Nova"/>
              </a:rPr>
              <a:t>Expansion beyond mobility and delivery</a:t>
            </a:r>
            <a:endParaRPr b="0" i="0" sz="1400" u="none" cap="none" strike="noStrike">
              <a:solidFill>
                <a:srgbClr val="000000"/>
              </a:solidFill>
              <a:latin typeface="Arial"/>
              <a:ea typeface="Arial"/>
              <a:cs typeface="Arial"/>
              <a:sym typeface="Arial"/>
            </a:endParaRPr>
          </a:p>
        </p:txBody>
      </p:sp>
      <p:sp>
        <p:nvSpPr>
          <p:cNvPr id="235" name="Google Shape;235;p20"/>
          <p:cNvSpPr txBox="1"/>
          <p:nvPr/>
        </p:nvSpPr>
        <p:spPr>
          <a:xfrm>
            <a:off x="306225" y="3081797"/>
            <a:ext cx="4666200" cy="82675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Current progress (2024-2025)</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Financial services revenue: </a:t>
            </a:r>
            <a:r>
              <a:rPr b="0" i="0" lang="en-US" sz="800" u="none" cap="none" strike="noStrike">
                <a:solidFill>
                  <a:srgbClr val="000000"/>
                </a:solidFill>
                <a:latin typeface="Proxima Nova"/>
                <a:ea typeface="Proxima Nova"/>
                <a:cs typeface="Proxima Nova"/>
                <a:sym typeface="Proxima Nova"/>
              </a:rPr>
              <a:t>US$253M (+44% YoY)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Lending portfolio: </a:t>
            </a:r>
            <a:r>
              <a:rPr b="0" i="0" lang="en-US" sz="800" u="none" cap="none" strike="noStrike">
                <a:solidFill>
                  <a:srgbClr val="000000"/>
                </a:solidFill>
                <a:latin typeface="Proxima Nova"/>
                <a:ea typeface="Proxima Nova"/>
                <a:cs typeface="Proxima Nova"/>
                <a:sym typeface="Proxima Nova"/>
              </a:rPr>
              <a:t>US$536M (+47% YoY), targeting </a:t>
            </a:r>
            <a:r>
              <a:rPr b="1" i="0" lang="en-US" sz="800" u="none" cap="none" strike="noStrike">
                <a:solidFill>
                  <a:srgbClr val="000000"/>
                </a:solidFill>
                <a:latin typeface="Proxima Nova"/>
                <a:ea typeface="Proxima Nova"/>
                <a:cs typeface="Proxima Nova"/>
                <a:sym typeface="Proxima Nova"/>
              </a:rPr>
              <a:t>SMEs &amp; unbanked consumers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E-wallet leadership: </a:t>
            </a:r>
            <a:r>
              <a:rPr b="0" i="0" lang="en-US" sz="800" u="none" cap="none" strike="noStrike">
                <a:solidFill>
                  <a:srgbClr val="000000"/>
                </a:solidFill>
                <a:latin typeface="Proxima Nova"/>
                <a:ea typeface="Proxima Nova"/>
                <a:cs typeface="Proxima Nova"/>
                <a:sym typeface="Proxima Nova"/>
              </a:rPr>
              <a:t>~24% of market share in Malaysia and </a:t>
            </a:r>
            <a:r>
              <a:rPr b="1" i="0" lang="en-US" sz="800" u="none" cap="none" strike="noStrike">
                <a:solidFill>
                  <a:srgbClr val="000000"/>
                </a:solidFill>
                <a:latin typeface="Proxima Nova"/>
                <a:ea typeface="Proxima Nova"/>
                <a:cs typeface="Proxima Nova"/>
                <a:sym typeface="Proxima Nova"/>
              </a:rPr>
              <a:t>growing traction </a:t>
            </a:r>
            <a:r>
              <a:rPr b="0" i="0" lang="en-US" sz="800" u="none" cap="none" strike="noStrike">
                <a:solidFill>
                  <a:srgbClr val="000000"/>
                </a:solidFill>
                <a:latin typeface="Proxima Nova"/>
                <a:ea typeface="Proxima Nova"/>
                <a:cs typeface="Proxima Nova"/>
                <a:sym typeface="Proxima Nova"/>
              </a:rPr>
              <a:t>in Singapore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Profitability advantage</a:t>
            </a:r>
            <a:r>
              <a:rPr b="0" i="0" lang="en-US" sz="800" u="none" cap="none" strike="noStrike">
                <a:solidFill>
                  <a:srgbClr val="000000"/>
                </a:solidFill>
                <a:latin typeface="Proxima Nova"/>
                <a:ea typeface="Proxima Nova"/>
                <a:cs typeface="Proxima Nova"/>
                <a:sym typeface="Proxima Nova"/>
              </a:rPr>
              <a:t>: Financial services margins </a:t>
            </a:r>
            <a:r>
              <a:rPr b="1" i="0" lang="en-US" sz="800" u="none" cap="none" strike="noStrike">
                <a:solidFill>
                  <a:srgbClr val="000000"/>
                </a:solidFill>
                <a:latin typeface="Proxima Nova"/>
                <a:ea typeface="Proxima Nova"/>
                <a:cs typeface="Proxima Nova"/>
                <a:sym typeface="Proxima Nova"/>
              </a:rPr>
              <a:t>10-15% higher </a:t>
            </a:r>
            <a:r>
              <a:rPr b="0" i="0" lang="en-US" sz="800" u="none" cap="none" strike="noStrike">
                <a:solidFill>
                  <a:srgbClr val="000000"/>
                </a:solidFill>
                <a:latin typeface="Proxima Nova"/>
                <a:ea typeface="Proxima Nova"/>
                <a:cs typeface="Proxima Nova"/>
                <a:sym typeface="Proxima Nova"/>
              </a:rPr>
              <a:t>than rides/food delivery, but still </a:t>
            </a:r>
            <a:r>
              <a:rPr b="1" i="0" lang="en-US" sz="800" u="none" cap="none" strike="noStrike">
                <a:solidFill>
                  <a:srgbClr val="000000"/>
                </a:solidFill>
                <a:latin typeface="Proxima Nova"/>
                <a:ea typeface="Proxima Nova"/>
                <a:cs typeface="Proxima Nova"/>
                <a:sym typeface="Proxima Nova"/>
              </a:rPr>
              <a:t>&lt;20% of total GMV</a:t>
            </a:r>
            <a:endParaRPr b="0" i="0" sz="1400" u="none" cap="none" strike="noStrike">
              <a:solidFill>
                <a:srgbClr val="000000"/>
              </a:solidFill>
              <a:latin typeface="Arial"/>
              <a:ea typeface="Arial"/>
              <a:cs typeface="Arial"/>
              <a:sym typeface="Arial"/>
            </a:endParaRPr>
          </a:p>
        </p:txBody>
      </p:sp>
      <p:sp>
        <p:nvSpPr>
          <p:cNvPr id="236" name="Google Shape;236;p20"/>
          <p:cNvSpPr txBox="1"/>
          <p:nvPr/>
        </p:nvSpPr>
        <p:spPr>
          <a:xfrm>
            <a:off x="306225" y="4049750"/>
            <a:ext cx="4666200" cy="1196088"/>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Forecast (2025-2027)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Opportunities: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Cross-border</a:t>
            </a:r>
            <a:r>
              <a:rPr b="0" i="0" lang="en-US" sz="800" u="none" cap="none" strike="noStrike">
                <a:solidFill>
                  <a:srgbClr val="000000"/>
                </a:solidFill>
                <a:latin typeface="Proxima Nova"/>
                <a:ea typeface="Proxima Nova"/>
                <a:cs typeface="Proxima Nova"/>
                <a:sym typeface="Proxima Nova"/>
              </a:rPr>
              <a:t> remittances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SME credit scoring</a:t>
            </a:r>
            <a:r>
              <a:rPr b="0" i="0" lang="en-US" sz="800" u="none" cap="none" strike="noStrike">
                <a:solidFill>
                  <a:srgbClr val="000000"/>
                </a:solidFill>
                <a:latin typeface="Proxima Nova"/>
                <a:ea typeface="Proxima Nova"/>
                <a:cs typeface="Proxima Nova"/>
                <a:sym typeface="Proxima Nova"/>
              </a:rPr>
              <a:t>, potential </a:t>
            </a:r>
            <a:r>
              <a:rPr b="1" i="0" lang="en-US" sz="800" u="none" cap="none" strike="noStrike">
                <a:solidFill>
                  <a:srgbClr val="000000"/>
                </a:solidFill>
                <a:latin typeface="Proxima Nova"/>
                <a:ea typeface="Proxima Nova"/>
                <a:cs typeface="Proxima Nova"/>
                <a:sym typeface="Proxima Nova"/>
              </a:rPr>
              <a:t>partnerships</a:t>
            </a:r>
            <a:r>
              <a:rPr b="0" i="0" lang="en-US" sz="800" u="none" cap="none" strike="noStrike">
                <a:solidFill>
                  <a:srgbClr val="000000"/>
                </a:solidFill>
                <a:latin typeface="Proxima Nova"/>
                <a:ea typeface="Proxima Nova"/>
                <a:cs typeface="Proxima Nova"/>
                <a:sym typeface="Proxima Nova"/>
              </a:rPr>
              <a:t> with Wise etc.</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Micro-insurance</a:t>
            </a:r>
            <a:r>
              <a:rPr b="0" i="0" lang="en-US" sz="800" u="none" cap="none" strike="noStrike">
                <a:solidFill>
                  <a:srgbClr val="000000"/>
                </a:solidFill>
                <a:latin typeface="Proxima Nova"/>
                <a:ea typeface="Proxima Nova"/>
                <a:cs typeface="Proxima Nova"/>
                <a:sym typeface="Proxima Nova"/>
              </a:rPr>
              <a:t> expansion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Bundled</a:t>
            </a:r>
            <a:r>
              <a:rPr b="0" i="0" lang="en-US" sz="800" u="none" cap="none" strike="noStrike">
                <a:solidFill>
                  <a:srgbClr val="000000"/>
                </a:solidFill>
                <a:latin typeface="Proxima Nova"/>
                <a:ea typeface="Proxima Nova"/>
                <a:cs typeface="Proxima Nova"/>
                <a:sym typeface="Proxima Nova"/>
              </a:rPr>
              <a:t> subscriptions &amp; GrabPay cashback offers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Impact: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0" i="0" lang="en-US" sz="800" u="none" cap="none" strike="noStrike">
                <a:solidFill>
                  <a:srgbClr val="000000"/>
                </a:solidFill>
                <a:latin typeface="Proxima Nova"/>
                <a:ea typeface="Proxima Nova"/>
                <a:cs typeface="Proxima Nova"/>
                <a:sym typeface="Proxima Nova"/>
              </a:rPr>
              <a:t>If fintech grows from ~9% of revenue to a higher double-digit share, overall margins for Grab could structurally improve, </a:t>
            </a:r>
            <a:r>
              <a:rPr b="1" i="0" lang="en-US" sz="800" u="none" cap="none" strike="noStrike">
                <a:solidFill>
                  <a:srgbClr val="000000"/>
                </a:solidFill>
                <a:latin typeface="Proxima Nova"/>
                <a:ea typeface="Proxima Nova"/>
                <a:cs typeface="Proxima Nova"/>
                <a:sym typeface="Proxima Nova"/>
              </a:rPr>
              <a:t>further pushing the path to profitability</a:t>
            </a:r>
            <a:endParaRPr b="0" i="0" sz="1400" u="none" cap="none" strike="noStrike">
              <a:solidFill>
                <a:srgbClr val="000000"/>
              </a:solidFill>
              <a:latin typeface="Arial"/>
              <a:ea typeface="Arial"/>
              <a:cs typeface="Arial"/>
              <a:sym typeface="Arial"/>
            </a:endParaRPr>
          </a:p>
        </p:txBody>
      </p:sp>
      <p:sp>
        <p:nvSpPr>
          <p:cNvPr id="237" name="Google Shape;237;p20"/>
          <p:cNvSpPr txBox="1"/>
          <p:nvPr/>
        </p:nvSpPr>
        <p:spPr>
          <a:xfrm>
            <a:off x="4953000" y="996063"/>
            <a:ext cx="4647107" cy="94986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Market share &amp; Underleveraged position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34M+ MTUs </a:t>
            </a:r>
            <a:r>
              <a:rPr b="0" i="0" lang="en-US" sz="800" u="none" cap="none" strike="noStrike">
                <a:solidFill>
                  <a:srgbClr val="000000"/>
                </a:solidFill>
                <a:latin typeface="Proxima Nova"/>
                <a:ea typeface="Proxima Nova"/>
                <a:cs typeface="Proxima Nova"/>
                <a:sym typeface="Proxima Nova"/>
              </a:rPr>
              <a:t>(Monthly Transacting Users) across SEA, mostly </a:t>
            </a:r>
            <a:r>
              <a:rPr b="1" i="0" lang="en-US" sz="800" u="none" cap="none" strike="noStrike">
                <a:solidFill>
                  <a:srgbClr val="000000"/>
                </a:solidFill>
                <a:latin typeface="Proxima Nova"/>
                <a:ea typeface="Proxima Nova"/>
                <a:cs typeface="Proxima Nova"/>
                <a:sym typeface="Proxima Nova"/>
              </a:rPr>
              <a:t>monetized through rides and food delivery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Personalisation still limited</a:t>
            </a:r>
            <a:r>
              <a:rPr b="0" i="0" lang="en-US" sz="800" u="none" cap="none" strike="noStrike">
                <a:solidFill>
                  <a:srgbClr val="000000"/>
                </a:solidFill>
                <a:latin typeface="Proxima Nova"/>
                <a:ea typeface="Proxima Nova"/>
                <a:cs typeface="Proxima Nova"/>
                <a:sym typeface="Proxima Nova"/>
              </a:rPr>
              <a:t> compared to competitors like Shopee, which use algorithms to maximise tailored offers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1100"/>
              <a:buFont typeface="Arial"/>
              <a:buChar char="•"/>
            </a:pPr>
            <a:r>
              <a:rPr b="1" i="0" lang="en-US" sz="800" u="none" cap="none" strike="noStrike">
                <a:solidFill>
                  <a:srgbClr val="000000"/>
                </a:solidFill>
                <a:latin typeface="Proxima Nova"/>
                <a:ea typeface="Proxima Nova"/>
                <a:cs typeface="Proxima Nova"/>
                <a:sym typeface="Proxima Nova"/>
              </a:rPr>
              <a:t>Opportunity: Leverage data </a:t>
            </a:r>
            <a:r>
              <a:rPr b="0" i="0" lang="en-US" sz="800" u="none" cap="none" strike="noStrike">
                <a:solidFill>
                  <a:srgbClr val="000000"/>
                </a:solidFill>
                <a:latin typeface="Proxima Nova"/>
                <a:ea typeface="Proxima Nova"/>
                <a:cs typeface="Proxima Nova"/>
                <a:sym typeface="Proxima Nova"/>
              </a:rPr>
              <a:t>across mobility, delivery, and payments to </a:t>
            </a:r>
            <a:r>
              <a:rPr b="1" i="0" lang="en-US" sz="800" u="none" cap="none" strike="noStrike">
                <a:solidFill>
                  <a:srgbClr val="000000"/>
                </a:solidFill>
                <a:latin typeface="Proxima Nova"/>
                <a:ea typeface="Proxima Nova"/>
                <a:cs typeface="Proxima Nova"/>
                <a:sym typeface="Proxima Nova"/>
              </a:rPr>
              <a:t>unlock deeper engagement and revenue</a:t>
            </a:r>
            <a:endParaRPr b="0" i="0" sz="1400" u="none" cap="none" strike="noStrike">
              <a:solidFill>
                <a:srgbClr val="000000"/>
              </a:solidFill>
              <a:latin typeface="Arial"/>
              <a:ea typeface="Arial"/>
              <a:cs typeface="Arial"/>
              <a:sym typeface="Arial"/>
            </a:endParaRPr>
          </a:p>
        </p:txBody>
      </p:sp>
      <p:sp>
        <p:nvSpPr>
          <p:cNvPr id="238" name="Google Shape;238;p20"/>
          <p:cNvSpPr txBox="1"/>
          <p:nvPr/>
        </p:nvSpPr>
        <p:spPr>
          <a:xfrm>
            <a:off x="4953000" y="2042068"/>
            <a:ext cx="4644825" cy="1196088"/>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Catalysts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Data-driven competitive advantage</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Proprietary dataset </a:t>
            </a:r>
            <a:r>
              <a:rPr b="0" i="0" lang="en-US" sz="800" u="none" cap="none" strike="noStrike">
                <a:solidFill>
                  <a:srgbClr val="000000"/>
                </a:solidFill>
                <a:latin typeface="Proxima Nova"/>
                <a:ea typeface="Proxima Nova"/>
                <a:cs typeface="Proxima Nova"/>
                <a:sym typeface="Proxima Nova"/>
              </a:rPr>
              <a:t>across mobility, delivery, and payments are very </a:t>
            </a:r>
            <a:r>
              <a:rPr b="1" i="0" lang="en-US" sz="800" u="none" cap="none" strike="noStrike">
                <a:solidFill>
                  <a:srgbClr val="000000"/>
                </a:solidFill>
                <a:latin typeface="Proxima Nova"/>
                <a:ea typeface="Proxima Nova"/>
                <a:cs typeface="Proxima Nova"/>
                <a:sym typeface="Proxima Nova"/>
              </a:rPr>
              <a:t>valuable intangible assets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AI models embedded </a:t>
            </a:r>
            <a:r>
              <a:rPr b="0" i="0" lang="en-US" sz="800" u="none" cap="none" strike="noStrike">
                <a:solidFill>
                  <a:srgbClr val="000000"/>
                </a:solidFill>
                <a:latin typeface="Proxima Nova"/>
                <a:ea typeface="Proxima Nova"/>
                <a:cs typeface="Proxima Nova"/>
                <a:sym typeface="Proxima Nova"/>
              </a:rPr>
              <a:t>in GrabUnlimited, GrabPay, and lending/insurance products can </a:t>
            </a:r>
            <a:r>
              <a:rPr b="1" i="0" lang="en-US" sz="800" u="none" cap="none" strike="noStrike">
                <a:solidFill>
                  <a:srgbClr val="000000"/>
                </a:solidFill>
                <a:latin typeface="Proxima Nova"/>
                <a:ea typeface="Proxima Nova"/>
                <a:cs typeface="Proxima Nova"/>
                <a:sym typeface="Proxima Nova"/>
              </a:rPr>
              <a:t>strengthen stickiness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create barriers to entry</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Ecosystem flywheel &amp; Monetisation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Cross-selling &amp; bundling </a:t>
            </a:r>
            <a:r>
              <a:rPr b="0" i="0" lang="en-US" sz="800" u="none" cap="none" strike="noStrike">
                <a:solidFill>
                  <a:srgbClr val="000000"/>
                </a:solidFill>
                <a:latin typeface="Proxima Nova"/>
                <a:ea typeface="Proxima Nova"/>
                <a:cs typeface="Proxima Nova"/>
                <a:sym typeface="Proxima Nova"/>
              </a:rPr>
              <a:t>(rides + subscriptions, Grabpay cashback) </a:t>
            </a:r>
            <a:r>
              <a:rPr b="1" i="0" lang="en-US" sz="800" u="none" cap="none" strike="noStrike">
                <a:solidFill>
                  <a:srgbClr val="000000"/>
                </a:solidFill>
                <a:latin typeface="Proxima Nova"/>
                <a:ea typeface="Proxima Nova"/>
                <a:cs typeface="Proxima Nova"/>
                <a:sym typeface="Proxima Nova"/>
              </a:rPr>
              <a:t>reinforces user engagement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Self-reinforcing loop </a:t>
            </a:r>
            <a:r>
              <a:rPr b="1" i="0" lang="en-US" sz="800" u="none" cap="none" strike="noStrike">
                <a:solidFill>
                  <a:srgbClr val="000000"/>
                </a:solidFill>
                <a:latin typeface="Proxima Nova"/>
                <a:ea typeface="Proxima Nova"/>
                <a:cs typeface="Proxima Nova"/>
                <a:sym typeface="Proxima Nova"/>
              </a:rPr>
              <a:t>drives retention, GMV, and profitability </a:t>
            </a:r>
            <a:r>
              <a:rPr b="0" i="0" lang="en-US" sz="800" u="none" cap="none" strike="noStrike">
                <a:solidFill>
                  <a:srgbClr val="000000"/>
                </a:solidFill>
                <a:latin typeface="Proxima Nova"/>
                <a:ea typeface="Proxima Nova"/>
                <a:cs typeface="Proxima Nova"/>
                <a:sym typeface="Proxima Nova"/>
              </a:rPr>
              <a:t>from existing user base</a:t>
            </a:r>
            <a:endParaRPr b="0" i="0" sz="1400" u="none" cap="none" strike="noStrike">
              <a:solidFill>
                <a:srgbClr val="000000"/>
              </a:solidFill>
              <a:latin typeface="Arial"/>
              <a:ea typeface="Arial"/>
              <a:cs typeface="Arial"/>
              <a:sym typeface="Arial"/>
            </a:endParaRPr>
          </a:p>
        </p:txBody>
      </p:sp>
      <p:grpSp>
        <p:nvGrpSpPr>
          <p:cNvPr id="239" name="Google Shape;239;p20"/>
          <p:cNvGrpSpPr/>
          <p:nvPr/>
        </p:nvGrpSpPr>
        <p:grpSpPr>
          <a:xfrm>
            <a:off x="5294481" y="3429000"/>
            <a:ext cx="3961862" cy="2652835"/>
            <a:chOff x="654721" y="0"/>
            <a:chExt cx="1802431" cy="1386485"/>
          </a:xfrm>
        </p:grpSpPr>
        <p:sp>
          <p:nvSpPr>
            <p:cNvPr id="240" name="Google Shape;240;p20"/>
            <p:cNvSpPr/>
            <p:nvPr/>
          </p:nvSpPr>
          <p:spPr>
            <a:xfrm>
              <a:off x="1772228" y="942810"/>
              <a:ext cx="684924" cy="443675"/>
            </a:xfrm>
            <a:prstGeom prst="roundRect">
              <a:avLst>
                <a:gd fmla="val 10000" name="adj"/>
              </a:avLst>
            </a:prstGeom>
            <a:solidFill>
              <a:schemeClr val="lt1">
                <a:alpha val="88627"/>
              </a:schemeClr>
            </a:solidFill>
            <a:ln cap="flat" cmpd="sng" w="25400">
              <a:solidFill>
                <a:srgbClr val="0D2F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20"/>
            <p:cNvSpPr txBox="1"/>
            <p:nvPr/>
          </p:nvSpPr>
          <p:spPr>
            <a:xfrm>
              <a:off x="1987452" y="1063475"/>
              <a:ext cx="459954" cy="313264"/>
            </a:xfrm>
            <a:prstGeom prst="rect">
              <a:avLst/>
            </a:prstGeom>
            <a:noFill/>
            <a:ln>
              <a:noFill/>
            </a:ln>
          </p:spPr>
          <p:txBody>
            <a:bodyPr anchorCtr="0" anchor="t" bIns="45700" lIns="45700" spcFirstLastPara="1" rIns="45700" wrap="square" tIns="45700">
              <a:noAutofit/>
            </a:bodyPr>
            <a:lstStyle/>
            <a:p>
              <a:pPr indent="0" lvl="1" marL="57150" marR="0" rtl="0" algn="l">
                <a:lnSpc>
                  <a:spcPct val="90000"/>
                </a:lnSpc>
                <a:spcBef>
                  <a:spcPts val="0"/>
                </a:spcBef>
                <a:spcAft>
                  <a:spcPts val="0"/>
                </a:spcAft>
                <a:buClr>
                  <a:srgbClr val="000000"/>
                </a:buClr>
                <a:buSzPts val="900"/>
                <a:buFont typeface="Arial"/>
                <a:buNone/>
              </a:pPr>
              <a:r>
                <a:rPr b="0" i="0" lang="en-US" sz="700" u="none" cap="none" strike="noStrike">
                  <a:solidFill>
                    <a:srgbClr val="000000"/>
                  </a:solidFill>
                  <a:latin typeface="Proxima Nova"/>
                  <a:ea typeface="Proxima Nova"/>
                  <a:cs typeface="Proxima Nova"/>
                  <a:sym typeface="Proxima Nova"/>
                </a:rPr>
                <a:t>Users redeem discounts for future purchases/rewards in partnership with merchants</a:t>
              </a:r>
              <a:endParaRPr b="0" i="0" sz="700" u="none" cap="none" strike="noStrike">
                <a:solidFill>
                  <a:srgbClr val="000000"/>
                </a:solidFill>
                <a:latin typeface="Proxima Nova"/>
                <a:ea typeface="Proxima Nova"/>
                <a:cs typeface="Proxima Nova"/>
                <a:sym typeface="Proxima Nova"/>
              </a:endParaRPr>
            </a:p>
          </p:txBody>
        </p:sp>
        <p:sp>
          <p:nvSpPr>
            <p:cNvPr id="242" name="Google Shape;242;p20"/>
            <p:cNvSpPr/>
            <p:nvPr/>
          </p:nvSpPr>
          <p:spPr>
            <a:xfrm>
              <a:off x="654721" y="942810"/>
              <a:ext cx="684924" cy="443675"/>
            </a:xfrm>
            <a:prstGeom prst="roundRect">
              <a:avLst>
                <a:gd fmla="val 10000" name="adj"/>
              </a:avLst>
            </a:prstGeom>
            <a:solidFill>
              <a:schemeClr val="lt1">
                <a:alpha val="88627"/>
              </a:schemeClr>
            </a:solidFill>
            <a:ln cap="flat" cmpd="sng" w="25400">
              <a:solidFill>
                <a:srgbClr val="0D2F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0"/>
            <p:cNvSpPr txBox="1"/>
            <p:nvPr/>
          </p:nvSpPr>
          <p:spPr>
            <a:xfrm>
              <a:off x="664467" y="1063475"/>
              <a:ext cx="459954" cy="313264"/>
            </a:xfrm>
            <a:prstGeom prst="rect">
              <a:avLst/>
            </a:prstGeom>
            <a:noFill/>
            <a:ln>
              <a:noFill/>
            </a:ln>
          </p:spPr>
          <p:txBody>
            <a:bodyPr anchorCtr="0" anchor="t" bIns="45700" lIns="45700" spcFirstLastPara="1" rIns="45700" wrap="square" tIns="45700">
              <a:noAutofit/>
            </a:bodyPr>
            <a:lstStyle/>
            <a:p>
              <a:pPr indent="0" lvl="1" marL="57150" marR="0" rtl="0" algn="l">
                <a:lnSpc>
                  <a:spcPct val="90000"/>
                </a:lnSpc>
                <a:spcBef>
                  <a:spcPts val="0"/>
                </a:spcBef>
                <a:spcAft>
                  <a:spcPts val="0"/>
                </a:spcAft>
                <a:buClr>
                  <a:srgbClr val="000000"/>
                </a:buClr>
                <a:buSzPts val="900"/>
                <a:buFont typeface="Arial"/>
                <a:buNone/>
              </a:pPr>
              <a:r>
                <a:rPr b="0" i="0" lang="en-US" sz="700" u="none" cap="none" strike="noStrike">
                  <a:solidFill>
                    <a:srgbClr val="000000"/>
                  </a:solidFill>
                  <a:latin typeface="Proxima Nova"/>
                  <a:ea typeface="Proxima Nova"/>
                  <a:cs typeface="Proxima Nova"/>
                  <a:sym typeface="Proxima Nova"/>
                </a:rPr>
                <a:t>Customer hails a ride or orders food, and make use of other services</a:t>
              </a:r>
              <a:endParaRPr b="0" i="0" sz="700" u="none" cap="none" strike="noStrike">
                <a:solidFill>
                  <a:srgbClr val="000000"/>
                </a:solidFill>
                <a:latin typeface="Proxima Nova"/>
                <a:ea typeface="Proxima Nova"/>
                <a:cs typeface="Proxima Nova"/>
                <a:sym typeface="Proxima Nova"/>
              </a:endParaRPr>
            </a:p>
          </p:txBody>
        </p:sp>
        <p:sp>
          <p:nvSpPr>
            <p:cNvPr id="244" name="Google Shape;244;p20"/>
            <p:cNvSpPr/>
            <p:nvPr/>
          </p:nvSpPr>
          <p:spPr>
            <a:xfrm>
              <a:off x="1772228" y="0"/>
              <a:ext cx="684924" cy="443675"/>
            </a:xfrm>
            <a:prstGeom prst="roundRect">
              <a:avLst>
                <a:gd fmla="val 10000" name="adj"/>
              </a:avLst>
            </a:prstGeom>
            <a:solidFill>
              <a:schemeClr val="lt1">
                <a:alpha val="88627"/>
              </a:schemeClr>
            </a:solidFill>
            <a:ln cap="flat" cmpd="sng" w="25400">
              <a:solidFill>
                <a:srgbClr val="0D2F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0"/>
            <p:cNvSpPr txBox="1"/>
            <p:nvPr/>
          </p:nvSpPr>
          <p:spPr>
            <a:xfrm>
              <a:off x="1987452" y="9746"/>
              <a:ext cx="459954" cy="313264"/>
            </a:xfrm>
            <a:prstGeom prst="rect">
              <a:avLst/>
            </a:prstGeom>
            <a:noFill/>
            <a:ln>
              <a:noFill/>
            </a:ln>
          </p:spPr>
          <p:txBody>
            <a:bodyPr anchorCtr="0" anchor="t" bIns="45700" lIns="45700" spcFirstLastPara="1" rIns="45700" wrap="square" tIns="45700">
              <a:noAutofit/>
            </a:bodyPr>
            <a:lstStyle/>
            <a:p>
              <a:pPr indent="0" lvl="1" marL="57150" marR="0" rtl="0" algn="l">
                <a:lnSpc>
                  <a:spcPct val="90000"/>
                </a:lnSpc>
                <a:spcBef>
                  <a:spcPts val="0"/>
                </a:spcBef>
                <a:spcAft>
                  <a:spcPts val="0"/>
                </a:spcAft>
                <a:buClr>
                  <a:srgbClr val="000000"/>
                </a:buClr>
                <a:buSzPts val="900"/>
                <a:buFont typeface="Arial"/>
                <a:buNone/>
              </a:pPr>
              <a:r>
                <a:rPr b="0" i="0" lang="en-US" sz="700" u="none" cap="none" strike="noStrike">
                  <a:solidFill>
                    <a:srgbClr val="000000"/>
                  </a:solidFill>
                  <a:latin typeface="Proxima Nova"/>
                  <a:ea typeface="Proxima Nova"/>
                  <a:cs typeface="Proxima Nova"/>
                  <a:sym typeface="Proxima Nova"/>
                </a:rPr>
                <a:t>Points earned through GrabRewards can be redeemed for discounts</a:t>
              </a:r>
              <a:endParaRPr b="0" i="0" sz="700" u="none" cap="none" strike="noStrike">
                <a:solidFill>
                  <a:srgbClr val="000000"/>
                </a:solidFill>
                <a:latin typeface="Proxima Nova"/>
                <a:ea typeface="Proxima Nova"/>
                <a:cs typeface="Proxima Nova"/>
                <a:sym typeface="Proxima Nova"/>
              </a:endParaRPr>
            </a:p>
          </p:txBody>
        </p:sp>
        <p:sp>
          <p:nvSpPr>
            <p:cNvPr id="246" name="Google Shape;246;p20"/>
            <p:cNvSpPr/>
            <p:nvPr/>
          </p:nvSpPr>
          <p:spPr>
            <a:xfrm>
              <a:off x="654721" y="0"/>
              <a:ext cx="684924" cy="443675"/>
            </a:xfrm>
            <a:prstGeom prst="roundRect">
              <a:avLst>
                <a:gd fmla="val 10000" name="adj"/>
              </a:avLst>
            </a:prstGeom>
            <a:solidFill>
              <a:schemeClr val="lt1">
                <a:alpha val="88627"/>
              </a:schemeClr>
            </a:solidFill>
            <a:ln cap="flat" cmpd="sng" w="25400">
              <a:solidFill>
                <a:srgbClr val="0D2F4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0"/>
            <p:cNvSpPr txBox="1"/>
            <p:nvPr/>
          </p:nvSpPr>
          <p:spPr>
            <a:xfrm>
              <a:off x="664467" y="9746"/>
              <a:ext cx="459954" cy="313264"/>
            </a:xfrm>
            <a:prstGeom prst="rect">
              <a:avLst/>
            </a:prstGeom>
            <a:noFill/>
            <a:ln>
              <a:noFill/>
            </a:ln>
          </p:spPr>
          <p:txBody>
            <a:bodyPr anchorCtr="0" anchor="t" bIns="45700" lIns="45700" spcFirstLastPara="1" rIns="45700" wrap="square" tIns="45700">
              <a:noAutofit/>
            </a:bodyPr>
            <a:lstStyle/>
            <a:p>
              <a:pPr indent="0" lvl="1" marL="57150" marR="0" rtl="0" algn="l">
                <a:lnSpc>
                  <a:spcPct val="90000"/>
                </a:lnSpc>
                <a:spcBef>
                  <a:spcPts val="0"/>
                </a:spcBef>
                <a:spcAft>
                  <a:spcPts val="0"/>
                </a:spcAft>
                <a:buClr>
                  <a:srgbClr val="000000"/>
                </a:buClr>
                <a:buSzPts val="900"/>
                <a:buFont typeface="Arial"/>
                <a:buNone/>
              </a:pPr>
              <a:r>
                <a:rPr b="0" i="0" lang="en-US" sz="700" u="none" cap="none" strike="noStrike">
                  <a:solidFill>
                    <a:srgbClr val="000000"/>
                  </a:solidFill>
                  <a:latin typeface="Proxima Nova"/>
                  <a:ea typeface="Proxima Nova"/>
                  <a:cs typeface="Proxima Nova"/>
                  <a:sym typeface="Proxima Nova"/>
                </a:rPr>
                <a:t>By paying through GrabPay, users earn points</a:t>
              </a:r>
              <a:endParaRPr b="0" i="0" sz="700" u="none" cap="none" strike="noStrike">
                <a:solidFill>
                  <a:srgbClr val="000000"/>
                </a:solidFill>
                <a:latin typeface="Proxima Nova"/>
                <a:ea typeface="Proxima Nova"/>
                <a:cs typeface="Proxima Nova"/>
                <a:sym typeface="Proxima Nova"/>
              </a:endParaRPr>
            </a:p>
          </p:txBody>
        </p:sp>
        <p:sp>
          <p:nvSpPr>
            <p:cNvPr id="248" name="Google Shape;248;p20"/>
            <p:cNvSpPr/>
            <p:nvPr/>
          </p:nvSpPr>
          <p:spPr>
            <a:xfrm>
              <a:off x="941723" y="79029"/>
              <a:ext cx="600348" cy="600348"/>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20"/>
            <p:cNvSpPr txBox="1"/>
            <p:nvPr/>
          </p:nvSpPr>
          <p:spPr>
            <a:xfrm>
              <a:off x="1117561" y="254867"/>
              <a:ext cx="424510" cy="424510"/>
            </a:xfrm>
            <a:prstGeom prst="rect">
              <a:avLst/>
            </a:prstGeom>
            <a:noFill/>
            <a:ln>
              <a:noFill/>
            </a:ln>
          </p:spPr>
          <p:txBody>
            <a:bodyPr anchorCtr="0" anchor="ctr" bIns="64000" lIns="64000" spcFirstLastPara="1" rIns="64000" wrap="square" tIns="64000">
              <a:noAutofit/>
            </a:bodyPr>
            <a:lstStyle/>
            <a:p>
              <a:pPr indent="0" lvl="0" marL="0" marR="0" rtl="0" algn="ctr">
                <a:lnSpc>
                  <a:spcPct val="90000"/>
                </a:lnSpc>
                <a:spcBef>
                  <a:spcPts val="0"/>
                </a:spcBef>
                <a:spcAft>
                  <a:spcPts val="0"/>
                </a:spcAft>
                <a:buClr>
                  <a:srgbClr val="000000"/>
                </a:buClr>
                <a:buSzPts val="900"/>
                <a:buFont typeface="Arial"/>
                <a:buNone/>
              </a:pPr>
              <a:r>
                <a:rPr b="0" i="0" lang="en-US" sz="1000" u="none" cap="none" strike="noStrike">
                  <a:solidFill>
                    <a:schemeClr val="dk1"/>
                  </a:solidFill>
                  <a:latin typeface="Proxima Nova"/>
                  <a:ea typeface="Proxima Nova"/>
                  <a:cs typeface="Proxima Nova"/>
                  <a:sym typeface="Proxima Nova"/>
                </a:rPr>
                <a:t>GrabPay</a:t>
              </a:r>
              <a:endParaRPr b="0" i="0" sz="900" u="none" cap="none" strike="noStrike">
                <a:solidFill>
                  <a:schemeClr val="dk1"/>
                </a:solidFill>
                <a:latin typeface="Proxima Nova"/>
                <a:ea typeface="Proxima Nova"/>
                <a:cs typeface="Proxima Nova"/>
                <a:sym typeface="Proxima Nova"/>
              </a:endParaRPr>
            </a:p>
          </p:txBody>
        </p:sp>
        <p:sp>
          <p:nvSpPr>
            <p:cNvPr id="250" name="Google Shape;250;p20"/>
            <p:cNvSpPr/>
            <p:nvPr/>
          </p:nvSpPr>
          <p:spPr>
            <a:xfrm rot="5400000">
              <a:off x="1569801" y="79029"/>
              <a:ext cx="600348" cy="600348"/>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0"/>
            <p:cNvSpPr txBox="1"/>
            <p:nvPr/>
          </p:nvSpPr>
          <p:spPr>
            <a:xfrm>
              <a:off x="1569801" y="254867"/>
              <a:ext cx="424510" cy="424510"/>
            </a:xfrm>
            <a:prstGeom prst="rect">
              <a:avLst/>
            </a:prstGeom>
            <a:noFill/>
            <a:ln>
              <a:noFill/>
            </a:ln>
          </p:spPr>
          <p:txBody>
            <a:bodyPr anchorCtr="0" anchor="ctr" bIns="64000" lIns="64000" spcFirstLastPara="1" rIns="64000" wrap="square" tIns="64000">
              <a:noAutofit/>
            </a:bodyPr>
            <a:lstStyle/>
            <a:p>
              <a:pPr indent="0" lvl="0" marL="0" marR="0" rtl="0" algn="ctr">
                <a:lnSpc>
                  <a:spcPct val="90000"/>
                </a:lnSpc>
                <a:spcBef>
                  <a:spcPts val="0"/>
                </a:spcBef>
                <a:spcAft>
                  <a:spcPts val="0"/>
                </a:spcAft>
                <a:buClr>
                  <a:srgbClr val="000000"/>
                </a:buClr>
                <a:buSzPts val="900"/>
                <a:buFont typeface="Arial"/>
                <a:buNone/>
              </a:pPr>
              <a:r>
                <a:rPr b="0" i="0" lang="en-US" sz="1000" u="none" cap="none" strike="noStrike">
                  <a:solidFill>
                    <a:schemeClr val="dk1"/>
                  </a:solidFill>
                  <a:latin typeface="Proxima Nova"/>
                  <a:ea typeface="Proxima Nova"/>
                  <a:cs typeface="Proxima Nova"/>
                  <a:sym typeface="Proxima Nova"/>
                </a:rPr>
                <a:t>GrabPoints</a:t>
              </a:r>
              <a:endParaRPr b="0" i="0" sz="1000" u="none" cap="none" strike="noStrike">
                <a:solidFill>
                  <a:schemeClr val="dk1"/>
                </a:solidFill>
                <a:latin typeface="Proxima Nova"/>
                <a:ea typeface="Proxima Nova"/>
                <a:cs typeface="Proxima Nova"/>
                <a:sym typeface="Proxima Nova"/>
              </a:endParaRPr>
            </a:p>
          </p:txBody>
        </p:sp>
        <p:sp>
          <p:nvSpPr>
            <p:cNvPr id="252" name="Google Shape;252;p20"/>
            <p:cNvSpPr/>
            <p:nvPr/>
          </p:nvSpPr>
          <p:spPr>
            <a:xfrm rot="10800000">
              <a:off x="1569801" y="707107"/>
              <a:ext cx="600348" cy="600348"/>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0"/>
            <p:cNvSpPr txBox="1"/>
            <p:nvPr/>
          </p:nvSpPr>
          <p:spPr>
            <a:xfrm>
              <a:off x="1569801" y="707107"/>
              <a:ext cx="424510" cy="424510"/>
            </a:xfrm>
            <a:prstGeom prst="rect">
              <a:avLst/>
            </a:prstGeom>
            <a:noFill/>
            <a:ln>
              <a:noFill/>
            </a:ln>
          </p:spPr>
          <p:txBody>
            <a:bodyPr anchorCtr="0" anchor="ctr" bIns="64000" lIns="64000" spcFirstLastPara="1" rIns="64000" wrap="square" tIns="64000">
              <a:noAutofit/>
            </a:bodyPr>
            <a:lstStyle/>
            <a:p>
              <a:pPr indent="0" lvl="0" marL="0" marR="0" rtl="0" algn="ctr">
                <a:lnSpc>
                  <a:spcPct val="90000"/>
                </a:lnSpc>
                <a:spcBef>
                  <a:spcPts val="0"/>
                </a:spcBef>
                <a:spcAft>
                  <a:spcPts val="0"/>
                </a:spcAft>
                <a:buClr>
                  <a:srgbClr val="000000"/>
                </a:buClr>
                <a:buSzPts val="900"/>
                <a:buFont typeface="Arial"/>
                <a:buNone/>
              </a:pPr>
              <a:r>
                <a:rPr b="0" i="0" lang="en-US" sz="1000" u="none" cap="none" strike="noStrike">
                  <a:solidFill>
                    <a:schemeClr val="dk1"/>
                  </a:solidFill>
                  <a:latin typeface="Proxima Nova"/>
                  <a:ea typeface="Proxima Nova"/>
                  <a:cs typeface="Proxima Nova"/>
                  <a:sym typeface="Proxima Nova"/>
                </a:rPr>
                <a:t>GrabRewards</a:t>
              </a:r>
              <a:endParaRPr b="0" i="0" sz="1000" u="none" cap="none" strike="noStrike">
                <a:solidFill>
                  <a:schemeClr val="dk1"/>
                </a:solidFill>
                <a:latin typeface="Proxima Nova"/>
                <a:ea typeface="Proxima Nova"/>
                <a:cs typeface="Proxima Nova"/>
                <a:sym typeface="Proxima Nova"/>
              </a:endParaRPr>
            </a:p>
          </p:txBody>
        </p:sp>
        <p:sp>
          <p:nvSpPr>
            <p:cNvPr id="254" name="Google Shape;254;p20"/>
            <p:cNvSpPr/>
            <p:nvPr/>
          </p:nvSpPr>
          <p:spPr>
            <a:xfrm rot="-5400000">
              <a:off x="941723" y="707107"/>
              <a:ext cx="600348" cy="600348"/>
            </a:xfrm>
            <a:custGeom>
              <a:rect b="b" l="l" r="r" t="t"/>
              <a:pathLst>
                <a:path extrusionOk="0" h="120000" w="120000">
                  <a:moveTo>
                    <a:pt x="0" y="120000"/>
                  </a:moveTo>
                  <a:lnTo>
                    <a:pt x="0" y="120000"/>
                  </a:lnTo>
                  <a:cubicBezTo>
                    <a:pt x="0" y="53726"/>
                    <a:pt x="53726" y="0"/>
                    <a:pt x="120000" y="0"/>
                  </a:cubicBezTo>
                  <a:lnTo>
                    <a:pt x="120000" y="120000"/>
                  </a:lnTo>
                  <a:close/>
                </a:path>
              </a:pathLst>
            </a:cu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0"/>
            <p:cNvSpPr txBox="1"/>
            <p:nvPr/>
          </p:nvSpPr>
          <p:spPr>
            <a:xfrm>
              <a:off x="1117561" y="707107"/>
              <a:ext cx="424510" cy="424510"/>
            </a:xfrm>
            <a:prstGeom prst="rect">
              <a:avLst/>
            </a:prstGeom>
            <a:noFill/>
            <a:ln>
              <a:noFill/>
            </a:ln>
          </p:spPr>
          <p:txBody>
            <a:bodyPr anchorCtr="0" anchor="ctr" bIns="64000" lIns="64000" spcFirstLastPara="1" rIns="64000" wrap="square" tIns="64000">
              <a:noAutofit/>
            </a:bodyPr>
            <a:lstStyle/>
            <a:p>
              <a:pPr indent="0" lvl="0" marL="0" marR="0" rtl="0" algn="ctr">
                <a:lnSpc>
                  <a:spcPct val="90000"/>
                </a:lnSpc>
                <a:spcBef>
                  <a:spcPts val="0"/>
                </a:spcBef>
                <a:spcAft>
                  <a:spcPts val="0"/>
                </a:spcAft>
                <a:buClr>
                  <a:srgbClr val="000000"/>
                </a:buClr>
                <a:buSzPts val="900"/>
                <a:buFont typeface="Arial"/>
                <a:buNone/>
              </a:pPr>
              <a:r>
                <a:rPr b="0" i="0" lang="en-US" sz="1000" u="none" cap="none" strike="noStrike">
                  <a:solidFill>
                    <a:schemeClr val="dk1"/>
                  </a:solidFill>
                  <a:latin typeface="Proxima Nova"/>
                  <a:ea typeface="Proxima Nova"/>
                  <a:cs typeface="Proxima Nova"/>
                  <a:sym typeface="Proxima Nova"/>
                </a:rPr>
                <a:t>GrabCar / GrabFood</a:t>
              </a:r>
              <a:endParaRPr b="0" i="0" sz="1000" u="none" cap="none" strike="noStrike">
                <a:solidFill>
                  <a:schemeClr val="dk1"/>
                </a:solidFill>
                <a:latin typeface="Proxima Nova"/>
                <a:ea typeface="Proxima Nova"/>
                <a:cs typeface="Proxima Nova"/>
                <a:sym typeface="Proxima Nova"/>
              </a:endParaRPr>
            </a:p>
          </p:txBody>
        </p:sp>
        <p:sp>
          <p:nvSpPr>
            <p:cNvPr id="256" name="Google Shape;256;p20"/>
            <p:cNvSpPr/>
            <p:nvPr/>
          </p:nvSpPr>
          <p:spPr>
            <a:xfrm>
              <a:off x="1452297" y="568459"/>
              <a:ext cx="207279" cy="180243"/>
            </a:xfrm>
            <a:custGeom>
              <a:rect b="b" l="l" r="r" t="t"/>
              <a:pathLst>
                <a:path extrusionOk="0" h="120000" w="120000">
                  <a:moveTo>
                    <a:pt x="6522" y="60000"/>
                  </a:moveTo>
                  <a:lnTo>
                    <a:pt x="6522" y="60000"/>
                  </a:lnTo>
                  <a:cubicBezTo>
                    <a:pt x="6522" y="34374"/>
                    <a:pt x="25367" y="12492"/>
                    <a:pt x="51107" y="8231"/>
                  </a:cubicBezTo>
                  <a:cubicBezTo>
                    <a:pt x="76848" y="3970"/>
                    <a:pt x="101961" y="18574"/>
                    <a:pt x="110521" y="42783"/>
                  </a:cubicBezTo>
                  <a:lnTo>
                    <a:pt x="116427" y="42783"/>
                  </a:lnTo>
                  <a:lnTo>
                    <a:pt x="106956" y="60000"/>
                  </a:lnTo>
                  <a:lnTo>
                    <a:pt x="90340" y="42783"/>
                  </a:lnTo>
                  <a:lnTo>
                    <a:pt x="95921" y="42783"/>
                  </a:lnTo>
                  <a:cubicBezTo>
                    <a:pt x="87358" y="27416"/>
                    <a:pt x="68572" y="19475"/>
                    <a:pt x="50448" y="23561"/>
                  </a:cubicBezTo>
                  <a:cubicBezTo>
                    <a:pt x="32324" y="27648"/>
                    <a:pt x="19565" y="42702"/>
                    <a:pt x="19565" y="60000"/>
                  </a:cubicBezTo>
                  <a:close/>
                </a:path>
              </a:pathLst>
            </a:custGeom>
            <a:solidFill>
              <a:srgbClr val="A8ABAE"/>
            </a:solid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0"/>
            <p:cNvSpPr/>
            <p:nvPr/>
          </p:nvSpPr>
          <p:spPr>
            <a:xfrm rot="10800000">
              <a:off x="1452297" y="637783"/>
              <a:ext cx="207279" cy="180243"/>
            </a:xfrm>
            <a:custGeom>
              <a:rect b="b" l="l" r="r" t="t"/>
              <a:pathLst>
                <a:path extrusionOk="0" h="120000" w="120000">
                  <a:moveTo>
                    <a:pt x="6522" y="60000"/>
                  </a:moveTo>
                  <a:lnTo>
                    <a:pt x="6522" y="60000"/>
                  </a:lnTo>
                  <a:cubicBezTo>
                    <a:pt x="6522" y="34374"/>
                    <a:pt x="25367" y="12492"/>
                    <a:pt x="51107" y="8231"/>
                  </a:cubicBezTo>
                  <a:cubicBezTo>
                    <a:pt x="76848" y="3970"/>
                    <a:pt x="101961" y="18574"/>
                    <a:pt x="110521" y="42783"/>
                  </a:cubicBezTo>
                  <a:lnTo>
                    <a:pt x="116427" y="42783"/>
                  </a:lnTo>
                  <a:lnTo>
                    <a:pt x="106956" y="60000"/>
                  </a:lnTo>
                  <a:lnTo>
                    <a:pt x="90340" y="42783"/>
                  </a:lnTo>
                  <a:lnTo>
                    <a:pt x="95921" y="42783"/>
                  </a:lnTo>
                  <a:cubicBezTo>
                    <a:pt x="87358" y="27416"/>
                    <a:pt x="68572" y="19475"/>
                    <a:pt x="50448" y="23561"/>
                  </a:cubicBezTo>
                  <a:cubicBezTo>
                    <a:pt x="32324" y="27648"/>
                    <a:pt x="19565" y="42702"/>
                    <a:pt x="19565" y="60000"/>
                  </a:cubicBezTo>
                  <a:close/>
                </a:path>
              </a:pathLst>
            </a:custGeom>
            <a:solidFill>
              <a:srgbClr val="A8ABAE"/>
            </a:solidFill>
            <a:ln cap="flat" cmpd="sng" w="25400">
              <a:solidFill>
                <a:srgbClr val="0C0C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descr="5 GrabPay Hacks You Should Know About In 2022 - Tech Composition" id="258" name="Google Shape;258;p20"/>
          <p:cNvPicPr preferRelativeResize="0"/>
          <p:nvPr/>
        </p:nvPicPr>
        <p:blipFill rotWithShape="1">
          <a:blip r:embed="rId3">
            <a:alphaModFix/>
          </a:blip>
          <a:srcRect b="0" l="0" r="0" t="0"/>
          <a:stretch/>
        </p:blipFill>
        <p:spPr>
          <a:xfrm>
            <a:off x="2908343" y="1928672"/>
            <a:ext cx="1860507" cy="1048476"/>
          </a:xfrm>
          <a:prstGeom prst="rect">
            <a:avLst/>
          </a:prstGeom>
          <a:noFill/>
          <a:ln>
            <a:noFill/>
          </a:ln>
        </p:spPr>
      </p:pic>
      <p:pic>
        <p:nvPicPr>
          <p:cNvPr descr="Wise added to Tuleva's portfolio – Tuleva" id="259" name="Google Shape;259;p20"/>
          <p:cNvPicPr preferRelativeResize="0"/>
          <p:nvPr/>
        </p:nvPicPr>
        <p:blipFill rotWithShape="1">
          <a:blip r:embed="rId4">
            <a:alphaModFix/>
          </a:blip>
          <a:srcRect b="0" l="0" r="0" t="0"/>
          <a:stretch/>
        </p:blipFill>
        <p:spPr>
          <a:xfrm>
            <a:off x="568950" y="5318458"/>
            <a:ext cx="1357114" cy="763377"/>
          </a:xfrm>
          <a:prstGeom prst="rect">
            <a:avLst/>
          </a:prstGeom>
          <a:noFill/>
          <a:ln>
            <a:noFill/>
          </a:ln>
        </p:spPr>
      </p:pic>
      <p:pic>
        <p:nvPicPr>
          <p:cNvPr descr="Download Revolut Logo in SVG Vector or PNG File Format - Logo.wine" id="260" name="Google Shape;260;p20"/>
          <p:cNvPicPr preferRelativeResize="0"/>
          <p:nvPr/>
        </p:nvPicPr>
        <p:blipFill rotWithShape="1">
          <a:blip r:embed="rId5">
            <a:alphaModFix/>
          </a:blip>
          <a:srcRect b="33563" l="7488" r="6930" t="34643"/>
          <a:stretch/>
        </p:blipFill>
        <p:spPr>
          <a:xfrm>
            <a:off x="2396734" y="5498620"/>
            <a:ext cx="1627410" cy="4030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9"/>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66" name="Google Shape;266;p9"/>
          <p:cNvSpPr txBox="1"/>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US" sz="1000" u="none" cap="none" strike="noStrike">
                <a:solidFill>
                  <a:schemeClr val="dk1"/>
                </a:solidFill>
                <a:latin typeface="Proxima Nova"/>
                <a:ea typeface="Proxima Nova"/>
                <a:cs typeface="Proxima Nova"/>
                <a:sym typeface="Proxima Nova"/>
              </a:rPr>
              <a:t>‹#›</a:t>
            </a:fld>
            <a:endParaRPr b="0" i="0" sz="1000" u="none" cap="none" strike="noStrike">
              <a:solidFill>
                <a:schemeClr val="dk1"/>
              </a:solidFill>
              <a:latin typeface="Proxima Nova"/>
              <a:ea typeface="Proxima Nova"/>
              <a:cs typeface="Proxima Nova"/>
              <a:sym typeface="Proxima Nova"/>
            </a:endParaRPr>
          </a:p>
        </p:txBody>
      </p:sp>
      <p:sp>
        <p:nvSpPr>
          <p:cNvPr id="267" name="Google Shape;267;p9"/>
          <p:cNvSpPr txBox="1"/>
          <p:nvPr/>
        </p:nvSpPr>
        <p:spPr>
          <a:xfrm>
            <a:off x="297248" y="577725"/>
            <a:ext cx="9331076" cy="29046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2"/>
              </a:buClr>
              <a:buSzPts val="1800"/>
              <a:buFont typeface="Arial"/>
              <a:buNone/>
            </a:pPr>
            <a:r>
              <a:rPr b="0" i="0" lang="en-US" sz="1800" u="none" cap="none" strike="noStrike">
                <a:solidFill>
                  <a:schemeClr val="dk2"/>
                </a:solidFill>
                <a:latin typeface="Arial"/>
                <a:ea typeface="Arial"/>
                <a:cs typeface="Arial"/>
                <a:sym typeface="Arial"/>
              </a:rPr>
              <a:t>AI-Driven Efficiency &amp; Partner Empowerment</a:t>
            </a:r>
            <a:endParaRPr b="0" i="0" sz="1800" u="none" cap="none" strike="noStrike">
              <a:solidFill>
                <a:schemeClr val="dk2"/>
              </a:solidFill>
              <a:latin typeface="Arial"/>
              <a:ea typeface="Arial"/>
              <a:cs typeface="Arial"/>
              <a:sym typeface="Arial"/>
            </a:endParaRPr>
          </a:p>
        </p:txBody>
      </p:sp>
      <p:sp>
        <p:nvSpPr>
          <p:cNvPr id="268" name="Google Shape;268;p9"/>
          <p:cNvSpPr txBox="1"/>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marR="0" rtl="0" algn="l">
              <a:lnSpc>
                <a:spcPct val="90000"/>
              </a:lnSpc>
              <a:spcBef>
                <a:spcPts val="0"/>
              </a:spcBef>
              <a:spcAft>
                <a:spcPts val="0"/>
              </a:spcAft>
              <a:buClr>
                <a:schemeClr val="dk1"/>
              </a:buClr>
              <a:buSzPts val="1000"/>
              <a:buFont typeface="Arial"/>
              <a:buAutoNum type="romanUcPeriod"/>
            </a:pPr>
            <a:r>
              <a:rPr b="0" i="0" lang="en-US" sz="1000" u="none" cap="none" strike="noStrike">
                <a:solidFill>
                  <a:schemeClr val="dk1"/>
                </a:solidFill>
                <a:latin typeface="Proxima Nova"/>
                <a:ea typeface="Proxima Nova"/>
                <a:cs typeface="Proxima Nova"/>
                <a:sym typeface="Proxima Nova"/>
              </a:rPr>
              <a:t>INVESTMENT THESIS</a:t>
            </a:r>
            <a:endParaRPr b="0" i="0" sz="1000" u="none" cap="none" strike="noStrike">
              <a:solidFill>
                <a:schemeClr val="dk1"/>
              </a:solidFill>
              <a:latin typeface="Proxima Nova"/>
              <a:ea typeface="Proxima Nova"/>
              <a:cs typeface="Proxima Nova"/>
              <a:sym typeface="Proxima Nova"/>
            </a:endParaRPr>
          </a:p>
        </p:txBody>
      </p:sp>
      <p:sp>
        <p:nvSpPr>
          <p:cNvPr id="269" name="Google Shape;269;p9"/>
          <p:cNvSpPr txBox="1"/>
          <p:nvPr/>
        </p:nvSpPr>
        <p:spPr>
          <a:xfrm>
            <a:off x="-3964396" y="3475754"/>
            <a:ext cx="3878464" cy="2550304"/>
          </a:xfrm>
          <a:prstGeom prst="rect">
            <a:avLst/>
          </a:prstGeom>
          <a:solidFill>
            <a:schemeClr val="lt1"/>
          </a:solidFill>
          <a:ln>
            <a:noFill/>
          </a:ln>
        </p:spPr>
        <p:txBody>
          <a:bodyPr anchorCtr="0" anchor="t" bIns="36000" lIns="90000"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Proxima Nova"/>
                <a:ea typeface="Proxima Nova"/>
                <a:cs typeface="Proxima Nova"/>
                <a:sym typeface="Proxima Nova"/>
              </a:rPr>
              <a:t>Agentic AI Tools &amp; their impact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AI Driver Companion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What it does: </a:t>
            </a:r>
            <a:r>
              <a:rPr b="0" i="0" lang="en-US" sz="800" u="none" cap="none" strike="noStrike">
                <a:solidFill>
                  <a:srgbClr val="000000"/>
                </a:solidFill>
                <a:latin typeface="Proxima Nova"/>
                <a:ea typeface="Proxima Nova"/>
                <a:cs typeface="Proxima Nova"/>
                <a:sym typeface="Proxima Nova"/>
              </a:rPr>
              <a:t>Guides drivers to areas with high demand in real time, reducing idle/wait time between jobs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Impact: </a:t>
            </a:r>
            <a:r>
              <a:rPr b="0" i="0" lang="en-US" sz="800" u="none" cap="none" strike="noStrike">
                <a:solidFill>
                  <a:srgbClr val="000000"/>
                </a:solidFill>
                <a:latin typeface="Proxima Nova"/>
                <a:ea typeface="Proxima Nova"/>
                <a:cs typeface="Proxima Nova"/>
                <a:sym typeface="Proxima Nova"/>
              </a:rPr>
              <a:t>Higher driver earnings per hour (+21% reported in pilot) means drivers are less reliant on incentive subsidies.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AI Ride Guidance (Beta)</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What it does: </a:t>
            </a:r>
            <a:r>
              <a:rPr b="0" i="0" lang="en-US" sz="800" u="none" cap="none" strike="noStrike">
                <a:solidFill>
                  <a:srgbClr val="000000"/>
                </a:solidFill>
                <a:latin typeface="Proxima Nova"/>
                <a:ea typeface="Proxima Nova"/>
                <a:cs typeface="Proxima Nova"/>
                <a:sym typeface="Proxima Nova"/>
              </a:rPr>
              <a:t>Predicts demand hotspots and matches drivers more efficiently to riders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Impact: </a:t>
            </a:r>
            <a:r>
              <a:rPr b="0" i="0" lang="en-US" sz="800" u="none" cap="none" strike="noStrike">
                <a:solidFill>
                  <a:srgbClr val="000000"/>
                </a:solidFill>
                <a:latin typeface="Proxima Nova"/>
                <a:ea typeface="Proxima Nova"/>
                <a:cs typeface="Proxima Nova"/>
                <a:sym typeface="Proxima Nova"/>
              </a:rPr>
              <a:t>Improves order allocation; fewer cancellations, faster rides, higher utilisation. This reduces Grab’s need to “top up” driver income via subsidies, and lowers cost-per-ride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AI Merchant Assistant</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What it does: </a:t>
            </a:r>
            <a:r>
              <a:rPr b="0" i="0" lang="en-US" sz="800" u="none" cap="none" strike="noStrike">
                <a:solidFill>
                  <a:srgbClr val="000000"/>
                </a:solidFill>
                <a:latin typeface="Proxima Nova"/>
                <a:ea typeface="Proxima Nova"/>
                <a:cs typeface="Proxima Nova"/>
                <a:sym typeface="Proxima Nova"/>
              </a:rPr>
              <a:t>Automates tasks like menu updates, promotional campaigns, and provides insights into customer behaviour</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Impact: </a:t>
            </a:r>
            <a:r>
              <a:rPr b="0" i="0" lang="en-US" sz="800" u="none" cap="none" strike="noStrike">
                <a:solidFill>
                  <a:srgbClr val="000000"/>
                </a:solidFill>
                <a:latin typeface="Proxima Nova"/>
                <a:ea typeface="Proxima Nova"/>
                <a:cs typeface="Proxima Nova"/>
                <a:sym typeface="Proxima Nova"/>
              </a:rPr>
              <a:t>Merchants get more sales with less effort. Higher merchant retention reduces Grab’s need for discounts, promo credits to onboard/retain restaurants which are very costly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Overall: </a:t>
            </a:r>
            <a:r>
              <a:rPr b="0" i="0" lang="en-US" sz="800" u="none" cap="none" strike="noStrike">
                <a:solidFill>
                  <a:srgbClr val="000000"/>
                </a:solidFill>
                <a:latin typeface="Proxima Nova"/>
                <a:ea typeface="Proxima Nova"/>
                <a:cs typeface="Proxima Nova"/>
                <a:sym typeface="Proxima Nova"/>
              </a:rPr>
              <a:t>Over time, this means that AI makes the ecosystem more self-sustaining, where natural supply demand balance replaces cash burning subsidies</a:t>
            </a:r>
            <a:endParaRPr b="1" i="0" sz="800" u="none" cap="none" strike="noStrike">
              <a:solidFill>
                <a:srgbClr val="000000"/>
              </a:solidFill>
              <a:latin typeface="Proxima Nova"/>
              <a:ea typeface="Proxima Nova"/>
              <a:cs typeface="Proxima Nova"/>
              <a:sym typeface="Proxima Nova"/>
            </a:endParaRPr>
          </a:p>
        </p:txBody>
      </p:sp>
      <p:pic>
        <p:nvPicPr>
          <p:cNvPr id="270" name="Google Shape;270;p9"/>
          <p:cNvPicPr preferRelativeResize="0"/>
          <p:nvPr/>
        </p:nvPicPr>
        <p:blipFill rotWithShape="1">
          <a:blip r:embed="rId3">
            <a:alphaModFix/>
          </a:blip>
          <a:srcRect b="0" l="0" r="0" t="0"/>
          <a:stretch/>
        </p:blipFill>
        <p:spPr>
          <a:xfrm>
            <a:off x="-2829250" y="284206"/>
            <a:ext cx="709181" cy="1258780"/>
          </a:xfrm>
          <a:prstGeom prst="rect">
            <a:avLst/>
          </a:prstGeom>
          <a:noFill/>
          <a:ln>
            <a:noFill/>
          </a:ln>
        </p:spPr>
      </p:pic>
      <p:pic>
        <p:nvPicPr>
          <p:cNvPr id="271" name="Google Shape;271;p9"/>
          <p:cNvPicPr preferRelativeResize="0"/>
          <p:nvPr/>
        </p:nvPicPr>
        <p:blipFill rotWithShape="1">
          <a:blip r:embed="rId4">
            <a:alphaModFix/>
          </a:blip>
          <a:srcRect b="0" l="0" r="0" t="0"/>
          <a:stretch/>
        </p:blipFill>
        <p:spPr>
          <a:xfrm>
            <a:off x="-1974169" y="284206"/>
            <a:ext cx="680922" cy="1258780"/>
          </a:xfrm>
          <a:prstGeom prst="rect">
            <a:avLst/>
          </a:prstGeom>
          <a:noFill/>
          <a:ln>
            <a:noFill/>
          </a:ln>
        </p:spPr>
      </p:pic>
      <p:sp>
        <p:nvSpPr>
          <p:cNvPr id="272" name="Google Shape;272;p9"/>
          <p:cNvSpPr txBox="1"/>
          <p:nvPr/>
        </p:nvSpPr>
        <p:spPr>
          <a:xfrm>
            <a:off x="-4756935" y="1581784"/>
            <a:ext cx="4666679" cy="1800463"/>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rgbClr val="000000"/>
                </a:solidFill>
                <a:latin typeface="Proxima Nova"/>
                <a:ea typeface="Proxima Nova"/>
                <a:cs typeface="Proxima Nova"/>
                <a:sym typeface="Proxima Nova"/>
              </a:rPr>
              <a:t>Understanding Subsidies &amp; Why AI Reduces Them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What are subsidies?</a:t>
            </a:r>
            <a:endParaRPr b="0" i="0" sz="800" u="none" cap="none" strike="noStrike">
              <a:solidFill>
                <a:srgbClr val="000000"/>
              </a:solidFill>
              <a:latin typeface="Proxima Nova"/>
              <a:ea typeface="Proxima Nova"/>
              <a:cs typeface="Proxima Nova"/>
              <a:sym typeface="Proxima Nova"/>
            </a:endParaRPr>
          </a:p>
          <a:p>
            <a:pPr indent="0" lvl="1"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In ride-hailing &amp; delivery, platforms like Grab often pay:</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Driver subsidies</a:t>
            </a:r>
            <a:r>
              <a:rPr b="0" i="0" lang="en-US" sz="800" u="none" cap="none" strike="noStrike">
                <a:solidFill>
                  <a:srgbClr val="000000"/>
                </a:solidFill>
                <a:latin typeface="Proxima Nova"/>
                <a:ea typeface="Proxima Nova"/>
                <a:cs typeface="Proxima Nova"/>
                <a:sym typeface="Proxima Nova"/>
              </a:rPr>
              <a:t>: Incentives/bonuses to ensure drivers earn enough when demand is low.</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Consumer subsidies</a:t>
            </a:r>
            <a:r>
              <a:rPr b="0" i="0" lang="en-US" sz="800" u="none" cap="none" strike="noStrike">
                <a:solidFill>
                  <a:srgbClr val="000000"/>
                </a:solidFill>
                <a:latin typeface="Proxima Nova"/>
                <a:ea typeface="Proxima Nova"/>
                <a:cs typeface="Proxima Nova"/>
                <a:sym typeface="Proxima Nova"/>
              </a:rPr>
              <a:t>: Discounts/promotions to attract users.</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Merchant subsidies</a:t>
            </a:r>
            <a:r>
              <a:rPr b="0" i="0" lang="en-US" sz="800" u="none" cap="none" strike="noStrike">
                <a:solidFill>
                  <a:srgbClr val="000000"/>
                </a:solidFill>
                <a:latin typeface="Proxima Nova"/>
                <a:ea typeface="Proxima Nova"/>
                <a:cs typeface="Proxima Nova"/>
                <a:sym typeface="Proxima Nova"/>
              </a:rPr>
              <a:t>: Fee reductions or ad credits to keep restaurants on platform.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How AI reduces subsidies:</a:t>
            </a:r>
            <a:endParaRPr b="0" i="0" sz="800" u="none" cap="none" strike="noStrike">
              <a:solidFill>
                <a:srgbClr val="000000"/>
              </a:solidFill>
              <a:latin typeface="Proxima Nova"/>
              <a:ea typeface="Proxima Nova"/>
              <a:cs typeface="Proxima Nova"/>
              <a:sym typeface="Proxima Nova"/>
            </a:endParaRPr>
          </a:p>
          <a:p>
            <a:pPr indent="-171450" lvl="1"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Driver side</a:t>
            </a:r>
            <a:r>
              <a:rPr b="0" i="0" lang="en-US" sz="800" u="none" cap="none" strike="noStrike">
                <a:solidFill>
                  <a:srgbClr val="000000"/>
                </a:solidFill>
                <a:latin typeface="Proxima Nova"/>
                <a:ea typeface="Proxima Nova"/>
                <a:cs typeface="Proxima Nova"/>
                <a:sym typeface="Proxima Nova"/>
              </a:rPr>
              <a:t>: If drivers earn 21% more per hour via better matching, Grab doesn’t need to artificially boost income with incentives.</a:t>
            </a:r>
            <a:endParaRPr b="0" i="0" sz="1400" u="none" cap="none" strike="noStrike">
              <a:solidFill>
                <a:srgbClr val="000000"/>
              </a:solidFill>
              <a:latin typeface="Arial"/>
              <a:ea typeface="Arial"/>
              <a:cs typeface="Arial"/>
              <a:sym typeface="Arial"/>
            </a:endParaRPr>
          </a:p>
          <a:p>
            <a:pPr indent="-171450" lvl="1"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Merchant side</a:t>
            </a:r>
            <a:r>
              <a:rPr b="0" i="0" lang="en-US" sz="800" u="none" cap="none" strike="noStrike">
                <a:solidFill>
                  <a:srgbClr val="000000"/>
                </a:solidFill>
                <a:latin typeface="Proxima Nova"/>
                <a:ea typeface="Proxima Nova"/>
                <a:cs typeface="Proxima Nova"/>
                <a:sym typeface="Proxima Nova"/>
              </a:rPr>
              <a:t>: If merchants run more efficient promotions via AI, Grab spends less on subsidizing orders.</a:t>
            </a:r>
            <a:endParaRPr b="0" i="0" sz="1400" u="none" cap="none" strike="noStrike">
              <a:solidFill>
                <a:srgbClr val="000000"/>
              </a:solidFill>
              <a:latin typeface="Arial"/>
              <a:ea typeface="Arial"/>
              <a:cs typeface="Arial"/>
              <a:sym typeface="Arial"/>
            </a:endParaRPr>
          </a:p>
          <a:p>
            <a:pPr indent="-171450" lvl="1"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Consumer side</a:t>
            </a:r>
            <a:r>
              <a:rPr b="0" i="0" lang="en-US" sz="800" u="none" cap="none" strike="noStrike">
                <a:solidFill>
                  <a:srgbClr val="000000"/>
                </a:solidFill>
                <a:latin typeface="Proxima Nova"/>
                <a:ea typeface="Proxima Nova"/>
                <a:cs typeface="Proxima Nova"/>
                <a:sym typeface="Proxima Nova"/>
              </a:rPr>
              <a:t>: Faster matches, smoother UX = higher satisfaction; less need for heavy discounts to keep users engaged.</a:t>
            </a:r>
            <a:endParaRPr b="0" i="0" sz="1400" u="none" cap="none" strike="noStrike">
              <a:solidFill>
                <a:srgbClr val="000000"/>
              </a:solidFill>
              <a:latin typeface="Arial"/>
              <a:ea typeface="Arial"/>
              <a:cs typeface="Arial"/>
              <a:sym typeface="Arial"/>
            </a:endParaRPr>
          </a:p>
        </p:txBody>
      </p:sp>
      <p:sp>
        <p:nvSpPr>
          <p:cNvPr id="273" name="Google Shape;273;p9"/>
          <p:cNvSpPr txBox="1"/>
          <p:nvPr/>
        </p:nvSpPr>
        <p:spPr>
          <a:xfrm>
            <a:off x="4950718" y="997268"/>
            <a:ext cx="2313600" cy="1811700"/>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Supporting evidence &amp;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Driver productivity gains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AI Ride Guidance pilot (Aug 2025) boosted </a:t>
            </a:r>
            <a:r>
              <a:rPr b="1" i="0" lang="en-US" sz="800" u="none" cap="none" strike="noStrike">
                <a:solidFill>
                  <a:srgbClr val="000000"/>
                </a:solidFill>
                <a:latin typeface="Proxima Nova"/>
                <a:ea typeface="Proxima Nova"/>
                <a:cs typeface="Proxima Nova"/>
                <a:sym typeface="Proxima Nova"/>
              </a:rPr>
              <a:t>driver earnings/hour by +21%</a:t>
            </a:r>
            <a:r>
              <a:rPr b="0" i="0" lang="en-US" sz="800" u="none" cap="none" strike="noStrike">
                <a:solidFill>
                  <a:srgbClr val="000000"/>
                </a:solidFill>
                <a:latin typeface="Proxima Nova"/>
                <a:ea typeface="Proxima Nova"/>
                <a:cs typeface="Proxima Nova"/>
                <a:sym typeface="Proxima Nova"/>
              </a:rPr>
              <a:t> across &gt;80,000 drivers in 14 SEA cities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Higher utilization = fewer idle hours</a:t>
            </a:r>
            <a:r>
              <a:rPr b="0" i="0" lang="en-US" sz="800" u="none" cap="none" strike="noStrike">
                <a:solidFill>
                  <a:srgbClr val="000000"/>
                </a:solidFill>
                <a:latin typeface="Proxima Nova"/>
                <a:ea typeface="Proxima Nova"/>
                <a:cs typeface="Proxima Nova"/>
                <a:sym typeface="Proxima Nova"/>
              </a:rPr>
              <a:t>; reduces need for driver incentive subsidies</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Financial proof of operating leverage</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Adjusted EBITDA Q2’25: </a:t>
            </a:r>
            <a:r>
              <a:rPr b="0" i="0" lang="en-US" sz="800" u="none" cap="none" strike="noStrike">
                <a:solidFill>
                  <a:srgbClr val="000000"/>
                </a:solidFill>
                <a:latin typeface="Proxima Nova"/>
                <a:ea typeface="Proxima Nova"/>
                <a:cs typeface="Proxima Nova"/>
                <a:sym typeface="Proxima Nova"/>
              </a:rPr>
              <a:t>US$109M (+US$89M YoY improvement)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TTM Operating Cash Flow: </a:t>
            </a:r>
            <a:r>
              <a:rPr b="0" i="0" lang="en-US" sz="800" u="none" cap="none" strike="noStrike">
                <a:solidFill>
                  <a:srgbClr val="000000"/>
                </a:solidFill>
                <a:latin typeface="Proxima Nova"/>
                <a:ea typeface="Proxima Nova"/>
                <a:cs typeface="Proxima Nova"/>
                <a:sym typeface="Proxima Nova"/>
              </a:rPr>
              <a:t>US$728M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Free Cash Flow: </a:t>
            </a:r>
            <a:r>
              <a:rPr b="0" i="0" lang="en-US" sz="800" u="none" cap="none" strike="noStrike">
                <a:solidFill>
                  <a:srgbClr val="000000"/>
                </a:solidFill>
                <a:latin typeface="Proxima Nova"/>
                <a:ea typeface="Proxima Nova"/>
                <a:cs typeface="Proxima Nova"/>
                <a:sym typeface="Proxima Nova"/>
              </a:rPr>
              <a:t>US$229M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Shows AI-driven efficiencies are </a:t>
            </a:r>
            <a:r>
              <a:rPr b="1" i="0" lang="en-US" sz="800" u="none" cap="none" strike="noStrike">
                <a:solidFill>
                  <a:srgbClr val="000000"/>
                </a:solidFill>
                <a:latin typeface="Proxima Nova"/>
                <a:ea typeface="Proxima Nova"/>
                <a:cs typeface="Proxima Nova"/>
                <a:sym typeface="Proxima Nova"/>
              </a:rPr>
              <a:t>already feeding into positive cash flow</a:t>
            </a:r>
            <a:endParaRPr b="0" i="0" sz="1400" u="none" cap="none" strike="noStrike">
              <a:solidFill>
                <a:srgbClr val="000000"/>
              </a:solidFill>
              <a:latin typeface="Arial"/>
              <a:ea typeface="Arial"/>
              <a:cs typeface="Arial"/>
              <a:sym typeface="Arial"/>
            </a:endParaRPr>
          </a:p>
        </p:txBody>
      </p:sp>
      <p:pic>
        <p:nvPicPr>
          <p:cNvPr descr="A graph of numbers and a number of subsides&#10;&#10;AI-generated content may be incorrect." id="274" name="Google Shape;274;p9"/>
          <p:cNvPicPr preferRelativeResize="0"/>
          <p:nvPr/>
        </p:nvPicPr>
        <p:blipFill rotWithShape="1">
          <a:blip r:embed="rId5">
            <a:alphaModFix/>
          </a:blip>
          <a:srcRect b="0" l="0" r="0" t="0"/>
          <a:stretch/>
        </p:blipFill>
        <p:spPr>
          <a:xfrm>
            <a:off x="7314666" y="2930812"/>
            <a:ext cx="2313658" cy="1411071"/>
          </a:xfrm>
          <a:prstGeom prst="rect">
            <a:avLst/>
          </a:prstGeom>
          <a:noFill/>
          <a:ln>
            <a:noFill/>
          </a:ln>
        </p:spPr>
      </p:pic>
      <p:sp>
        <p:nvSpPr>
          <p:cNvPr id="275" name="Google Shape;275;p9"/>
          <p:cNvSpPr txBox="1"/>
          <p:nvPr/>
        </p:nvSpPr>
        <p:spPr>
          <a:xfrm>
            <a:off x="305893" y="4466190"/>
            <a:ext cx="4644825" cy="1688530"/>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Why Market hasn’t priced it 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Too new to be in models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Agentic tools were just announced in </a:t>
            </a:r>
            <a:r>
              <a:rPr b="1" i="0" lang="en-US" sz="800" u="none" cap="none" strike="noStrike">
                <a:solidFill>
                  <a:srgbClr val="000000"/>
                </a:solidFill>
                <a:latin typeface="Proxima Nova"/>
                <a:ea typeface="Proxima Nova"/>
                <a:cs typeface="Proxima Nova"/>
                <a:sym typeface="Proxima Nova"/>
              </a:rPr>
              <a:t>Apr ’25</a:t>
            </a:r>
            <a:r>
              <a:rPr b="0" i="0" lang="en-US" sz="800" u="none" cap="none" strike="noStrike">
                <a:solidFill>
                  <a:srgbClr val="000000"/>
                </a:solidFill>
                <a:latin typeface="Proxima Nova"/>
                <a:ea typeface="Proxima Nova"/>
                <a:cs typeface="Proxima Nova"/>
                <a:sym typeface="Proxima Nova"/>
              </a:rPr>
              <a:t>, sell-side consensus is still based on </a:t>
            </a:r>
            <a:r>
              <a:rPr b="1" i="0" lang="en-US" sz="800" u="none" cap="none" strike="noStrike">
                <a:solidFill>
                  <a:srgbClr val="000000"/>
                </a:solidFill>
                <a:latin typeface="Proxima Nova"/>
                <a:ea typeface="Proxima Nova"/>
                <a:cs typeface="Proxima Nova"/>
                <a:sym typeface="Proxima Nova"/>
              </a:rPr>
              <a:t>legacy assumptions</a:t>
            </a:r>
            <a:r>
              <a:rPr b="0" i="0" lang="en-US" sz="800" u="none" cap="none" strike="noStrike">
                <a:solidFill>
                  <a:srgbClr val="000000"/>
                </a:solidFill>
                <a:latin typeface="Proxima Nova"/>
                <a:ea typeface="Proxima Nova"/>
                <a:cs typeface="Proxima Nova"/>
                <a:sym typeface="Proxima Nova"/>
              </a:rPr>
              <a:t> of slow margin expansion</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Analyst conservatism</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Street still focuses on </a:t>
            </a:r>
            <a:r>
              <a:rPr b="1" i="0" lang="en-US" sz="800" u="none" cap="none" strike="noStrike">
                <a:solidFill>
                  <a:srgbClr val="000000"/>
                </a:solidFill>
                <a:latin typeface="Proxima Nova"/>
                <a:ea typeface="Proxima Nova"/>
                <a:cs typeface="Proxima Nova"/>
                <a:sym typeface="Proxima Nova"/>
              </a:rPr>
              <a:t>revenue growth</a:t>
            </a:r>
            <a:r>
              <a:rPr b="0" i="0" lang="en-US" sz="800" u="none" cap="none" strike="noStrike">
                <a:solidFill>
                  <a:srgbClr val="000000"/>
                </a:solidFill>
                <a:latin typeface="Proxima Nova"/>
                <a:ea typeface="Proxima Nova"/>
                <a:cs typeface="Proxima Nova"/>
                <a:sym typeface="Proxima Nova"/>
              </a:rPr>
              <a:t>, assumes gradual cost improvements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AI-driven subsidy cuts &amp; productivity gains are </a:t>
            </a:r>
            <a:r>
              <a:rPr b="1" i="0" lang="en-US" sz="800" u="none" cap="none" strike="noStrike">
                <a:solidFill>
                  <a:srgbClr val="000000"/>
                </a:solidFill>
                <a:latin typeface="Proxima Nova"/>
                <a:ea typeface="Proxima Nova"/>
                <a:cs typeface="Proxima Nova"/>
                <a:sym typeface="Proxima Nova"/>
              </a:rPr>
              <a:t>excluded</a:t>
            </a:r>
            <a:r>
              <a:rPr b="0" i="0" lang="en-US" sz="800" u="none" cap="none" strike="noStrike">
                <a:solidFill>
                  <a:srgbClr val="000000"/>
                </a:solidFill>
                <a:latin typeface="Proxima Nova"/>
                <a:ea typeface="Proxima Nova"/>
                <a:cs typeface="Proxima Nova"/>
                <a:sym typeface="Proxima Nova"/>
              </a:rPr>
              <a:t> from most models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SEA execution discount</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Global investors often assume </a:t>
            </a:r>
            <a:r>
              <a:rPr b="1" i="0" lang="en-US" sz="800" u="none" cap="none" strike="noStrike">
                <a:solidFill>
                  <a:srgbClr val="000000"/>
                </a:solidFill>
                <a:latin typeface="Proxima Nova"/>
                <a:ea typeface="Proxima Nova"/>
                <a:cs typeface="Proxima Nova"/>
                <a:sym typeface="Proxima Nova"/>
              </a:rPr>
              <a:t>slower adoption</a:t>
            </a:r>
            <a:r>
              <a:rPr b="0" i="0" lang="en-US" sz="800" u="none" cap="none" strike="noStrike">
                <a:solidFill>
                  <a:srgbClr val="000000"/>
                </a:solidFill>
                <a:latin typeface="Proxima Nova"/>
                <a:ea typeface="Proxima Nova"/>
                <a:cs typeface="Proxima Nova"/>
                <a:sym typeface="Proxima Nova"/>
              </a:rPr>
              <a:t> in SEA compared to US/China peers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Reality: </a:t>
            </a:r>
            <a:r>
              <a:rPr b="0" i="0" lang="en-US" sz="800" u="none" cap="none" strike="noStrike">
                <a:solidFill>
                  <a:srgbClr val="000000"/>
                </a:solidFill>
                <a:latin typeface="Proxima Nova"/>
                <a:ea typeface="Proxima Nova"/>
                <a:cs typeface="Proxima Nova"/>
                <a:sym typeface="Proxima Nova"/>
              </a:rPr>
              <a:t>Grab already has </a:t>
            </a:r>
            <a:r>
              <a:rPr b="1" i="0" lang="en-US" sz="800" u="none" cap="none" strike="noStrike">
                <a:solidFill>
                  <a:srgbClr val="000000"/>
                </a:solidFill>
                <a:latin typeface="Proxima Nova"/>
                <a:ea typeface="Proxima Nova"/>
                <a:cs typeface="Proxima Nova"/>
                <a:sym typeface="Proxima Nova"/>
              </a:rPr>
              <a:t>80k+</a:t>
            </a:r>
            <a:r>
              <a:rPr b="0" i="0" lang="en-US" sz="800" u="none" cap="none" strike="noStrike">
                <a:solidFill>
                  <a:srgbClr val="000000"/>
                </a:solidFill>
                <a:latin typeface="Proxima Nova"/>
                <a:ea typeface="Proxima Nova"/>
                <a:cs typeface="Proxima Nova"/>
                <a:sym typeface="Proxima Nova"/>
              </a:rPr>
              <a:t> drivers using AI Ride Guidance with </a:t>
            </a:r>
            <a:r>
              <a:rPr b="1" i="0" lang="en-US" sz="800" u="none" cap="none" strike="noStrike">
                <a:solidFill>
                  <a:srgbClr val="000000"/>
                </a:solidFill>
                <a:latin typeface="Proxima Nova"/>
                <a:ea typeface="Proxima Nova"/>
                <a:cs typeface="Proxima Nova"/>
                <a:sym typeface="Proxima Nova"/>
              </a:rPr>
              <a:t>proven 21% uplift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Legacy “Cash-burn” bias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As seen from the stock price movement (from IPO $13 - $2 lows), Grab is still viewed as a </a:t>
            </a:r>
            <a:r>
              <a:rPr b="1" i="0" lang="en-US" sz="800" u="none" cap="none" strike="noStrike">
                <a:solidFill>
                  <a:srgbClr val="000000"/>
                </a:solidFill>
                <a:latin typeface="Proxima Nova"/>
                <a:ea typeface="Proxima Nova"/>
                <a:cs typeface="Proxima Nova"/>
                <a:sym typeface="Proxima Nova"/>
              </a:rPr>
              <a:t>loss-making</a:t>
            </a:r>
            <a:r>
              <a:rPr b="0" i="0" lang="en-US" sz="800" u="none" cap="none" strike="noStrike">
                <a:solidFill>
                  <a:srgbClr val="000000"/>
                </a:solidFill>
                <a:latin typeface="Proxima Nova"/>
                <a:ea typeface="Proxima Nova"/>
                <a:cs typeface="Proxima Nova"/>
                <a:sym typeface="Proxima Nova"/>
              </a:rPr>
              <a:t> company and </a:t>
            </a:r>
            <a:r>
              <a:rPr b="1" i="0" lang="en-US" sz="800" u="none" cap="none" strike="noStrike">
                <a:solidFill>
                  <a:srgbClr val="000000"/>
                </a:solidFill>
                <a:latin typeface="Proxima Nova"/>
                <a:ea typeface="Proxima Nova"/>
                <a:cs typeface="Proxima Nova"/>
                <a:sym typeface="Proxima Nova"/>
              </a:rPr>
              <a:t>subsidy heavy</a:t>
            </a:r>
            <a:r>
              <a:rPr b="0" i="0" lang="en-US" sz="800" u="none" cap="none" strike="noStrike">
                <a:solidFill>
                  <a:srgbClr val="000000"/>
                </a:solidFill>
                <a:latin typeface="Proxima Nova"/>
                <a:ea typeface="Proxima Nova"/>
                <a:cs typeface="Proxima Nova"/>
                <a:sym typeface="Proxima Nova"/>
              </a:rPr>
              <a:t> company despite turning </a:t>
            </a:r>
            <a:r>
              <a:rPr b="1" i="0" lang="en-US" sz="800" u="none" cap="none" strike="noStrike">
                <a:solidFill>
                  <a:srgbClr val="000000"/>
                </a:solidFill>
                <a:latin typeface="Proxima Nova"/>
                <a:ea typeface="Proxima Nova"/>
                <a:cs typeface="Proxima Nova"/>
                <a:sym typeface="Proxima Nova"/>
              </a:rPr>
              <a:t>cash flow positive</a:t>
            </a:r>
            <a:r>
              <a:rPr b="0" i="0" lang="en-US" sz="800" u="none" cap="none" strike="noStrike">
                <a:solidFill>
                  <a:srgbClr val="000000"/>
                </a:solidFill>
                <a:latin typeface="Proxima Nova"/>
                <a:ea typeface="Proxima Nova"/>
                <a:cs typeface="Proxima Nova"/>
                <a:sym typeface="Proxima Nova"/>
              </a:rPr>
              <a:t> in FY24</a:t>
            </a:r>
            <a:endParaRPr b="0" i="0" sz="1400" u="none" cap="none" strike="noStrike">
              <a:solidFill>
                <a:srgbClr val="000000"/>
              </a:solidFill>
              <a:latin typeface="Arial"/>
              <a:ea typeface="Arial"/>
              <a:cs typeface="Arial"/>
              <a:sym typeface="Arial"/>
            </a:endParaRPr>
          </a:p>
        </p:txBody>
      </p:sp>
      <p:sp>
        <p:nvSpPr>
          <p:cNvPr id="276" name="Google Shape;276;p9"/>
          <p:cNvSpPr txBox="1"/>
          <p:nvPr/>
        </p:nvSpPr>
        <p:spPr>
          <a:xfrm>
            <a:off x="4950718" y="4465593"/>
            <a:ext cx="4666679" cy="1565419"/>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Catalysts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Merchant monetisation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Exploring SaaS-like </a:t>
            </a:r>
            <a:r>
              <a:rPr b="1" i="0" lang="en-US" sz="800" u="none" cap="none" strike="noStrike">
                <a:solidFill>
                  <a:srgbClr val="000000"/>
                </a:solidFill>
                <a:latin typeface="Proxima Nova"/>
                <a:ea typeface="Proxima Nova"/>
                <a:cs typeface="Proxima Nova"/>
                <a:sym typeface="Proxima Nova"/>
              </a:rPr>
              <a:t>monetisation strategies </a:t>
            </a:r>
            <a:r>
              <a:rPr b="0" i="0" lang="en-US" sz="800" u="none" cap="none" strike="noStrike">
                <a:solidFill>
                  <a:srgbClr val="000000"/>
                </a:solidFill>
                <a:latin typeface="Proxima Nova"/>
                <a:ea typeface="Proxima Nova"/>
                <a:cs typeface="Proxima Nova"/>
                <a:sym typeface="Proxima Nova"/>
              </a:rPr>
              <a:t>for its AI Merchant Assistant, including </a:t>
            </a:r>
            <a:r>
              <a:rPr b="1" i="0" lang="en-US" sz="800" u="none" cap="none" strike="noStrike">
                <a:solidFill>
                  <a:srgbClr val="000000"/>
                </a:solidFill>
                <a:latin typeface="Proxima Nova"/>
                <a:ea typeface="Proxima Nova"/>
                <a:cs typeface="Proxima Nova"/>
                <a:sym typeface="Proxima Nova"/>
              </a:rPr>
              <a:t>premium features &amp; advertising tools</a:t>
            </a:r>
            <a:r>
              <a:rPr b="0" i="0" lang="en-US" sz="800" u="none" cap="none" strike="noStrike">
                <a:solidFill>
                  <a:srgbClr val="000000"/>
                </a:solidFill>
                <a:latin typeface="Proxima Nova"/>
                <a:ea typeface="Proxima Nova"/>
                <a:cs typeface="Proxima Nova"/>
                <a:sym typeface="Proxima Nova"/>
              </a:rPr>
              <a:t>; creating </a:t>
            </a:r>
            <a:r>
              <a:rPr b="1" i="0" lang="en-US" sz="800" u="none" cap="none" strike="noStrike">
                <a:solidFill>
                  <a:srgbClr val="000000"/>
                </a:solidFill>
                <a:latin typeface="Proxima Nova"/>
                <a:ea typeface="Proxima Nova"/>
                <a:cs typeface="Proxima Nova"/>
                <a:sym typeface="Proxima Nova"/>
              </a:rPr>
              <a:t>new revenue streams </a:t>
            </a:r>
            <a:r>
              <a:rPr b="0" i="0" lang="en-US" sz="800" u="none" cap="none" strike="noStrike">
                <a:solidFill>
                  <a:srgbClr val="000000"/>
                </a:solidFill>
                <a:latin typeface="Proxima Nova"/>
                <a:ea typeface="Proxima Nova"/>
                <a:cs typeface="Proxima Nova"/>
                <a:sym typeface="Proxima Nova"/>
              </a:rPr>
              <a:t>for Grab</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Government backing</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Grab’s AI Centre of Excellence in SG, </a:t>
            </a:r>
            <a:r>
              <a:rPr b="1" i="0" lang="en-US" sz="800" u="none" cap="none" strike="noStrike">
                <a:solidFill>
                  <a:srgbClr val="000000"/>
                </a:solidFill>
                <a:latin typeface="Proxima Nova"/>
                <a:ea typeface="Proxima Nova"/>
                <a:cs typeface="Proxima Nova"/>
                <a:sym typeface="Proxima Nova"/>
              </a:rPr>
              <a:t>backed by</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Digital Industry SG</a:t>
            </a:r>
            <a:r>
              <a:rPr b="0" i="0" lang="en-US" sz="800" u="none" cap="none" strike="noStrike">
                <a:solidFill>
                  <a:srgbClr val="000000"/>
                </a:solidFill>
                <a:latin typeface="Proxima Nova"/>
                <a:ea typeface="Proxima Nova"/>
                <a:cs typeface="Proxima Nova"/>
                <a:sym typeface="Proxima Nova"/>
              </a:rPr>
              <a:t>, aims to accelerate AI-driven solutions that improve accessibility, boost productivity, and contribute to smart nation building across SEA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Investor recognition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Noto Sans Symbols"/>
              <a:buChar char="▪"/>
            </a:pPr>
            <a:r>
              <a:rPr b="0" i="0" lang="en-US" sz="800" u="none" cap="none" strike="noStrike">
                <a:solidFill>
                  <a:srgbClr val="000000"/>
                </a:solidFill>
                <a:latin typeface="Proxima Nova"/>
                <a:ea typeface="Proxima Nova"/>
                <a:cs typeface="Proxima Nova"/>
                <a:sym typeface="Proxima Nova"/>
              </a:rPr>
              <a:t>Most recent Q2 ‘25 earnings report exceeded expectations, signalling </a:t>
            </a:r>
            <a:r>
              <a:rPr b="1" i="0" lang="en-US" sz="800" u="none" cap="none" strike="noStrike">
                <a:solidFill>
                  <a:srgbClr val="000000"/>
                </a:solidFill>
                <a:latin typeface="Proxima Nova"/>
                <a:ea typeface="Proxima Nova"/>
                <a:cs typeface="Proxima Nova"/>
                <a:sym typeface="Proxima Nova"/>
              </a:rPr>
              <a:t>faster margin expansion </a:t>
            </a:r>
            <a:r>
              <a:rPr b="0" i="0" lang="en-US" sz="800" u="none" cap="none" strike="noStrike">
                <a:solidFill>
                  <a:srgbClr val="000000"/>
                </a:solidFill>
                <a:latin typeface="Proxima Nova"/>
                <a:ea typeface="Proxima Nova"/>
                <a:cs typeface="Proxima Nova"/>
                <a:sym typeface="Proxima Nova"/>
              </a:rPr>
              <a:t>than previously anticipated, if maintained they could </a:t>
            </a:r>
            <a:r>
              <a:rPr b="1" i="0" lang="en-US" sz="800" u="none" cap="none" strike="noStrike">
                <a:solidFill>
                  <a:srgbClr val="000000"/>
                </a:solidFill>
                <a:latin typeface="Proxima Nova"/>
                <a:ea typeface="Proxima Nova"/>
                <a:cs typeface="Proxima Nova"/>
                <a:sym typeface="Proxima Nova"/>
              </a:rPr>
              <a:t>possibly double their forward sales multiple</a:t>
            </a:r>
            <a:endParaRPr b="0" i="0" sz="1400" u="none" cap="none" strike="noStrike">
              <a:solidFill>
                <a:srgbClr val="000000"/>
              </a:solidFill>
              <a:latin typeface="Arial"/>
              <a:ea typeface="Arial"/>
              <a:cs typeface="Arial"/>
              <a:sym typeface="Arial"/>
            </a:endParaRPr>
          </a:p>
        </p:txBody>
      </p:sp>
      <p:sp>
        <p:nvSpPr>
          <p:cNvPr id="277" name="Google Shape;277;p9"/>
          <p:cNvSpPr txBox="1"/>
          <p:nvPr/>
        </p:nvSpPr>
        <p:spPr>
          <a:xfrm>
            <a:off x="305893" y="997268"/>
            <a:ext cx="2809507" cy="1072977"/>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Understanding Subsidies &amp; Why AI Reduces Them</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Ride-hailing &amp; delivery, platforms like Grab often pay:</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Driver subsidies</a:t>
            </a:r>
            <a:r>
              <a:rPr b="0" i="0" lang="en-US" sz="800" u="none" cap="none" strike="noStrike">
                <a:solidFill>
                  <a:srgbClr val="000000"/>
                </a:solidFill>
                <a:latin typeface="Proxima Nova"/>
                <a:ea typeface="Proxima Nova"/>
                <a:cs typeface="Proxima Nova"/>
                <a:sym typeface="Proxima Nova"/>
              </a:rPr>
              <a:t>: Incentives/bonuses to ensure drivers earn enough when demand is low.</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Consumer subsidies</a:t>
            </a:r>
            <a:r>
              <a:rPr b="0" i="0" lang="en-US" sz="800" u="none" cap="none" strike="noStrike">
                <a:solidFill>
                  <a:srgbClr val="000000"/>
                </a:solidFill>
                <a:latin typeface="Proxima Nova"/>
                <a:ea typeface="Proxima Nova"/>
                <a:cs typeface="Proxima Nova"/>
                <a:sym typeface="Proxima Nova"/>
              </a:rPr>
              <a:t>: Discounts/promotions to attract users.</a:t>
            </a:r>
            <a:endParaRPr b="0" i="0" sz="1400" u="none" cap="none" strike="noStrike">
              <a:solidFill>
                <a:srgbClr val="000000"/>
              </a:solidFill>
              <a:latin typeface="Arial"/>
              <a:ea typeface="Arial"/>
              <a:cs typeface="Arial"/>
              <a:sym typeface="Arial"/>
            </a:endParaRPr>
          </a:p>
          <a:p>
            <a:pPr indent="-171450" lvl="2"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Merchant subsidies</a:t>
            </a:r>
            <a:r>
              <a:rPr b="0" i="0" lang="en-US" sz="800" u="none" cap="none" strike="noStrike">
                <a:solidFill>
                  <a:srgbClr val="000000"/>
                </a:solidFill>
                <a:latin typeface="Proxima Nova"/>
                <a:ea typeface="Proxima Nova"/>
                <a:cs typeface="Proxima Nova"/>
                <a:sym typeface="Proxima Nova"/>
              </a:rPr>
              <a:t>: Fee reductions or ad credits to keep restaurants on platform.</a:t>
            </a:r>
            <a:endParaRPr b="0" i="0" sz="1400" u="none" cap="none" strike="noStrike">
              <a:solidFill>
                <a:srgbClr val="000000"/>
              </a:solidFill>
              <a:latin typeface="Arial"/>
              <a:ea typeface="Arial"/>
              <a:cs typeface="Arial"/>
              <a:sym typeface="Arial"/>
            </a:endParaRPr>
          </a:p>
        </p:txBody>
      </p:sp>
      <p:pic>
        <p:nvPicPr>
          <p:cNvPr descr="Grab Sale 2025: Food Delivery, Grocery &amp; Dining Deals" id="278" name="Google Shape;278;p9"/>
          <p:cNvPicPr preferRelativeResize="0"/>
          <p:nvPr/>
        </p:nvPicPr>
        <p:blipFill rotWithShape="1">
          <a:blip r:embed="rId6">
            <a:alphaModFix/>
          </a:blip>
          <a:srcRect b="0" l="0" r="0" t="0"/>
          <a:stretch/>
        </p:blipFill>
        <p:spPr>
          <a:xfrm>
            <a:off x="3149719" y="1069888"/>
            <a:ext cx="1698062" cy="1027233"/>
          </a:xfrm>
          <a:prstGeom prst="rect">
            <a:avLst/>
          </a:prstGeom>
          <a:noFill/>
          <a:ln>
            <a:noFill/>
          </a:ln>
        </p:spPr>
      </p:pic>
      <p:sp>
        <p:nvSpPr>
          <p:cNvPr id="279" name="Google Shape;279;p9"/>
          <p:cNvSpPr txBox="1"/>
          <p:nvPr/>
        </p:nvSpPr>
        <p:spPr>
          <a:xfrm>
            <a:off x="7303738" y="997268"/>
            <a:ext cx="2313660" cy="1919363"/>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Merchant efficiency &amp; stickiness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AI Merchant Assistant </a:t>
            </a:r>
            <a:r>
              <a:rPr b="1" i="0" lang="en-US" sz="800" u="none" cap="none" strike="noStrike">
                <a:solidFill>
                  <a:srgbClr val="000000"/>
                </a:solidFill>
                <a:latin typeface="Proxima Nova"/>
                <a:ea typeface="Proxima Nova"/>
                <a:cs typeface="Proxima Nova"/>
                <a:sym typeface="Proxima Nova"/>
              </a:rPr>
              <a:t>automates</a:t>
            </a:r>
            <a:r>
              <a:rPr b="0" i="0" lang="en-US" sz="800" u="none" cap="none" strike="noStrike">
                <a:solidFill>
                  <a:srgbClr val="000000"/>
                </a:solidFill>
                <a:latin typeface="Proxima Nova"/>
                <a:ea typeface="Proxima Nova"/>
                <a:cs typeface="Proxima Nova"/>
                <a:sym typeface="Proxima Nova"/>
              </a:rPr>
              <a:t> menu updates, ad campaigns, and insights; </a:t>
            </a:r>
            <a:r>
              <a:rPr b="1" i="0" lang="en-US" sz="800" u="none" cap="none" strike="noStrike">
                <a:solidFill>
                  <a:srgbClr val="000000"/>
                </a:solidFill>
                <a:latin typeface="Proxima Nova"/>
                <a:ea typeface="Proxima Nova"/>
                <a:cs typeface="Proxima Nova"/>
                <a:sym typeface="Proxima Nova"/>
              </a:rPr>
              <a:t>lowers</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merchant workload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Improves GMV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strengthens retention</a:t>
            </a:r>
            <a:r>
              <a:rPr b="0" i="0" lang="en-US" sz="800" u="none" cap="none" strike="noStrike">
                <a:solidFill>
                  <a:srgbClr val="000000"/>
                </a:solidFill>
                <a:latin typeface="Proxima Nova"/>
                <a:ea typeface="Proxima Nova"/>
                <a:cs typeface="Proxima Nova"/>
                <a:sym typeface="Proxima Nova"/>
              </a:rPr>
              <a:t>, making Grab the “default platform” for SMEs</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Structural subsidy decline</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Almost </a:t>
            </a:r>
            <a:r>
              <a:rPr b="1" i="0" lang="en-US" sz="800" u="none" cap="none" strike="noStrike">
                <a:solidFill>
                  <a:srgbClr val="000000"/>
                </a:solidFill>
                <a:latin typeface="Proxima Nova"/>
                <a:ea typeface="Proxima Nova"/>
                <a:cs typeface="Proxima Nova"/>
                <a:sym typeface="Proxima Nova"/>
              </a:rPr>
              <a:t>2/3 of revenue </a:t>
            </a:r>
            <a:r>
              <a:rPr b="0" i="0" lang="en-US" sz="800" u="none" cap="none" strike="noStrike">
                <a:solidFill>
                  <a:srgbClr val="000000"/>
                </a:solidFill>
                <a:latin typeface="Proxima Nova"/>
                <a:ea typeface="Proxima Nova"/>
                <a:cs typeface="Proxima Nova"/>
                <a:sym typeface="Proxima Nova"/>
              </a:rPr>
              <a:t>in FY22 but as of FY24 down to </a:t>
            </a:r>
            <a:r>
              <a:rPr b="1" i="0" lang="en-US" sz="800" u="none" cap="none" strike="noStrike">
                <a:solidFill>
                  <a:srgbClr val="000000"/>
                </a:solidFill>
                <a:latin typeface="Proxima Nova"/>
                <a:ea typeface="Proxima Nova"/>
                <a:cs typeface="Proxima Nova"/>
                <a:sym typeface="Proxima Nova"/>
              </a:rPr>
              <a:t>15%</a:t>
            </a:r>
            <a:r>
              <a:rPr b="0" i="0" lang="en-US" sz="800" u="none" cap="none" strike="noStrike">
                <a:solidFill>
                  <a:srgbClr val="000000"/>
                </a:solidFill>
                <a:latin typeface="Proxima Nova"/>
                <a:ea typeface="Proxima Nova"/>
                <a:cs typeface="Proxima Nova"/>
                <a:sym typeface="Proxima Nova"/>
              </a:rPr>
              <a:t>, clear sign of </a:t>
            </a:r>
            <a:r>
              <a:rPr b="1" i="0" lang="en-US" sz="800" u="none" cap="none" strike="noStrike">
                <a:solidFill>
                  <a:srgbClr val="000000"/>
                </a:solidFill>
                <a:latin typeface="Proxima Nova"/>
                <a:ea typeface="Proxima Nova"/>
                <a:cs typeface="Proxima Nova"/>
                <a:sym typeface="Proxima Nova"/>
              </a:rPr>
              <a:t>improving efficiency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stronger natural demand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AI-driven tools could take this further, reducing subsidies to </a:t>
            </a:r>
            <a:r>
              <a:rPr b="1" i="0" lang="en-US" sz="800" u="none" cap="none" strike="noStrike">
                <a:solidFill>
                  <a:srgbClr val="000000"/>
                </a:solidFill>
                <a:latin typeface="Proxima Nova"/>
                <a:ea typeface="Proxima Nova"/>
                <a:cs typeface="Proxima Nova"/>
                <a:sym typeface="Proxima Nova"/>
              </a:rPr>
              <a:t>10% or lower </a:t>
            </a:r>
            <a:r>
              <a:rPr b="0" i="0" lang="en-US" sz="800" u="none" cap="none" strike="noStrike">
                <a:solidFill>
                  <a:srgbClr val="000000"/>
                </a:solidFill>
                <a:latin typeface="Proxima Nova"/>
                <a:ea typeface="Proxima Nova"/>
                <a:cs typeface="Proxima Nova"/>
                <a:sym typeface="Proxima Nova"/>
              </a:rPr>
              <a:t>in the medium term, unlocking </a:t>
            </a:r>
            <a:r>
              <a:rPr b="1" i="0" lang="en-US" sz="800" u="none" cap="none" strike="noStrike">
                <a:solidFill>
                  <a:srgbClr val="000000"/>
                </a:solidFill>
                <a:latin typeface="Proxima Nova"/>
                <a:ea typeface="Proxima Nova"/>
                <a:cs typeface="Proxima Nova"/>
                <a:sym typeface="Proxima Nova"/>
              </a:rPr>
              <a:t>several hundred million </a:t>
            </a:r>
            <a:r>
              <a:rPr b="0" i="0" lang="en-US" sz="800" u="none" cap="none" strike="noStrike">
                <a:solidFill>
                  <a:srgbClr val="000000"/>
                </a:solidFill>
                <a:latin typeface="Proxima Nova"/>
                <a:ea typeface="Proxima Nova"/>
                <a:cs typeface="Proxima Nova"/>
                <a:sym typeface="Proxima Nova"/>
              </a:rPr>
              <a:t>in annual savings</a:t>
            </a:r>
            <a:endParaRPr b="0" i="0" sz="1400" u="none" cap="none" strike="noStrike">
              <a:solidFill>
                <a:srgbClr val="000000"/>
              </a:solidFill>
              <a:latin typeface="Arial"/>
              <a:ea typeface="Arial"/>
              <a:cs typeface="Arial"/>
              <a:sym typeface="Arial"/>
            </a:endParaRPr>
          </a:p>
        </p:txBody>
      </p:sp>
      <p:grpSp>
        <p:nvGrpSpPr>
          <p:cNvPr id="280" name="Google Shape;280;p9"/>
          <p:cNvGrpSpPr/>
          <p:nvPr/>
        </p:nvGrpSpPr>
        <p:grpSpPr>
          <a:xfrm>
            <a:off x="361508" y="2339542"/>
            <a:ext cx="4533593" cy="1688531"/>
            <a:chOff x="343" y="-1"/>
            <a:chExt cx="4533593" cy="1688532"/>
          </a:xfrm>
        </p:grpSpPr>
        <p:sp>
          <p:nvSpPr>
            <p:cNvPr id="281" name="Google Shape;281;p9"/>
            <p:cNvSpPr/>
            <p:nvPr/>
          </p:nvSpPr>
          <p:spPr>
            <a:xfrm>
              <a:off x="343" y="0"/>
              <a:ext cx="1476740" cy="1688531"/>
            </a:xfrm>
            <a:prstGeom prst="roundRect">
              <a:avLst>
                <a:gd fmla="val 5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9"/>
            <p:cNvSpPr txBox="1"/>
            <p:nvPr/>
          </p:nvSpPr>
          <p:spPr>
            <a:xfrm rot="-5400000">
              <a:off x="-544280" y="544623"/>
              <a:ext cx="1384595" cy="295348"/>
            </a:xfrm>
            <a:prstGeom prst="rect">
              <a:avLst/>
            </a:prstGeom>
            <a:noFill/>
            <a:ln>
              <a:noFill/>
            </a:ln>
          </p:spPr>
          <p:txBody>
            <a:bodyPr anchorCtr="0" anchor="t" bIns="0" lIns="0" spcFirstLastPara="1" rIns="44450" wrap="square" tIns="34275">
              <a:noAutofit/>
            </a:bodyPr>
            <a:lstStyle/>
            <a:p>
              <a:pPr indent="0" lvl="0" marL="0" marR="0" rtl="0" algn="r">
                <a:lnSpc>
                  <a:spcPct val="90000"/>
                </a:lnSpc>
                <a:spcBef>
                  <a:spcPts val="0"/>
                </a:spcBef>
                <a:spcAft>
                  <a:spcPts val="0"/>
                </a:spcAft>
                <a:buClr>
                  <a:srgbClr val="000000"/>
                </a:buClr>
                <a:buSzPts val="1000"/>
                <a:buFont typeface="Arial"/>
                <a:buNone/>
              </a:pPr>
              <a:r>
                <a:rPr b="0" i="0" lang="en-US" sz="1000" u="none" cap="none" strike="noStrike">
                  <a:solidFill>
                    <a:srgbClr val="05B050"/>
                  </a:solidFill>
                  <a:latin typeface="Proxima Nova"/>
                  <a:ea typeface="Proxima Nova"/>
                  <a:cs typeface="Proxima Nova"/>
                  <a:sym typeface="Proxima Nova"/>
                </a:rPr>
                <a:t>AI Driver Companion</a:t>
              </a:r>
              <a:endParaRPr b="0" i="0" sz="1400" u="none" cap="none" strike="noStrike">
                <a:solidFill>
                  <a:srgbClr val="000000"/>
                </a:solidFill>
                <a:latin typeface="Arial"/>
                <a:ea typeface="Arial"/>
                <a:cs typeface="Arial"/>
                <a:sym typeface="Arial"/>
              </a:endParaRPr>
            </a:p>
          </p:txBody>
        </p:sp>
        <p:sp>
          <p:nvSpPr>
            <p:cNvPr id="283" name="Google Shape;283;p9"/>
            <p:cNvSpPr/>
            <p:nvPr/>
          </p:nvSpPr>
          <p:spPr>
            <a:xfrm>
              <a:off x="295691" y="0"/>
              <a:ext cx="1100171" cy="168853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9"/>
            <p:cNvSpPr txBox="1"/>
            <p:nvPr/>
          </p:nvSpPr>
          <p:spPr>
            <a:xfrm>
              <a:off x="295691" y="0"/>
              <a:ext cx="1100171" cy="1688531"/>
            </a:xfrm>
            <a:prstGeom prst="rect">
              <a:avLst/>
            </a:prstGeom>
            <a:noFill/>
            <a:ln>
              <a:noFill/>
            </a:ln>
          </p:spPr>
          <p:txBody>
            <a:bodyPr anchorCtr="0" anchor="t" bIns="0" lIns="0" spcFirstLastPara="1" rIns="0" wrap="square" tIns="24000">
              <a:noAutofit/>
            </a:bodyPr>
            <a:lstStyle/>
            <a:p>
              <a:pPr indent="0" lvl="0" marL="0" marR="0" rtl="0" algn="l">
                <a:lnSpc>
                  <a:spcPct val="90000"/>
                </a:lnSpc>
                <a:spcBef>
                  <a:spcPts val="0"/>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What it does: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Guides drivers to areas with high demand in real time, reducing idle/wait time between jobs</a:t>
              </a:r>
              <a:endParaRPr b="0" i="0" sz="1400" u="none" cap="none" strike="noStrike">
                <a:solidFill>
                  <a:srgbClr val="000000"/>
                </a:solidFill>
                <a:latin typeface="Arial"/>
                <a:ea typeface="Arial"/>
                <a:cs typeface="Arial"/>
                <a:sym typeface="Arial"/>
              </a:endParaRPr>
            </a:p>
            <a:p>
              <a:pPr indent="-12700" lvl="1" marL="57150" marR="0" rtl="0" algn="l">
                <a:lnSpc>
                  <a:spcPct val="90000"/>
                </a:lnSpc>
                <a:spcBef>
                  <a:spcPts val="105"/>
                </a:spcBef>
                <a:spcAft>
                  <a:spcPts val="0"/>
                </a:spcAft>
                <a:buClr>
                  <a:srgbClr val="000000"/>
                </a:buClr>
                <a:buSzPts val="700"/>
                <a:buFont typeface="Arial"/>
                <a:buNone/>
              </a:pPr>
              <a:r>
                <a:t/>
              </a:r>
              <a:endParaRPr b="0" i="0" sz="700" u="none" cap="none" strike="noStrike">
                <a:solidFill>
                  <a:schemeClr val="lt1"/>
                </a:solidFill>
                <a:latin typeface="Proxima Nova"/>
                <a:ea typeface="Proxima Nova"/>
                <a:cs typeface="Proxima Nova"/>
                <a:sym typeface="Proxima Nova"/>
              </a:endParaRPr>
            </a:p>
            <a:p>
              <a:pPr indent="0" lvl="0" marL="0" marR="0" rtl="0" algn="l">
                <a:lnSpc>
                  <a:spcPct val="90000"/>
                </a:lnSpc>
                <a:spcBef>
                  <a:spcPts val="105"/>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Impact</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Higher driver earnings per hour (+21% reported in pilot)</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Drivers are less reliant on incentive subsidies, Grab doesn’t need to boost income with incentives</a:t>
              </a:r>
              <a:endParaRPr b="0" i="0" sz="1400" u="none" cap="none" strike="noStrike">
                <a:solidFill>
                  <a:srgbClr val="000000"/>
                </a:solidFill>
                <a:latin typeface="Arial"/>
                <a:ea typeface="Arial"/>
                <a:cs typeface="Arial"/>
                <a:sym typeface="Arial"/>
              </a:endParaRPr>
            </a:p>
          </p:txBody>
        </p:sp>
        <p:sp>
          <p:nvSpPr>
            <p:cNvPr id="285" name="Google Shape;285;p9"/>
            <p:cNvSpPr/>
            <p:nvPr/>
          </p:nvSpPr>
          <p:spPr>
            <a:xfrm>
              <a:off x="1528769" y="0"/>
              <a:ext cx="1476740" cy="1688531"/>
            </a:xfrm>
            <a:prstGeom prst="roundRect">
              <a:avLst>
                <a:gd fmla="val 5000" name="adj"/>
              </a:avLst>
            </a:prstGeom>
            <a:solidFill>
              <a:srgbClr val="0C0C0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9"/>
            <p:cNvSpPr txBox="1"/>
            <p:nvPr/>
          </p:nvSpPr>
          <p:spPr>
            <a:xfrm rot="-5400000">
              <a:off x="984146" y="544623"/>
              <a:ext cx="1384595" cy="295348"/>
            </a:xfrm>
            <a:prstGeom prst="rect">
              <a:avLst/>
            </a:prstGeom>
            <a:noFill/>
            <a:ln>
              <a:noFill/>
            </a:ln>
          </p:spPr>
          <p:txBody>
            <a:bodyPr anchorCtr="0" anchor="t" bIns="0" lIns="0" spcFirstLastPara="1" rIns="44450" wrap="square" tIns="34275">
              <a:noAutofit/>
            </a:bodyPr>
            <a:lstStyle/>
            <a:p>
              <a:pPr indent="0" lvl="0" marL="0" marR="0" rtl="0" algn="r">
                <a:lnSpc>
                  <a:spcPct val="90000"/>
                </a:lnSpc>
                <a:spcBef>
                  <a:spcPts val="0"/>
                </a:spcBef>
                <a:spcAft>
                  <a:spcPts val="0"/>
                </a:spcAft>
                <a:buClr>
                  <a:srgbClr val="000000"/>
                </a:buClr>
                <a:buSzPts val="1000"/>
                <a:buFont typeface="Arial"/>
                <a:buNone/>
              </a:pPr>
              <a:r>
                <a:rPr b="0" i="0" lang="en-US" sz="1000" u="none" cap="none" strike="noStrike">
                  <a:solidFill>
                    <a:srgbClr val="05B050"/>
                  </a:solidFill>
                  <a:latin typeface="Proxima Nova"/>
                  <a:ea typeface="Proxima Nova"/>
                  <a:cs typeface="Proxima Nova"/>
                  <a:sym typeface="Proxima Nova"/>
                </a:rPr>
                <a:t>AI Ride Guidance (Beta)</a:t>
              </a:r>
              <a:endParaRPr b="0" i="0" sz="1400" u="none" cap="none" strike="noStrike">
                <a:solidFill>
                  <a:srgbClr val="000000"/>
                </a:solidFill>
                <a:latin typeface="Arial"/>
                <a:ea typeface="Arial"/>
                <a:cs typeface="Arial"/>
                <a:sym typeface="Arial"/>
              </a:endParaRPr>
            </a:p>
          </p:txBody>
        </p:sp>
        <p:sp>
          <p:nvSpPr>
            <p:cNvPr id="287" name="Google Shape;287;p9"/>
            <p:cNvSpPr/>
            <p:nvPr/>
          </p:nvSpPr>
          <p:spPr>
            <a:xfrm rot="5400000">
              <a:off x="1412113" y="1336372"/>
              <a:ext cx="248079" cy="221511"/>
            </a:xfrm>
            <a:prstGeom prst="flowChartExtract">
              <a:avLst/>
            </a:pr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9"/>
            <p:cNvSpPr/>
            <p:nvPr/>
          </p:nvSpPr>
          <p:spPr>
            <a:xfrm>
              <a:off x="1824117" y="0"/>
              <a:ext cx="1100171" cy="168853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9"/>
            <p:cNvSpPr txBox="1"/>
            <p:nvPr/>
          </p:nvSpPr>
          <p:spPr>
            <a:xfrm>
              <a:off x="1824117" y="0"/>
              <a:ext cx="1100171" cy="1688531"/>
            </a:xfrm>
            <a:prstGeom prst="rect">
              <a:avLst/>
            </a:prstGeom>
            <a:noFill/>
            <a:ln>
              <a:noFill/>
            </a:ln>
          </p:spPr>
          <p:txBody>
            <a:bodyPr anchorCtr="0" anchor="t" bIns="0" lIns="0" spcFirstLastPara="1" rIns="0" wrap="square" tIns="24000">
              <a:noAutofit/>
            </a:bodyPr>
            <a:lstStyle/>
            <a:p>
              <a:pPr indent="0" lvl="0" marL="0" marR="0" rtl="0" algn="l">
                <a:lnSpc>
                  <a:spcPct val="90000"/>
                </a:lnSpc>
                <a:spcBef>
                  <a:spcPts val="0"/>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What it does: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Predicts demand hotspots and matches drivers more efficiently to riders</a:t>
              </a:r>
              <a:endParaRPr b="0" i="0" sz="1400" u="none" cap="none" strike="noStrike">
                <a:solidFill>
                  <a:srgbClr val="000000"/>
                </a:solidFill>
                <a:latin typeface="Arial"/>
                <a:ea typeface="Arial"/>
                <a:cs typeface="Arial"/>
                <a:sym typeface="Arial"/>
              </a:endParaRPr>
            </a:p>
            <a:p>
              <a:pPr indent="-12700" lvl="1" marL="57150" marR="0" rtl="0" algn="l">
                <a:lnSpc>
                  <a:spcPct val="90000"/>
                </a:lnSpc>
                <a:spcBef>
                  <a:spcPts val="105"/>
                </a:spcBef>
                <a:spcAft>
                  <a:spcPts val="0"/>
                </a:spcAft>
                <a:buClr>
                  <a:srgbClr val="000000"/>
                </a:buClr>
                <a:buSzPts val="700"/>
                <a:buFont typeface="Arial"/>
                <a:buNone/>
              </a:pPr>
              <a:r>
                <a:t/>
              </a:r>
              <a:endParaRPr b="0" i="0" sz="700" u="none" cap="none" strike="noStrike">
                <a:solidFill>
                  <a:schemeClr val="lt1"/>
                </a:solidFill>
                <a:latin typeface="Proxima Nova"/>
                <a:ea typeface="Proxima Nova"/>
                <a:cs typeface="Proxima Nova"/>
                <a:sym typeface="Proxima Nova"/>
              </a:endParaRPr>
            </a:p>
            <a:p>
              <a:pPr indent="0" lvl="0" marL="0" marR="0" rtl="0" algn="l">
                <a:lnSpc>
                  <a:spcPct val="90000"/>
                </a:lnSpc>
                <a:spcBef>
                  <a:spcPts val="105"/>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Impact:</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Improves order allocation; fewer cancellations, faster rides, higher utilisation</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10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Smoother UX leads to higher satisfaction, less need for discounts to engage users</a:t>
              </a:r>
              <a:endParaRPr b="0" i="0" sz="1400" u="none" cap="none" strike="noStrike">
                <a:solidFill>
                  <a:srgbClr val="000000"/>
                </a:solidFill>
                <a:latin typeface="Arial"/>
                <a:ea typeface="Arial"/>
                <a:cs typeface="Arial"/>
                <a:sym typeface="Arial"/>
              </a:endParaRPr>
            </a:p>
          </p:txBody>
        </p:sp>
        <p:sp>
          <p:nvSpPr>
            <p:cNvPr id="290" name="Google Shape;290;p9"/>
            <p:cNvSpPr/>
            <p:nvPr/>
          </p:nvSpPr>
          <p:spPr>
            <a:xfrm>
              <a:off x="3057196" y="0"/>
              <a:ext cx="1476740" cy="1688531"/>
            </a:xfrm>
            <a:prstGeom prst="roundRect">
              <a:avLst>
                <a:gd fmla="val 5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9"/>
            <p:cNvSpPr txBox="1"/>
            <p:nvPr/>
          </p:nvSpPr>
          <p:spPr>
            <a:xfrm rot="-5400000">
              <a:off x="2512572" y="544623"/>
              <a:ext cx="1384595" cy="295348"/>
            </a:xfrm>
            <a:prstGeom prst="rect">
              <a:avLst/>
            </a:prstGeom>
            <a:noFill/>
            <a:ln>
              <a:noFill/>
            </a:ln>
          </p:spPr>
          <p:txBody>
            <a:bodyPr anchorCtr="0" anchor="t" bIns="0" lIns="0" spcFirstLastPara="1" rIns="44450" wrap="square" tIns="34275">
              <a:noAutofit/>
            </a:bodyPr>
            <a:lstStyle/>
            <a:p>
              <a:pPr indent="0" lvl="0" marL="0" marR="0" rtl="0" algn="r">
                <a:lnSpc>
                  <a:spcPct val="90000"/>
                </a:lnSpc>
                <a:spcBef>
                  <a:spcPts val="0"/>
                </a:spcBef>
                <a:spcAft>
                  <a:spcPts val="0"/>
                </a:spcAft>
                <a:buClr>
                  <a:srgbClr val="000000"/>
                </a:buClr>
                <a:buSzPts val="1000"/>
                <a:buFont typeface="Arial"/>
                <a:buNone/>
              </a:pPr>
              <a:r>
                <a:rPr b="0" i="0" lang="en-US" sz="1000" u="none" cap="none" strike="noStrike">
                  <a:solidFill>
                    <a:srgbClr val="05B050"/>
                  </a:solidFill>
                  <a:latin typeface="Proxima Nova"/>
                  <a:ea typeface="Proxima Nova"/>
                  <a:cs typeface="Proxima Nova"/>
                  <a:sym typeface="Proxima Nova"/>
                </a:rPr>
                <a:t>AI Merchant Assistant</a:t>
              </a:r>
              <a:endParaRPr b="0" i="0" sz="1400" u="none" cap="none" strike="noStrike">
                <a:solidFill>
                  <a:srgbClr val="000000"/>
                </a:solidFill>
                <a:latin typeface="Arial"/>
                <a:ea typeface="Arial"/>
                <a:cs typeface="Arial"/>
                <a:sym typeface="Arial"/>
              </a:endParaRPr>
            </a:p>
          </p:txBody>
        </p:sp>
        <p:sp>
          <p:nvSpPr>
            <p:cNvPr id="292" name="Google Shape;292;p9"/>
            <p:cNvSpPr/>
            <p:nvPr/>
          </p:nvSpPr>
          <p:spPr>
            <a:xfrm rot="5400000">
              <a:off x="2940540" y="1336372"/>
              <a:ext cx="248079" cy="221511"/>
            </a:xfrm>
            <a:prstGeom prst="flowChartExtract">
              <a:avLst/>
            </a:prstGeom>
            <a:solidFill>
              <a:srgbClr val="05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9"/>
            <p:cNvSpPr/>
            <p:nvPr/>
          </p:nvSpPr>
          <p:spPr>
            <a:xfrm>
              <a:off x="3352544" y="0"/>
              <a:ext cx="1100171" cy="1688531"/>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9"/>
            <p:cNvSpPr txBox="1"/>
            <p:nvPr/>
          </p:nvSpPr>
          <p:spPr>
            <a:xfrm>
              <a:off x="3352544" y="0"/>
              <a:ext cx="1100171" cy="1688531"/>
            </a:xfrm>
            <a:prstGeom prst="rect">
              <a:avLst/>
            </a:prstGeom>
            <a:noFill/>
            <a:ln>
              <a:noFill/>
            </a:ln>
          </p:spPr>
          <p:txBody>
            <a:bodyPr anchorCtr="0" anchor="t" bIns="0" lIns="0" spcFirstLastPara="1" rIns="0" wrap="square" tIns="24000">
              <a:noAutofit/>
            </a:bodyPr>
            <a:lstStyle/>
            <a:p>
              <a:pPr indent="0" lvl="0" marL="0" marR="0" rtl="0" algn="l">
                <a:lnSpc>
                  <a:spcPct val="90000"/>
                </a:lnSpc>
                <a:spcBef>
                  <a:spcPts val="0"/>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What it does:</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Automates tasks like menu updates, promotional campaigns, and provides insights into customer behaviour</a:t>
              </a:r>
              <a:endParaRPr b="0" i="0" sz="1400" u="none" cap="none" strike="noStrike">
                <a:solidFill>
                  <a:srgbClr val="000000"/>
                </a:solidFill>
                <a:latin typeface="Arial"/>
                <a:ea typeface="Arial"/>
                <a:cs typeface="Arial"/>
                <a:sym typeface="Arial"/>
              </a:endParaRPr>
            </a:p>
            <a:p>
              <a:pPr indent="-12700" lvl="1" marL="57150" marR="0" rtl="0" algn="l">
                <a:lnSpc>
                  <a:spcPct val="90000"/>
                </a:lnSpc>
                <a:spcBef>
                  <a:spcPts val="105"/>
                </a:spcBef>
                <a:spcAft>
                  <a:spcPts val="0"/>
                </a:spcAft>
                <a:buClr>
                  <a:srgbClr val="000000"/>
                </a:buClr>
                <a:buSzPts val="700"/>
                <a:buFont typeface="Arial"/>
                <a:buNone/>
              </a:pPr>
              <a:r>
                <a:t/>
              </a:r>
              <a:endParaRPr b="0" i="0" sz="700" u="none" cap="none" strike="noStrike">
                <a:solidFill>
                  <a:schemeClr val="lt1"/>
                </a:solidFill>
                <a:latin typeface="Proxima Nova"/>
                <a:ea typeface="Proxima Nova"/>
                <a:cs typeface="Proxima Nova"/>
                <a:sym typeface="Proxima Nova"/>
              </a:endParaRPr>
            </a:p>
            <a:p>
              <a:pPr indent="0" lvl="0" marL="0" marR="0" rtl="0" algn="l">
                <a:lnSpc>
                  <a:spcPct val="90000"/>
                </a:lnSpc>
                <a:spcBef>
                  <a:spcPts val="105"/>
                </a:spcBef>
                <a:spcAft>
                  <a:spcPts val="0"/>
                </a:spcAft>
                <a:buClr>
                  <a:srgbClr val="000000"/>
                </a:buClr>
                <a:buSzPts val="700"/>
                <a:buFont typeface="Arial"/>
                <a:buNone/>
              </a:pPr>
              <a:r>
                <a:rPr b="0" i="0" lang="en-US" sz="700" u="none" cap="none" strike="noStrike">
                  <a:solidFill>
                    <a:srgbClr val="05B050"/>
                  </a:solidFill>
                  <a:latin typeface="Proxima Nova"/>
                  <a:ea typeface="Proxima Nova"/>
                  <a:cs typeface="Proxima Nova"/>
                  <a:sym typeface="Proxima Nova"/>
                </a:rPr>
                <a:t>Impact:</a:t>
              </a:r>
              <a:endParaRPr b="0" i="0" sz="1400" u="none" cap="none" strike="noStrike">
                <a:solidFill>
                  <a:srgbClr val="000000"/>
                </a:solidFill>
                <a:latin typeface="Arial"/>
                <a:ea typeface="Arial"/>
                <a:cs typeface="Arial"/>
                <a:sym typeface="Arial"/>
              </a:endParaRPr>
            </a:p>
            <a:p>
              <a:pPr indent="-57150" lvl="1" marL="57150" marR="0" rtl="0" algn="l">
                <a:lnSpc>
                  <a:spcPct val="90000"/>
                </a:lnSpc>
                <a:spcBef>
                  <a:spcPts val="245"/>
                </a:spcBef>
                <a:spcAft>
                  <a:spcPts val="0"/>
                </a:spcAft>
                <a:buClr>
                  <a:srgbClr val="000000"/>
                </a:buClr>
                <a:buSzPts val="700"/>
                <a:buFont typeface="Arial"/>
                <a:buChar char="•"/>
              </a:pPr>
              <a:r>
                <a:rPr b="0" i="0" lang="en-US" sz="700" u="none" cap="none" strike="noStrike">
                  <a:solidFill>
                    <a:schemeClr val="lt1"/>
                  </a:solidFill>
                  <a:latin typeface="Proxima Nova"/>
                  <a:ea typeface="Proxima Nova"/>
                  <a:cs typeface="Proxima Nova"/>
                  <a:sym typeface="Proxima Nova"/>
                </a:rPr>
                <a:t>Merchants get more sales with less effort; they are more inclined to advertise with Grab more and be part of their ecosystem</a:t>
              </a:r>
              <a:endParaRPr b="0" i="0" sz="1400" u="none" cap="none" strike="noStrike">
                <a:solidFill>
                  <a:srgbClr val="000000"/>
                </a:solidFill>
                <a:latin typeface="Arial"/>
                <a:ea typeface="Arial"/>
                <a:cs typeface="Arial"/>
                <a:sym typeface="Arial"/>
              </a:endParaRPr>
            </a:p>
          </p:txBody>
        </p:sp>
      </p:grpSp>
      <p:sp>
        <p:nvSpPr>
          <p:cNvPr id="295" name="Google Shape;295;p9"/>
          <p:cNvSpPr txBox="1"/>
          <p:nvPr/>
        </p:nvSpPr>
        <p:spPr>
          <a:xfrm>
            <a:off x="305893" y="2122772"/>
            <a:ext cx="4644824" cy="211203"/>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Agentic AI tools &amp; their impact</a:t>
            </a:r>
            <a:endParaRPr b="0" i="0" sz="1400" u="none" cap="none" strike="noStrike">
              <a:solidFill>
                <a:srgbClr val="000000"/>
              </a:solidFill>
              <a:latin typeface="Arial"/>
              <a:ea typeface="Arial"/>
              <a:cs typeface="Arial"/>
              <a:sym typeface="Arial"/>
            </a:endParaRPr>
          </a:p>
        </p:txBody>
      </p:sp>
      <p:sp>
        <p:nvSpPr>
          <p:cNvPr id="296" name="Google Shape;296;p9"/>
          <p:cNvSpPr txBox="1"/>
          <p:nvPr/>
        </p:nvSpPr>
        <p:spPr>
          <a:xfrm>
            <a:off x="317962" y="4042998"/>
            <a:ext cx="4644824" cy="318924"/>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Overall: </a:t>
            </a:r>
            <a:r>
              <a:rPr b="0" i="0" lang="en-US" sz="800" u="none" cap="none" strike="noStrike">
                <a:solidFill>
                  <a:srgbClr val="000000"/>
                </a:solidFill>
                <a:latin typeface="Proxima Nova"/>
                <a:ea typeface="Proxima Nova"/>
                <a:cs typeface="Proxima Nova"/>
                <a:sym typeface="Proxima Nova"/>
              </a:rPr>
              <a:t>Over time, this means that AI makes the ecosystem more self-sustaining, where natural supply &amp; demand balance replaces cash burning subsidies</a:t>
            </a:r>
            <a:endParaRPr b="0" i="0" sz="1400" u="none" cap="none" strike="noStrike">
              <a:solidFill>
                <a:srgbClr val="000000"/>
              </a:solidFill>
              <a:latin typeface="Arial"/>
              <a:ea typeface="Arial"/>
              <a:cs typeface="Arial"/>
              <a:sym typeface="Arial"/>
            </a:endParaRPr>
          </a:p>
        </p:txBody>
      </p:sp>
      <p:pic>
        <p:nvPicPr>
          <p:cNvPr id="297" name="Google Shape;297;p9"/>
          <p:cNvPicPr preferRelativeResize="0"/>
          <p:nvPr/>
        </p:nvPicPr>
        <p:blipFill rotWithShape="1">
          <a:blip r:embed="rId7">
            <a:alphaModFix/>
          </a:blip>
          <a:srcRect b="0" l="0" r="0" t="0"/>
          <a:stretch/>
        </p:blipFill>
        <p:spPr>
          <a:xfrm>
            <a:off x="4962786" y="2930813"/>
            <a:ext cx="2313658" cy="1411071"/>
          </a:xfrm>
          <a:prstGeom prst="rect">
            <a:avLst/>
          </a:prstGeom>
          <a:noFill/>
          <a:ln>
            <a:noFill/>
          </a:ln>
        </p:spPr>
      </p:pic>
      <p:sp>
        <p:nvSpPr>
          <p:cNvPr id="298" name="Google Shape;298;p9"/>
          <p:cNvSpPr txBox="1"/>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marR="0" rtl="0" algn="l">
              <a:lnSpc>
                <a:spcPct val="100000"/>
              </a:lnSpc>
              <a:spcBef>
                <a:spcPts val="0"/>
              </a:spcBef>
              <a:spcAft>
                <a:spcPts val="0"/>
              </a:spcAft>
              <a:buClr>
                <a:srgbClr val="7F7F7F"/>
              </a:buClr>
              <a:buSzPts val="800"/>
              <a:buFont typeface="Arial"/>
              <a:buNone/>
            </a:pPr>
            <a:r>
              <a:rPr b="0" i="1" lang="en-US" sz="800" u="none" cap="none" strike="noStrike">
                <a:solidFill>
                  <a:srgbClr val="7F7F7F"/>
                </a:solidFill>
                <a:latin typeface="Proxima Nova"/>
                <a:ea typeface="Proxima Nova"/>
                <a:cs typeface="Proxima Nova"/>
                <a:sym typeface="Proxima Nova"/>
              </a:rPr>
              <a:t>Source(s): </a:t>
            </a:r>
            <a:r>
              <a:rPr b="0" i="1" lang="en-US" sz="800" u="sng" cap="none" strike="noStrike">
                <a:solidFill>
                  <a:srgbClr val="7F7F7F"/>
                </a:solidFill>
                <a:latin typeface="Proxima Nova"/>
                <a:ea typeface="Proxima Nova"/>
                <a:cs typeface="Proxima Nova"/>
                <a:sym typeface="Proxima Nova"/>
                <a:hlinkClick r:id="rId8">
                  <a:extLst>
                    <a:ext uri="{A12FA001-AC4F-418D-AE19-62706E023703}">
                      <ahyp:hlinkClr val="tx"/>
                    </a:ext>
                  </a:extLst>
                </a:hlinkClick>
              </a:rPr>
              <a:t>Grab Investor Relations</a:t>
            </a:r>
            <a:endParaRPr b="0" i="1" sz="800" u="none" cap="none" strike="noStrike">
              <a:solidFill>
                <a:srgbClr val="7F7F7F"/>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04" name="Google Shape;304;p4"/>
          <p:cNvSpPr txBox="1"/>
          <p:nvPr>
            <p:ph idx="2" type="body"/>
          </p:nvPr>
        </p:nvSpPr>
        <p:spPr>
          <a:xfrm>
            <a:off x="287462" y="594283"/>
            <a:ext cx="9331076" cy="290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Stock Price Movement</a:t>
            </a:r>
            <a:endParaRPr/>
          </a:p>
        </p:txBody>
      </p:sp>
      <p:sp>
        <p:nvSpPr>
          <p:cNvPr id="305" name="Google Shape;305;p4"/>
          <p:cNvSpPr txBox="1"/>
          <p:nvPr>
            <p:ph idx="4" type="body"/>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rtl="0" algn="l">
              <a:lnSpc>
                <a:spcPct val="90000"/>
              </a:lnSpc>
              <a:spcBef>
                <a:spcPts val="0"/>
              </a:spcBef>
              <a:spcAft>
                <a:spcPts val="0"/>
              </a:spcAft>
              <a:buClr>
                <a:schemeClr val="dk1"/>
              </a:buClr>
              <a:buSzPts val="1000"/>
              <a:buFont typeface="Arial"/>
              <a:buAutoNum type="romanUcPeriod"/>
            </a:pPr>
            <a:r>
              <a:rPr lang="en-US"/>
              <a:t>STOCK PRICE MOVEMENT</a:t>
            </a:r>
            <a:endParaRPr/>
          </a:p>
        </p:txBody>
      </p:sp>
      <p:pic>
        <p:nvPicPr>
          <p:cNvPr descr="A graph showing the stock market&#10;&#10;AI-generated content may be incorrect." id="306" name="Google Shape;306;p4"/>
          <p:cNvPicPr preferRelativeResize="0"/>
          <p:nvPr/>
        </p:nvPicPr>
        <p:blipFill rotWithShape="1">
          <a:blip r:embed="rId3">
            <a:alphaModFix/>
          </a:blip>
          <a:srcRect b="0" l="0" r="0" t="0"/>
          <a:stretch/>
        </p:blipFill>
        <p:spPr>
          <a:xfrm>
            <a:off x="3155182" y="3488212"/>
            <a:ext cx="6435998" cy="2631973"/>
          </a:xfrm>
          <a:prstGeom prst="rect">
            <a:avLst/>
          </a:prstGeom>
          <a:noFill/>
          <a:ln>
            <a:noFill/>
          </a:ln>
        </p:spPr>
      </p:pic>
      <p:sp>
        <p:nvSpPr>
          <p:cNvPr id="307" name="Google Shape;307;p4"/>
          <p:cNvSpPr txBox="1"/>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marR="0" rtl="0" algn="l">
              <a:lnSpc>
                <a:spcPct val="100000"/>
              </a:lnSpc>
              <a:spcBef>
                <a:spcPts val="0"/>
              </a:spcBef>
              <a:spcAft>
                <a:spcPts val="0"/>
              </a:spcAft>
              <a:buClr>
                <a:srgbClr val="7F7F7F"/>
              </a:buClr>
              <a:buSzPts val="800"/>
              <a:buFont typeface="Arial"/>
              <a:buNone/>
            </a:pPr>
            <a:r>
              <a:rPr b="0" i="1" lang="en-US" sz="800" u="none" cap="none" strike="noStrike">
                <a:solidFill>
                  <a:srgbClr val="7F7F7F"/>
                </a:solidFill>
                <a:latin typeface="Proxima Nova"/>
                <a:ea typeface="Proxima Nova"/>
                <a:cs typeface="Proxima Nova"/>
                <a:sym typeface="Proxima Nova"/>
              </a:rPr>
              <a:t>Source(s): Capital IQ</a:t>
            </a:r>
            <a:endParaRPr b="0" i="0" sz="1400" u="none" cap="none" strike="noStrike">
              <a:solidFill>
                <a:srgbClr val="000000"/>
              </a:solidFill>
              <a:latin typeface="Arial"/>
              <a:ea typeface="Arial"/>
              <a:cs typeface="Arial"/>
              <a:sym typeface="Arial"/>
            </a:endParaRPr>
          </a:p>
        </p:txBody>
      </p:sp>
      <p:sp>
        <p:nvSpPr>
          <p:cNvPr id="308" name="Google Shape;308;p4"/>
          <p:cNvSpPr txBox="1"/>
          <p:nvPr/>
        </p:nvSpPr>
        <p:spPr>
          <a:xfrm>
            <a:off x="286321" y="1074235"/>
            <a:ext cx="2868861" cy="1196088"/>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Stock performance since IPO</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IPO (Dec 2021): </a:t>
            </a:r>
            <a:r>
              <a:rPr b="0" i="0" lang="en-US" sz="800" u="none" cap="none" strike="noStrike">
                <a:solidFill>
                  <a:schemeClr val="dk1"/>
                </a:solidFill>
                <a:latin typeface="Proxima Nova"/>
                <a:ea typeface="Proxima Nova"/>
                <a:cs typeface="Proxima Nova"/>
                <a:sym typeface="Proxima Nova"/>
              </a:rPr>
              <a:t>Grab listed on Nasdaq via SPAC merger at US$13/share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rgbClr val="000000"/>
                </a:solidFill>
                <a:latin typeface="Proxima Nova"/>
                <a:ea typeface="Proxima Nova"/>
                <a:cs typeface="Proxima Nova"/>
                <a:sym typeface="Proxima Nova"/>
              </a:rPr>
              <a:t>Post-IPO crash (2022): </a:t>
            </a:r>
            <a:r>
              <a:rPr b="0" i="0" lang="en-US" sz="800" u="none" cap="none" strike="noStrike">
                <a:solidFill>
                  <a:srgbClr val="000000"/>
                </a:solidFill>
                <a:latin typeface="Proxima Nova"/>
                <a:ea typeface="Proxima Nova"/>
                <a:cs typeface="Proxima Nova"/>
                <a:sym typeface="Proxima Nova"/>
              </a:rPr>
              <a:t>Stock fell ~80% due to heavy losses, subsidy concerns and macro tech sector selloff</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rgbClr val="000000"/>
                </a:solidFill>
                <a:latin typeface="Proxima Nova"/>
                <a:ea typeface="Proxima Nova"/>
                <a:cs typeface="Proxima Nova"/>
                <a:sym typeface="Proxima Nova"/>
              </a:rPr>
              <a:t>Recovery path (2023-2024): </a:t>
            </a:r>
            <a:r>
              <a:rPr b="0" i="0" lang="en-US" sz="800" u="none" cap="none" strike="noStrike">
                <a:solidFill>
                  <a:srgbClr val="000000"/>
                </a:solidFill>
                <a:latin typeface="Proxima Nova"/>
                <a:ea typeface="Proxima Nova"/>
                <a:cs typeface="Proxima Nova"/>
                <a:sym typeface="Proxima Nova"/>
              </a:rPr>
              <a:t>Stock stabilized in the US$2-4 range as losses narrowed, and cash flow turned positive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rgbClr val="000000"/>
                </a:solidFill>
                <a:latin typeface="Proxima Nova"/>
                <a:ea typeface="Proxima Nova"/>
                <a:cs typeface="Proxima Nova"/>
                <a:sym typeface="Proxima Nova"/>
              </a:rPr>
              <a:t>Current (2025): </a:t>
            </a:r>
            <a:r>
              <a:rPr b="0" i="0" lang="en-US" sz="800" u="none" cap="none" strike="noStrike">
                <a:solidFill>
                  <a:srgbClr val="000000"/>
                </a:solidFill>
                <a:latin typeface="Proxima Nova"/>
                <a:ea typeface="Proxima Nova"/>
                <a:cs typeface="Proxima Nova"/>
                <a:sym typeface="Proxima Nova"/>
              </a:rPr>
              <a:t>Trading at US$5-6/share</a:t>
            </a:r>
            <a:endParaRPr b="0" i="0" sz="1400" u="none" cap="none" strike="noStrike">
              <a:solidFill>
                <a:srgbClr val="000000"/>
              </a:solidFill>
              <a:latin typeface="Arial"/>
              <a:ea typeface="Arial"/>
              <a:cs typeface="Arial"/>
              <a:sym typeface="Arial"/>
            </a:endParaRPr>
          </a:p>
        </p:txBody>
      </p:sp>
      <p:sp>
        <p:nvSpPr>
          <p:cNvPr id="309" name="Google Shape;309;p4"/>
          <p:cNvSpPr txBox="1"/>
          <p:nvPr/>
        </p:nvSpPr>
        <p:spPr>
          <a:xfrm>
            <a:off x="286319" y="2463444"/>
            <a:ext cx="2868861" cy="703645"/>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Relative performance (vs UBER)</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UBER IPO (2019 @ US$45/share), after years of losses, it re-rated sharply once </a:t>
            </a:r>
            <a:r>
              <a:rPr b="1" i="0" lang="en-US" sz="800" u="none" cap="none" strike="noStrike">
                <a:solidFill>
                  <a:schemeClr val="dk1"/>
                </a:solidFill>
                <a:latin typeface="Proxima Nova"/>
                <a:ea typeface="Proxima Nova"/>
                <a:cs typeface="Proxima Nova"/>
                <a:sym typeface="Proxima Nova"/>
              </a:rPr>
              <a:t>EBITDA turned positive </a:t>
            </a:r>
            <a:r>
              <a:rPr b="0" i="0" lang="en-US" sz="800" u="none" cap="none" strike="noStrike">
                <a:solidFill>
                  <a:schemeClr val="dk1"/>
                </a:solidFill>
                <a:latin typeface="Proxima Nova"/>
                <a:ea typeface="Proxima Nova"/>
                <a:cs typeface="Proxima Nova"/>
                <a:sym typeface="Proxima Nova"/>
              </a:rPr>
              <a:t>in 2022</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Grab is now on the </a:t>
            </a:r>
            <a:r>
              <a:rPr b="1" i="0" lang="en-US" sz="800" u="none" cap="none" strike="noStrike">
                <a:solidFill>
                  <a:schemeClr val="dk1"/>
                </a:solidFill>
                <a:latin typeface="Proxima Nova"/>
                <a:ea typeface="Proxima Nova"/>
                <a:cs typeface="Proxima Nova"/>
                <a:sym typeface="Proxima Nova"/>
              </a:rPr>
              <a:t>same profitability path </a:t>
            </a:r>
            <a:r>
              <a:rPr b="0" i="0" lang="en-US" sz="800" u="none" cap="none" strike="noStrike">
                <a:solidFill>
                  <a:schemeClr val="dk1"/>
                </a:solidFill>
                <a:latin typeface="Proxima Nova"/>
                <a:ea typeface="Proxima Nova"/>
                <a:cs typeface="Proxima Nova"/>
                <a:sym typeface="Proxima Nova"/>
              </a:rPr>
              <a:t>as their adj. EBITDA just </a:t>
            </a:r>
            <a:r>
              <a:rPr b="1" i="0" lang="en-US" sz="800" u="none" cap="none" strike="noStrike">
                <a:solidFill>
                  <a:schemeClr val="dk1"/>
                </a:solidFill>
                <a:latin typeface="Proxima Nova"/>
                <a:ea typeface="Proxima Nova"/>
                <a:cs typeface="Proxima Nova"/>
                <a:sym typeface="Proxima Nova"/>
              </a:rPr>
              <a:t>turned positive </a:t>
            </a:r>
            <a:r>
              <a:rPr b="0" i="0" lang="en-US" sz="800" u="none" cap="none" strike="noStrike">
                <a:solidFill>
                  <a:schemeClr val="dk1"/>
                </a:solidFill>
                <a:latin typeface="Proxima Nova"/>
                <a:ea typeface="Proxima Nova"/>
                <a:cs typeface="Proxima Nova"/>
                <a:sym typeface="Proxima Nova"/>
              </a:rPr>
              <a:t>in FY24</a:t>
            </a:r>
            <a:endParaRPr b="0" i="0" sz="1400" u="none" cap="none" strike="noStrike">
              <a:solidFill>
                <a:srgbClr val="000000"/>
              </a:solidFill>
              <a:latin typeface="Arial"/>
              <a:ea typeface="Arial"/>
              <a:cs typeface="Arial"/>
              <a:sym typeface="Arial"/>
            </a:endParaRPr>
          </a:p>
        </p:txBody>
      </p:sp>
      <p:sp>
        <p:nvSpPr>
          <p:cNvPr id="310" name="Google Shape;310;p4"/>
          <p:cNvSpPr txBox="1"/>
          <p:nvPr/>
        </p:nvSpPr>
        <p:spPr>
          <a:xfrm>
            <a:off x="314820" y="3626911"/>
            <a:ext cx="2868861" cy="1072977"/>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Key drivers of stock movement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2021-2022 Decline: </a:t>
            </a:r>
            <a:r>
              <a:rPr b="0" i="0" lang="en-US" sz="800" u="none" cap="none" strike="noStrike">
                <a:solidFill>
                  <a:schemeClr val="dk1"/>
                </a:solidFill>
                <a:latin typeface="Proxima Nova"/>
                <a:ea typeface="Proxima Nova"/>
                <a:cs typeface="Proxima Nova"/>
                <a:sym typeface="Proxima Nova"/>
              </a:rPr>
              <a:t>Investor skepticism post-SPAC, subsidy-heavy model coupled with the macro sell-off in the growth tech sector</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2023 Stabilisation: </a:t>
            </a:r>
            <a:r>
              <a:rPr b="0" i="0" lang="en-US" sz="800" u="none" cap="none" strike="noStrike">
                <a:solidFill>
                  <a:schemeClr val="dk1"/>
                </a:solidFill>
                <a:latin typeface="Proxima Nova"/>
                <a:ea typeface="Proxima Nova"/>
                <a:cs typeface="Proxima Nova"/>
                <a:sym typeface="Proxima Nova"/>
              </a:rPr>
              <a:t>Subsidies </a:t>
            </a:r>
            <a:r>
              <a:rPr b="1" i="0" lang="en-US" sz="800" u="none" cap="none" strike="noStrike">
                <a:solidFill>
                  <a:schemeClr val="dk1"/>
                </a:solidFill>
                <a:latin typeface="Proxima Nova"/>
                <a:ea typeface="Proxima Nova"/>
                <a:cs typeface="Proxima Nova"/>
                <a:sym typeface="Proxima Nova"/>
              </a:rPr>
              <a:t>reduced from 64% of revenue to 26%</a:t>
            </a:r>
            <a:r>
              <a:rPr b="0" i="0" lang="en-US" sz="800" u="none" cap="none" strike="noStrike">
                <a:solidFill>
                  <a:schemeClr val="dk1"/>
                </a:solidFill>
                <a:latin typeface="Proxima Nova"/>
                <a:ea typeface="Proxima Nova"/>
                <a:cs typeface="Proxima Nova"/>
                <a:sym typeface="Proxima Nova"/>
              </a:rPr>
              <a:t> and operating cash flow turned positive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1" i="0" lang="en-US" sz="800" u="none" cap="none" strike="noStrike">
                <a:solidFill>
                  <a:schemeClr val="dk1"/>
                </a:solidFill>
                <a:latin typeface="Proxima Nova"/>
                <a:ea typeface="Proxima Nova"/>
                <a:cs typeface="Proxima Nova"/>
                <a:sym typeface="Proxima Nova"/>
              </a:rPr>
              <a:t>2024-2025 Recovery: </a:t>
            </a:r>
            <a:r>
              <a:rPr b="0" i="0" lang="en-US" sz="800" u="none" cap="none" strike="noStrike">
                <a:solidFill>
                  <a:schemeClr val="dk1"/>
                </a:solidFill>
                <a:latin typeface="Proxima Nova"/>
                <a:ea typeface="Proxima Nova"/>
                <a:cs typeface="Proxima Nova"/>
                <a:sym typeface="Proxima Nova"/>
              </a:rPr>
              <a:t>Strong cash flow numbers as well as </a:t>
            </a:r>
            <a:r>
              <a:rPr b="1" i="0" lang="en-US" sz="800" u="none" cap="none" strike="noStrike">
                <a:solidFill>
                  <a:schemeClr val="dk1"/>
                </a:solidFill>
                <a:latin typeface="Proxima Nova"/>
                <a:ea typeface="Proxima Nova"/>
                <a:cs typeface="Proxima Nova"/>
                <a:sym typeface="Proxima Nova"/>
              </a:rPr>
              <a:t>new AI &amp; fintech growth narrative emerging</a:t>
            </a:r>
            <a:endParaRPr b="1" i="0" sz="1400" u="none" cap="none" strike="noStrike">
              <a:solidFill>
                <a:srgbClr val="000000"/>
              </a:solidFill>
              <a:latin typeface="Arial"/>
              <a:ea typeface="Arial"/>
              <a:cs typeface="Arial"/>
              <a:sym typeface="Arial"/>
            </a:endParaRPr>
          </a:p>
        </p:txBody>
      </p:sp>
      <p:sp>
        <p:nvSpPr>
          <p:cNvPr id="311" name="Google Shape;311;p4"/>
          <p:cNvSpPr txBox="1"/>
          <p:nvPr/>
        </p:nvSpPr>
        <p:spPr>
          <a:xfrm>
            <a:off x="286320" y="4889694"/>
            <a:ext cx="2868861" cy="94986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Valuation context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Grab currently trades at </a:t>
            </a:r>
            <a:r>
              <a:rPr b="1" i="0" lang="en-US" sz="800" u="none" cap="none" strike="noStrike">
                <a:solidFill>
                  <a:schemeClr val="dk1"/>
                </a:solidFill>
                <a:latin typeface="Proxima Nova"/>
                <a:ea typeface="Proxima Nova"/>
                <a:cs typeface="Proxima Nova"/>
                <a:sym typeface="Proxima Nova"/>
              </a:rPr>
              <a:t>2x EV/Sales vs Uber 4x EV/Sales</a:t>
            </a:r>
            <a:endParaRPr b="1"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Discount reflects </a:t>
            </a:r>
            <a:r>
              <a:rPr b="1" i="0" lang="en-US" sz="800" u="none" cap="none" strike="noStrike">
                <a:solidFill>
                  <a:schemeClr val="dk1"/>
                </a:solidFill>
                <a:latin typeface="Proxima Nova"/>
                <a:ea typeface="Proxima Nova"/>
                <a:cs typeface="Proxima Nova"/>
                <a:sym typeface="Proxima Nova"/>
              </a:rPr>
              <a:t>investors skepticism</a:t>
            </a:r>
            <a:r>
              <a:rPr b="0" i="0" lang="en-US" sz="800" u="none" cap="none" strike="noStrike">
                <a:solidFill>
                  <a:schemeClr val="dk1"/>
                </a:solidFill>
                <a:latin typeface="Proxima Nova"/>
                <a:ea typeface="Proxima Nova"/>
                <a:cs typeface="Proxima Nova"/>
                <a:sym typeface="Proxima Nova"/>
              </a:rPr>
              <a:t>; however, upside exists if </a:t>
            </a:r>
            <a:r>
              <a:rPr b="1" i="0" lang="en-US" sz="800" u="none" cap="none" strike="noStrike">
                <a:solidFill>
                  <a:schemeClr val="dk1"/>
                </a:solidFill>
                <a:latin typeface="Proxima Nova"/>
                <a:ea typeface="Proxima Nova"/>
                <a:cs typeface="Proxima Nova"/>
                <a:sym typeface="Proxima Nova"/>
              </a:rPr>
              <a:t>profitability narrative</a:t>
            </a:r>
            <a:r>
              <a:rPr b="0" i="0" lang="en-US" sz="800" u="none" cap="none" strike="noStrike">
                <a:solidFill>
                  <a:schemeClr val="dk1"/>
                </a:solidFill>
                <a:latin typeface="Proxima Nova"/>
                <a:ea typeface="Proxima Nova"/>
                <a:cs typeface="Proxima Nova"/>
                <a:sym typeface="Proxima Nova"/>
              </a:rPr>
              <a:t> takes hold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chemeClr val="dk1"/>
              </a:buClr>
              <a:buSzPts val="1000"/>
              <a:buFont typeface="Arial"/>
              <a:buChar char="•"/>
            </a:pPr>
            <a:r>
              <a:rPr b="0" i="0" lang="en-US" sz="800" u="none" cap="none" strike="noStrike">
                <a:solidFill>
                  <a:schemeClr val="dk1"/>
                </a:solidFill>
                <a:latin typeface="Proxima Nova"/>
                <a:ea typeface="Proxima Nova"/>
                <a:cs typeface="Proxima Nova"/>
                <a:sym typeface="Proxima Nova"/>
              </a:rPr>
              <a:t>The key question for investors will be </a:t>
            </a:r>
            <a:r>
              <a:rPr b="1" i="0" lang="en-US" sz="800" u="none" cap="none" strike="noStrike">
                <a:solidFill>
                  <a:schemeClr val="dk1"/>
                </a:solidFill>
                <a:latin typeface="Proxima Nova"/>
                <a:ea typeface="Proxima Nova"/>
                <a:cs typeface="Proxima Nova"/>
                <a:sym typeface="Proxima Nova"/>
              </a:rPr>
              <a:t>whether Grab will follow Uber’s re-rating path once profitability scales</a:t>
            </a:r>
            <a:endParaRPr b="1" i="0" sz="1400" u="none" cap="none" strike="noStrike">
              <a:solidFill>
                <a:srgbClr val="000000"/>
              </a:solidFill>
              <a:latin typeface="Arial"/>
              <a:ea typeface="Arial"/>
              <a:cs typeface="Arial"/>
              <a:sym typeface="Arial"/>
            </a:endParaRPr>
          </a:p>
        </p:txBody>
      </p:sp>
      <p:sp>
        <p:nvSpPr>
          <p:cNvPr id="312" name="Google Shape;312;p4"/>
          <p:cNvSpPr txBox="1"/>
          <p:nvPr/>
        </p:nvSpPr>
        <p:spPr>
          <a:xfrm>
            <a:off x="3026517" y="2519331"/>
            <a:ext cx="59775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13" name="Google Shape;313;p4"/>
          <p:cNvPicPr preferRelativeResize="0"/>
          <p:nvPr/>
        </p:nvPicPr>
        <p:blipFill rotWithShape="1">
          <a:blip r:embed="rId4">
            <a:alphaModFix/>
          </a:blip>
          <a:srcRect b="0" l="0" r="0" t="0"/>
          <a:stretch/>
        </p:blipFill>
        <p:spPr>
          <a:xfrm>
            <a:off x="3135296" y="657987"/>
            <a:ext cx="6535477" cy="26993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6"/>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9" name="Google Shape;319;p6"/>
          <p:cNvSpPr txBox="1"/>
          <p:nvPr>
            <p:ph idx="2" type="body"/>
          </p:nvPr>
        </p:nvSpPr>
        <p:spPr>
          <a:xfrm>
            <a:off x="286437" y="592581"/>
            <a:ext cx="9331076" cy="290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Valuation Analysis</a:t>
            </a:r>
            <a:endParaRPr/>
          </a:p>
        </p:txBody>
      </p:sp>
      <p:sp>
        <p:nvSpPr>
          <p:cNvPr id="320" name="Google Shape;320;p6"/>
          <p:cNvSpPr txBox="1"/>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marR="0" rtl="0" algn="l">
              <a:lnSpc>
                <a:spcPct val="90000"/>
              </a:lnSpc>
              <a:spcBef>
                <a:spcPts val="0"/>
              </a:spcBef>
              <a:spcAft>
                <a:spcPts val="0"/>
              </a:spcAft>
              <a:buClr>
                <a:schemeClr val="dk1"/>
              </a:buClr>
              <a:buSzPts val="1000"/>
              <a:buFont typeface="Arial"/>
              <a:buAutoNum type="romanUcPeriod"/>
            </a:pPr>
            <a:r>
              <a:rPr b="0" i="0" lang="en-US" sz="1000" u="none" cap="none" strike="noStrike">
                <a:solidFill>
                  <a:schemeClr val="dk1"/>
                </a:solidFill>
                <a:latin typeface="Proxima Nova"/>
                <a:ea typeface="Proxima Nova"/>
                <a:cs typeface="Proxima Nova"/>
                <a:sym typeface="Proxima Nova"/>
              </a:rPr>
              <a:t>VALUATION ANALYSIS</a:t>
            </a:r>
            <a:endParaRPr b="0" i="0" sz="1400" u="none" cap="none" strike="noStrike">
              <a:solidFill>
                <a:srgbClr val="000000"/>
              </a:solidFill>
              <a:latin typeface="Arial"/>
              <a:ea typeface="Arial"/>
              <a:cs typeface="Arial"/>
              <a:sym typeface="Arial"/>
            </a:endParaRPr>
          </a:p>
        </p:txBody>
      </p:sp>
      <p:sp>
        <p:nvSpPr>
          <p:cNvPr id="321" name="Google Shape;321;p6"/>
          <p:cNvSpPr txBox="1"/>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marR="0" rtl="0" algn="l">
              <a:lnSpc>
                <a:spcPct val="100000"/>
              </a:lnSpc>
              <a:spcBef>
                <a:spcPts val="0"/>
              </a:spcBef>
              <a:spcAft>
                <a:spcPts val="0"/>
              </a:spcAft>
              <a:buClr>
                <a:srgbClr val="7F7F7F"/>
              </a:buClr>
              <a:buSzPts val="800"/>
              <a:buFont typeface="Arial"/>
              <a:buNone/>
            </a:pPr>
            <a:r>
              <a:rPr b="0" i="1" lang="en-US" sz="800" u="none" cap="none" strike="noStrike">
                <a:solidFill>
                  <a:srgbClr val="7F7F7F"/>
                </a:solidFill>
                <a:latin typeface="Proxima Nova"/>
                <a:ea typeface="Proxima Nova"/>
                <a:cs typeface="Proxima Nova"/>
                <a:sym typeface="Proxima Nova"/>
              </a:rPr>
              <a:t>Source(s):</a:t>
            </a:r>
            <a:endParaRPr b="0" i="0" sz="1400" u="none" cap="none" strike="noStrike">
              <a:solidFill>
                <a:srgbClr val="000000"/>
              </a:solidFill>
              <a:latin typeface="Arial"/>
              <a:ea typeface="Arial"/>
              <a:cs typeface="Arial"/>
              <a:sym typeface="Arial"/>
            </a:endParaRPr>
          </a:p>
        </p:txBody>
      </p:sp>
      <p:sp>
        <p:nvSpPr>
          <p:cNvPr id="322" name="Google Shape;322;p6"/>
          <p:cNvSpPr txBox="1"/>
          <p:nvPr/>
        </p:nvSpPr>
        <p:spPr>
          <a:xfrm>
            <a:off x="286801" y="1023428"/>
            <a:ext cx="3948650" cy="1442309"/>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Valuation snapshot</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Market capitalisation:</a:t>
            </a:r>
            <a:r>
              <a:rPr b="0" i="0" lang="en-US" sz="800" u="none" cap="none" strike="noStrike">
                <a:solidFill>
                  <a:srgbClr val="000000"/>
                </a:solidFill>
                <a:latin typeface="Proxima Nova"/>
                <a:ea typeface="Proxima Nova"/>
                <a:cs typeface="Proxima Nova"/>
                <a:sym typeface="Proxima Nova"/>
              </a:rPr>
              <a:t> ~US$12B</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Net cash position: ~</a:t>
            </a:r>
            <a:r>
              <a:rPr b="0" i="0" lang="en-US" sz="800" u="none" cap="none" strike="noStrike">
                <a:solidFill>
                  <a:srgbClr val="000000"/>
                </a:solidFill>
                <a:latin typeface="Proxima Nova"/>
                <a:ea typeface="Proxima Nova"/>
                <a:cs typeface="Proxima Nova"/>
                <a:sym typeface="Proxima Nova"/>
              </a:rPr>
              <a:t>US$5.9B, with minimal debt</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Enterprise Value (EV): </a:t>
            </a:r>
            <a:r>
              <a:rPr b="0" i="0" lang="en-US" sz="800" u="none" cap="none" strike="noStrike">
                <a:solidFill>
                  <a:srgbClr val="000000"/>
                </a:solidFill>
                <a:latin typeface="Proxima Nova"/>
                <a:ea typeface="Proxima Nova"/>
                <a:cs typeface="Proxima Nova"/>
                <a:sym typeface="Proxima Nova"/>
              </a:rPr>
              <a:t>~US$6.1B</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Revenue: ~</a:t>
            </a:r>
            <a:r>
              <a:rPr b="0" i="0" lang="en-US" sz="800" u="none" cap="none" strike="noStrike">
                <a:solidFill>
                  <a:srgbClr val="000000"/>
                </a:solidFill>
                <a:latin typeface="Proxima Nova"/>
                <a:ea typeface="Proxima Nova"/>
                <a:cs typeface="Proxima Nova"/>
                <a:sym typeface="Proxima Nova"/>
              </a:rPr>
              <a:t>US$2.8B</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EV/Sales: </a:t>
            </a:r>
            <a:r>
              <a:rPr b="0" i="0" lang="en-US" sz="800" u="none" cap="none" strike="noStrike">
                <a:solidFill>
                  <a:srgbClr val="000000"/>
                </a:solidFill>
                <a:latin typeface="Proxima Nova"/>
                <a:ea typeface="Proxima Nova"/>
                <a:cs typeface="Proxima Nova"/>
                <a:sym typeface="Proxima Nova"/>
              </a:rPr>
              <a:t>~2x</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Price/Sales: </a:t>
            </a:r>
            <a:r>
              <a:rPr b="0" i="0" lang="en-US" sz="800" u="none" cap="none" strike="noStrike">
                <a:solidFill>
                  <a:srgbClr val="000000"/>
                </a:solidFill>
                <a:latin typeface="Proxima Nova"/>
                <a:ea typeface="Proxima Nova"/>
                <a:cs typeface="Proxima Nova"/>
                <a:sym typeface="Proxima Nova"/>
              </a:rPr>
              <a:t>~4x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Discount / Premium: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is currently trading at a discount relative to peers.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Uber currently trades at around 3-4x EV/Sales, Sea Group (Shopee/SeaMoney) currently trades at around 2-3x EV/Sales</a:t>
            </a:r>
            <a:endParaRPr b="0" i="0" sz="1400" u="none" cap="none" strike="noStrike">
              <a:solidFill>
                <a:srgbClr val="000000"/>
              </a:solidFill>
              <a:latin typeface="Arial"/>
              <a:ea typeface="Arial"/>
              <a:cs typeface="Arial"/>
              <a:sym typeface="Arial"/>
            </a:endParaRPr>
          </a:p>
        </p:txBody>
      </p:sp>
      <p:sp>
        <p:nvSpPr>
          <p:cNvPr id="323" name="Google Shape;323;p6"/>
          <p:cNvSpPr txBox="1"/>
          <p:nvPr/>
        </p:nvSpPr>
        <p:spPr>
          <a:xfrm>
            <a:off x="286437" y="2541693"/>
            <a:ext cx="3948650" cy="1319198"/>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Valuation misalignment with improving fundamentals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trades at a material discount to global peers despite delivering superior revenue growth and a clear trajectory of profitability improvement.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The company’s dominant market position in Southeast Asia, reinforced by a cash-rich balance sheet, provides both resilience and scale advantages that peers cannot replicate.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With margins already expanding and operating leverage unlocking, Grab is structurally positioned for re-rating.</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The current valuation gap undervalues its growth profile and earnings power, creating a compelling opportunity for investors</a:t>
            </a:r>
            <a:endParaRPr b="0" i="0" sz="800" u="none" cap="none" strike="noStrike">
              <a:solidFill>
                <a:srgbClr val="000000"/>
              </a:solidFill>
              <a:latin typeface="Proxima Nova"/>
              <a:ea typeface="Proxima Nova"/>
              <a:cs typeface="Proxima Nova"/>
              <a:sym typeface="Proxima Nova"/>
            </a:endParaRPr>
          </a:p>
        </p:txBody>
      </p:sp>
      <p:graphicFrame>
        <p:nvGraphicFramePr>
          <p:cNvPr id="324" name="Google Shape;324;p6"/>
          <p:cNvGraphicFramePr/>
          <p:nvPr/>
        </p:nvGraphicFramePr>
        <p:xfrm>
          <a:off x="4473897" y="1023428"/>
          <a:ext cx="3000000" cy="3000000"/>
        </p:xfrm>
        <a:graphic>
          <a:graphicData uri="http://schemas.openxmlformats.org/drawingml/2006/table">
            <a:tbl>
              <a:tblPr bandRow="1" firstRow="1">
                <a:noFill/>
                <a:tableStyleId>{5F3F39BA-E31A-4004-920F-AE4E834E8032}</a:tableStyleId>
              </a:tblPr>
              <a:tblGrid>
                <a:gridCol w="1714500"/>
                <a:gridCol w="1714500"/>
                <a:gridCol w="1714500"/>
              </a:tblGrid>
              <a:tr h="278325">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latin typeface="Proxima Nova"/>
                          <a:ea typeface="Proxima Nova"/>
                          <a:cs typeface="Proxima Nova"/>
                          <a:sym typeface="Proxima Nova"/>
                        </a:rPr>
                        <a:t>Company</a:t>
                      </a:r>
                      <a:endParaRPr sz="1400" u="none" cap="none" strike="noStrike"/>
                    </a:p>
                  </a:txBody>
                  <a:tcPr marT="45725" marB="45725" marR="91450" marL="91450" anchor="ctr">
                    <a:solidFill>
                      <a:srgbClr val="05B050"/>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latin typeface="Proxima Nova"/>
                          <a:ea typeface="Proxima Nova"/>
                          <a:cs typeface="Proxima Nova"/>
                          <a:sym typeface="Proxima Nova"/>
                        </a:rPr>
                        <a:t>EV/EBITDA</a:t>
                      </a:r>
                      <a:endParaRPr sz="1400" u="none" cap="none" strike="noStrike"/>
                    </a:p>
                  </a:txBody>
                  <a:tcPr marT="45725" marB="45725" marR="91450" marL="91450" anchor="ctr">
                    <a:solidFill>
                      <a:srgbClr val="05B050"/>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US" sz="1000" u="none" cap="none" strike="noStrike">
                          <a:latin typeface="Proxima Nova"/>
                          <a:ea typeface="Proxima Nova"/>
                          <a:cs typeface="Proxima Nova"/>
                          <a:sym typeface="Proxima Nova"/>
                        </a:rPr>
                        <a:t>Description</a:t>
                      </a:r>
                      <a:endParaRPr sz="1400" u="none" cap="none" strike="noStrike"/>
                    </a:p>
                  </a:txBody>
                  <a:tcPr marT="45725" marB="45725" marR="91450" marL="91450" anchor="ctr">
                    <a:solidFill>
                      <a:srgbClr val="05B050"/>
                    </a:solidFill>
                  </a:tcPr>
                </a:tc>
              </a:tr>
              <a:tr h="270675">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Uber Technologies (UBER)</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17x</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i="0" lang="en-US" sz="800" u="none" cap="none" strike="noStrike">
                          <a:solidFill>
                            <a:schemeClr val="dk1"/>
                          </a:solidFill>
                          <a:latin typeface="Proxima Nova"/>
                          <a:ea typeface="Proxima Nova"/>
                          <a:cs typeface="Proxima Nova"/>
                          <a:sym typeface="Proxima Nova"/>
                        </a:rPr>
                        <a:t>Global ride-hailing and delivery leader </a:t>
                      </a:r>
                      <a:r>
                        <a:rPr b="0" i="0" lang="en-US" sz="800" u="none" cap="none" strike="noStrike">
                          <a:solidFill>
                            <a:schemeClr val="dk1"/>
                          </a:solidFill>
                          <a:latin typeface="Proxima Nova"/>
                          <a:ea typeface="Proxima Nova"/>
                          <a:cs typeface="Proxima Nova"/>
                          <a:sym typeface="Proxima Nova"/>
                        </a:rPr>
                        <a:t>with a similar business model, serving as a </a:t>
                      </a:r>
                      <a:r>
                        <a:rPr b="1" i="0" lang="en-US" sz="800" u="none" cap="none" strike="noStrike">
                          <a:solidFill>
                            <a:schemeClr val="dk1"/>
                          </a:solidFill>
                          <a:latin typeface="Proxima Nova"/>
                          <a:ea typeface="Proxima Nova"/>
                          <a:cs typeface="Proxima Nova"/>
                          <a:sym typeface="Proxima Nova"/>
                        </a:rPr>
                        <a:t>benchmark</a:t>
                      </a:r>
                      <a:r>
                        <a:rPr b="0" i="0" lang="en-US" sz="800" u="none" cap="none" strike="noStrike">
                          <a:solidFill>
                            <a:schemeClr val="dk1"/>
                          </a:solidFill>
                          <a:latin typeface="Proxima Nova"/>
                          <a:ea typeface="Proxima Nova"/>
                          <a:cs typeface="Proxima Nova"/>
                          <a:sym typeface="Proxima Nova"/>
                        </a:rPr>
                        <a:t> for </a:t>
                      </a:r>
                      <a:r>
                        <a:rPr b="1" i="0" lang="en-US" sz="800" u="none" cap="none" strike="noStrike">
                          <a:solidFill>
                            <a:schemeClr val="dk1"/>
                          </a:solidFill>
                          <a:latin typeface="Proxima Nova"/>
                          <a:ea typeface="Proxima Nova"/>
                          <a:cs typeface="Proxima Nova"/>
                          <a:sym typeface="Proxima Nova"/>
                        </a:rPr>
                        <a:t>mature-market valuation</a:t>
                      </a:r>
                      <a:endParaRPr sz="1400" u="none" cap="none" strike="noStrike"/>
                    </a:p>
                  </a:txBody>
                  <a:tcPr marT="45725" marB="45725" marR="91450" marL="91450"/>
                </a:tc>
              </a:tr>
              <a:tr h="270675">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Lyft (LYFT)</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12x</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Pure-play U.S. ride-hailing peer</a:t>
                      </a:r>
                      <a:r>
                        <a:rPr lang="en-US" sz="800" u="none" cap="none" strike="noStrike">
                          <a:solidFill>
                            <a:schemeClr val="dk1"/>
                          </a:solidFill>
                          <a:latin typeface="Proxima Nova"/>
                          <a:ea typeface="Proxima Nova"/>
                          <a:cs typeface="Proxima Nova"/>
                          <a:sym typeface="Proxima Nova"/>
                        </a:rPr>
                        <a:t>, offering a comparison for a company with a </a:t>
                      </a:r>
                      <a:r>
                        <a:rPr b="1" lang="en-US" sz="800" u="none" cap="none" strike="noStrike">
                          <a:solidFill>
                            <a:schemeClr val="dk1"/>
                          </a:solidFill>
                          <a:latin typeface="Proxima Nova"/>
                          <a:ea typeface="Proxima Nova"/>
                          <a:cs typeface="Proxima Nova"/>
                          <a:sym typeface="Proxima Nova"/>
                        </a:rPr>
                        <a:t>more focused geographical footprint</a:t>
                      </a:r>
                      <a:endParaRPr sz="1400" u="none" cap="none" strike="noStrike"/>
                    </a:p>
                  </a:txBody>
                  <a:tcPr marT="45725" marB="45725" marR="91450" marL="91450"/>
                </a:tc>
              </a:tr>
              <a:tr h="213700">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Delivery Hero (DHER)</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17x</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Multinational online food delivery company</a:t>
                      </a:r>
                      <a:r>
                        <a:rPr lang="en-US" sz="800" u="none" cap="none" strike="noStrike">
                          <a:solidFill>
                            <a:schemeClr val="dk1"/>
                          </a:solidFill>
                          <a:latin typeface="Proxima Nova"/>
                          <a:ea typeface="Proxima Nova"/>
                          <a:cs typeface="Proxima Nova"/>
                          <a:sym typeface="Proxima Nova"/>
                        </a:rPr>
                        <a:t>, reasonable food-delivery peer. </a:t>
                      </a:r>
                      <a:r>
                        <a:rPr b="1" lang="en-US" sz="800" u="none" cap="none" strike="noStrike">
                          <a:solidFill>
                            <a:schemeClr val="dk1"/>
                          </a:solidFill>
                          <a:latin typeface="Proxima Nova"/>
                          <a:ea typeface="Proxima Nova"/>
                          <a:cs typeface="Proxima Nova"/>
                          <a:sym typeface="Proxima Nova"/>
                        </a:rPr>
                        <a:t>Asset-light platform mode</a:t>
                      </a:r>
                      <a:r>
                        <a:rPr lang="en-US" sz="800" u="none" cap="none" strike="noStrike">
                          <a:solidFill>
                            <a:schemeClr val="dk1"/>
                          </a:solidFill>
                          <a:latin typeface="Proxima Nova"/>
                          <a:ea typeface="Proxima Nova"/>
                          <a:cs typeface="Proxima Nova"/>
                          <a:sym typeface="Proxima Nova"/>
                        </a:rPr>
                        <a:t>l and are </a:t>
                      </a:r>
                      <a:r>
                        <a:rPr b="1" lang="en-US" sz="800" u="none" cap="none" strike="noStrike">
                          <a:solidFill>
                            <a:schemeClr val="dk1"/>
                          </a:solidFill>
                          <a:latin typeface="Proxima Nova"/>
                          <a:ea typeface="Proxima Nova"/>
                          <a:cs typeface="Proxima Nova"/>
                          <a:sym typeface="Proxima Nova"/>
                        </a:rPr>
                        <a:t>investing heavily in vertical expansion strategies</a:t>
                      </a:r>
                      <a:endParaRPr sz="1400" u="none" cap="none" strike="noStrike"/>
                    </a:p>
                  </a:txBody>
                  <a:tcPr marT="45725" marB="45725" marR="91450" marL="91450"/>
                </a:tc>
              </a:tr>
              <a:tr h="270675">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Grab Holdings (GRAB)</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20x</a:t>
                      </a:r>
                      <a:endParaRPr sz="1400" u="none" cap="none" strike="noStrike"/>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800"/>
                        <a:buFont typeface="Arial"/>
                        <a:buNone/>
                      </a:pPr>
                      <a:r>
                        <a:rPr b="1" lang="en-US" sz="800" u="none" cap="none" strike="noStrike">
                          <a:solidFill>
                            <a:schemeClr val="dk1"/>
                          </a:solidFill>
                          <a:latin typeface="Proxima Nova"/>
                          <a:ea typeface="Proxima Nova"/>
                          <a:cs typeface="Proxima Nova"/>
                          <a:sym typeface="Proxima Nova"/>
                        </a:rPr>
                        <a:t>Super-App/Fintech Optionality</a:t>
                      </a:r>
                      <a:r>
                        <a:rPr lang="en-US" sz="800" u="none" cap="none" strike="noStrike">
                          <a:solidFill>
                            <a:schemeClr val="dk1"/>
                          </a:solidFill>
                          <a:latin typeface="Proxima Nova"/>
                          <a:ea typeface="Proxima Nova"/>
                          <a:cs typeface="Proxima Nova"/>
                          <a:sym typeface="Proxima Nova"/>
                        </a:rPr>
                        <a:t>: Grab's model is a "Super-App" </a:t>
                      </a:r>
                      <a:r>
                        <a:rPr b="1" lang="en-US" sz="800" u="none" cap="none" strike="noStrike">
                          <a:solidFill>
                            <a:schemeClr val="dk1"/>
                          </a:solidFill>
                          <a:latin typeface="Proxima Nova"/>
                          <a:ea typeface="Proxima Nova"/>
                          <a:cs typeface="Proxima Nova"/>
                          <a:sym typeface="Proxima Nova"/>
                        </a:rPr>
                        <a:t>combining mobility, Delivery, and financial services</a:t>
                      </a:r>
                      <a:endParaRPr sz="1400" u="none" cap="none" strike="noStrike"/>
                    </a:p>
                  </a:txBody>
                  <a:tcPr marT="45725" marB="45725" marR="91450" marL="91450"/>
                </a:tc>
              </a:tr>
            </a:tbl>
          </a:graphicData>
        </a:graphic>
      </p:graphicFrame>
      <p:sp>
        <p:nvSpPr>
          <p:cNvPr id="325" name="Google Shape;325;p6"/>
          <p:cNvSpPr txBox="1"/>
          <p:nvPr/>
        </p:nvSpPr>
        <p:spPr>
          <a:xfrm>
            <a:off x="286417" y="3940287"/>
            <a:ext cx="3948650" cy="82675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Intrinsic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To determine an intrinsic value for Grab, we applied a comparable company analysis using the forward Enterprise Value-to-EBITDA (EV/EBITDA) multiple. Based on Grab's superior growth trajectory in Southeast Asia and the premium associated with its integrated Super-App ecosystem, we believe a 20x forward EV/EBITDA is a justified premium</a:t>
            </a:r>
            <a:endParaRPr b="0" i="0" sz="1400" u="none" cap="none" strike="noStrike">
              <a:solidFill>
                <a:srgbClr val="000000"/>
              </a:solidFill>
              <a:latin typeface="Arial"/>
              <a:ea typeface="Arial"/>
              <a:cs typeface="Arial"/>
              <a:sym typeface="Arial"/>
            </a:endParaRPr>
          </a:p>
        </p:txBody>
      </p:sp>
      <p:sp>
        <p:nvSpPr>
          <p:cNvPr id="326" name="Google Shape;326;p6"/>
          <p:cNvSpPr/>
          <p:nvPr/>
        </p:nvSpPr>
        <p:spPr>
          <a:xfrm>
            <a:off x="7367397" y="4160276"/>
            <a:ext cx="2250000" cy="1877700"/>
          </a:xfrm>
          <a:prstGeom prst="roundRect">
            <a:avLst>
              <a:gd fmla="val 16667" name="adj"/>
            </a:avLst>
          </a:prstGeom>
          <a:solidFill>
            <a:srgbClr val="F4EFEB"/>
          </a:solidFill>
          <a:ln>
            <a:noFill/>
          </a:ln>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Clr>
                <a:schemeClr val="dk1"/>
              </a:buClr>
              <a:buSzPts val="1100"/>
              <a:buFont typeface="Arial"/>
              <a:buNone/>
            </a:pPr>
            <a:r>
              <a:rPr b="1" i="0" lang="en-US" sz="1000" u="none" cap="none" strike="noStrike">
                <a:solidFill>
                  <a:schemeClr val="dk1"/>
                </a:solidFill>
                <a:latin typeface="Proxima Nova"/>
                <a:ea typeface="Proxima Nova"/>
                <a:cs typeface="Proxima Nova"/>
                <a:sym typeface="Proxima Nova"/>
              </a:rPr>
              <a:t>Implied Share Value of </a:t>
            </a:r>
            <a:r>
              <a:rPr b="1" i="0" lang="en-US" sz="1000" u="none" cap="none" strike="noStrike">
                <a:solidFill>
                  <a:srgbClr val="05B050"/>
                </a:solidFill>
                <a:latin typeface="Proxima Nova"/>
                <a:ea typeface="Proxima Nova"/>
                <a:cs typeface="Proxima Nova"/>
                <a:sym typeface="Proxima Nova"/>
              </a:rPr>
              <a:t>$6.50</a:t>
            </a:r>
            <a:r>
              <a:rPr b="0" i="0" lang="en-US" sz="1000" u="none" cap="none" strike="noStrike">
                <a:solidFill>
                  <a:srgbClr val="05B050"/>
                </a:solidFill>
                <a:latin typeface="Proxima Nova"/>
                <a:ea typeface="Proxima Nova"/>
                <a:cs typeface="Proxima Nova"/>
                <a:sym typeface="Proxima Nova"/>
              </a:rPr>
              <a:t>.</a:t>
            </a:r>
            <a:endParaRPr b="0" i="0" sz="1000" u="none" cap="none" strike="noStrike">
              <a:solidFill>
                <a:srgbClr val="05B050"/>
              </a:solidFill>
              <a:latin typeface="Proxima Nova"/>
              <a:ea typeface="Proxima Nova"/>
              <a:cs typeface="Proxima Nova"/>
              <a:sym typeface="Proxima Nova"/>
            </a:endParaRPr>
          </a:p>
          <a:p>
            <a:pPr indent="0" lvl="0" marL="0" marR="0" rtl="0" algn="l">
              <a:lnSpc>
                <a:spcPct val="115000"/>
              </a:lnSpc>
              <a:spcBef>
                <a:spcPts val="1200"/>
              </a:spcBef>
              <a:spcAft>
                <a:spcPts val="1200"/>
              </a:spcAft>
              <a:buClr>
                <a:srgbClr val="000000"/>
              </a:buClr>
              <a:buSzPts val="900"/>
              <a:buFont typeface="Arial"/>
              <a:buNone/>
            </a:pPr>
            <a:r>
              <a:rPr b="0" i="0" lang="en-US" sz="900" u="none" cap="none" strike="noStrike">
                <a:solidFill>
                  <a:schemeClr val="dk1"/>
                </a:solidFill>
                <a:latin typeface="Proxima Nova"/>
                <a:ea typeface="Proxima Nova"/>
                <a:cs typeface="Proxima Nova"/>
                <a:sym typeface="Proxima Nova"/>
              </a:rPr>
              <a:t>This represents a </a:t>
            </a:r>
            <a:r>
              <a:rPr b="1" i="0" lang="en-US" sz="900" u="none" cap="none" strike="noStrike">
                <a:solidFill>
                  <a:srgbClr val="05B050"/>
                </a:solidFill>
                <a:latin typeface="Proxima Nova"/>
                <a:ea typeface="Proxima Nova"/>
                <a:cs typeface="Proxima Nova"/>
                <a:sym typeface="Proxima Nova"/>
              </a:rPr>
              <a:t>6.46%</a:t>
            </a:r>
            <a:r>
              <a:rPr b="1" i="0" lang="en-US" sz="900" u="none" cap="none" strike="noStrike">
                <a:solidFill>
                  <a:schemeClr val="dk1"/>
                </a:solidFill>
                <a:latin typeface="Proxima Nova"/>
                <a:ea typeface="Proxima Nova"/>
                <a:cs typeface="Proxima Nova"/>
                <a:sym typeface="Proxima Nova"/>
              </a:rPr>
              <a:t> upside</a:t>
            </a:r>
            <a:r>
              <a:rPr b="0" i="0" lang="en-US" sz="900" u="none" cap="none" strike="noStrike">
                <a:solidFill>
                  <a:schemeClr val="dk1"/>
                </a:solidFill>
                <a:latin typeface="Proxima Nova"/>
                <a:ea typeface="Proxima Nova"/>
                <a:cs typeface="Proxima Nova"/>
                <a:sym typeface="Proxima Nova"/>
              </a:rPr>
              <a:t> over the current share price of $6.08 and validates our </a:t>
            </a:r>
            <a:r>
              <a:rPr b="1" i="0" lang="en-US" sz="900" u="none" cap="none" strike="noStrike">
                <a:solidFill>
                  <a:schemeClr val="dk1"/>
                </a:solidFill>
                <a:latin typeface="Proxima Nova"/>
                <a:ea typeface="Proxima Nova"/>
                <a:cs typeface="Proxima Nova"/>
                <a:sym typeface="Proxima Nova"/>
              </a:rPr>
              <a:t>BUY</a:t>
            </a:r>
            <a:r>
              <a:rPr b="0" i="0" lang="en-US" sz="900" u="none" cap="none" strike="noStrike">
                <a:solidFill>
                  <a:schemeClr val="dk1"/>
                </a:solidFill>
                <a:latin typeface="Proxima Nova"/>
                <a:ea typeface="Proxima Nova"/>
                <a:cs typeface="Proxima Nova"/>
                <a:sym typeface="Proxima Nova"/>
              </a:rPr>
              <a:t> rating</a:t>
            </a:r>
            <a:endParaRPr b="0" i="0" sz="1050" u="none" cap="none" strike="noStrike">
              <a:solidFill>
                <a:srgbClr val="000000"/>
              </a:solidFill>
              <a:latin typeface="Proxima Nova"/>
              <a:ea typeface="Proxima Nova"/>
              <a:cs typeface="Proxima Nova"/>
              <a:sym typeface="Proxima Nova"/>
            </a:endParaRPr>
          </a:p>
        </p:txBody>
      </p:sp>
      <p:sp>
        <p:nvSpPr>
          <p:cNvPr id="327" name="Google Shape;327;p6"/>
          <p:cNvSpPr txBox="1"/>
          <p:nvPr/>
        </p:nvSpPr>
        <p:spPr>
          <a:xfrm>
            <a:off x="762000" y="2940050"/>
            <a:ext cx="8382000" cy="39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6"/>
          <p:cNvSpPr txBox="1"/>
          <p:nvPr/>
        </p:nvSpPr>
        <p:spPr>
          <a:xfrm>
            <a:off x="286417" y="4846440"/>
            <a:ext cx="4915800" cy="131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Arial"/>
                <a:ea typeface="Arial"/>
                <a:cs typeface="Arial"/>
                <a:sym typeface="Arial"/>
              </a:rPr>
              <a:t>Profitable &amp; Scaling Fast:</a:t>
            </a:r>
            <a:endParaRPr b="1"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Q1 2025 revenue US$ 773 M (+18% YoY); Adj. EBITDA US$ 106 M (↑ 70% YoY); first net profit US$ 10 M.</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Arial"/>
                <a:ea typeface="Arial"/>
                <a:cs typeface="Arial"/>
                <a:sym typeface="Arial"/>
              </a:rPr>
              <a:t>Fintech Optionality</a:t>
            </a:r>
            <a:r>
              <a:rPr b="0" i="0" lang="en-US" sz="800" u="none" cap="none" strike="noStrike">
                <a:solidFill>
                  <a:srgbClr val="00000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Financial Services revenue US$ 75 M (+36% YoY); loan book +56% YoY to US$ 566 M; deposits US$ 1.43 </a:t>
            </a:r>
            <a:r>
              <a:rPr b="1" i="0" lang="en-US" sz="800" u="none" cap="none" strike="noStrike">
                <a:solidFill>
                  <a:srgbClr val="000000"/>
                </a:solidFill>
                <a:latin typeface="Arial"/>
                <a:ea typeface="Arial"/>
                <a:cs typeface="Arial"/>
                <a:sym typeface="Arial"/>
              </a:rPr>
              <a:t>Improving Margins</a:t>
            </a:r>
            <a:r>
              <a:rPr b="0" i="0" lang="en-US" sz="800" u="none" cap="none" strike="noStrike">
                <a:solidFill>
                  <a:srgbClr val="00000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Deliveries EBITDA = 2.0% of GMV (↑ from 1.6%); Mobility = 8.8% of GMV; fixed costs ↓ 5% YoY.</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Arial"/>
                <a:ea typeface="Arial"/>
                <a:cs typeface="Arial"/>
                <a:sym typeface="Arial"/>
              </a:rPr>
              <a:t>Balance-Sheet Strength</a:t>
            </a:r>
            <a:r>
              <a:rPr b="0" i="0" lang="en-US" sz="800" u="none" cap="none" strike="noStrike">
                <a:solidFill>
                  <a:srgbClr val="000000"/>
                </a:solidFill>
                <a:latin typeface="Arial"/>
                <a:ea typeface="Arial"/>
                <a:cs typeface="Arial"/>
                <a:sym typeface="Arial"/>
              </a:rPr>
              <a:t>:</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US$ 6.2 B cash liquidity / US$ 5.9 B net cash; US$ 500 M share-buyback plan.</a:t>
            </a:r>
            <a:endParaRPr b="0" i="0" sz="800" u="none" cap="none" strike="noStrike">
              <a:solidFill>
                <a:srgbClr val="000000"/>
              </a:solidFill>
              <a:latin typeface="Arial"/>
              <a:ea typeface="Arial"/>
              <a:cs typeface="Arial"/>
              <a:sym typeface="Arial"/>
            </a:endParaRPr>
          </a:p>
        </p:txBody>
      </p:sp>
      <p:pic>
        <p:nvPicPr>
          <p:cNvPr id="329" name="Google Shape;329;p6"/>
          <p:cNvPicPr preferRelativeResize="0"/>
          <p:nvPr/>
        </p:nvPicPr>
        <p:blipFill rotWithShape="1">
          <a:blip r:embed="rId3">
            <a:alphaModFix/>
          </a:blip>
          <a:srcRect b="0" l="0" r="0" t="0"/>
          <a:stretch/>
        </p:blipFill>
        <p:spPr>
          <a:xfrm>
            <a:off x="5033427" y="3940287"/>
            <a:ext cx="2250024" cy="232513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35" name="Google Shape;335;p3"/>
          <p:cNvSpPr txBox="1"/>
          <p:nvPr>
            <p:ph idx="2" type="body"/>
          </p:nvPr>
        </p:nvSpPr>
        <p:spPr>
          <a:xfrm>
            <a:off x="287462" y="587269"/>
            <a:ext cx="9331076" cy="290464"/>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Financial Analysis</a:t>
            </a:r>
            <a:endParaRPr/>
          </a:p>
        </p:txBody>
      </p:sp>
      <p:sp>
        <p:nvSpPr>
          <p:cNvPr id="336" name="Google Shape;336;p3"/>
          <p:cNvSpPr txBox="1"/>
          <p:nvPr>
            <p:ph idx="3" type="body"/>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rtl="0" algn="l">
              <a:lnSpc>
                <a:spcPct val="100000"/>
              </a:lnSpc>
              <a:spcBef>
                <a:spcPts val="0"/>
              </a:spcBef>
              <a:spcAft>
                <a:spcPts val="0"/>
              </a:spcAft>
              <a:buSzPts val="800"/>
              <a:buNone/>
            </a:pPr>
            <a:r>
              <a:rPr lang="en-US"/>
              <a:t>Source(s): </a:t>
            </a:r>
            <a:r>
              <a:rPr lang="en-US" u="sng">
                <a:solidFill>
                  <a:schemeClr val="hlink"/>
                </a:solidFill>
                <a:hlinkClick r:id="rId3"/>
              </a:rPr>
              <a:t>Grab Investor Relations</a:t>
            </a:r>
            <a:endParaRPr/>
          </a:p>
        </p:txBody>
      </p:sp>
      <p:sp>
        <p:nvSpPr>
          <p:cNvPr id="337" name="Google Shape;337;p3"/>
          <p:cNvSpPr txBox="1"/>
          <p:nvPr>
            <p:ph idx="4" type="body"/>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rtl="0" algn="l">
              <a:lnSpc>
                <a:spcPct val="90000"/>
              </a:lnSpc>
              <a:spcBef>
                <a:spcPts val="0"/>
              </a:spcBef>
              <a:spcAft>
                <a:spcPts val="0"/>
              </a:spcAft>
              <a:buClr>
                <a:schemeClr val="dk1"/>
              </a:buClr>
              <a:buSzPts val="1000"/>
              <a:buFont typeface="Arial"/>
              <a:buAutoNum type="romanUcPeriod"/>
            </a:pPr>
            <a:r>
              <a:rPr lang="en-US"/>
              <a:t>FINANCIAL ANALYSIS</a:t>
            </a:r>
            <a:endParaRPr/>
          </a:p>
        </p:txBody>
      </p:sp>
      <p:sp>
        <p:nvSpPr>
          <p:cNvPr id="338" name="Google Shape;338;p3"/>
          <p:cNvSpPr txBox="1"/>
          <p:nvPr/>
        </p:nvSpPr>
        <p:spPr>
          <a:xfrm>
            <a:off x="286800" y="1023428"/>
            <a:ext cx="4644825" cy="2427194"/>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Revenue Growth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Overall growth</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Total revenue doubled from </a:t>
            </a:r>
            <a:r>
              <a:rPr b="1" i="0" lang="en-US" sz="800" u="none" cap="none" strike="noStrike">
                <a:solidFill>
                  <a:srgbClr val="000000"/>
                </a:solidFill>
                <a:latin typeface="Proxima Nova"/>
                <a:ea typeface="Proxima Nova"/>
                <a:cs typeface="Proxima Nova"/>
                <a:sym typeface="Proxima Nova"/>
              </a:rPr>
              <a:t>US$1.4B </a:t>
            </a:r>
            <a:r>
              <a:rPr b="0" i="0" lang="en-US" sz="800" u="none" cap="none" strike="noStrike">
                <a:solidFill>
                  <a:srgbClr val="000000"/>
                </a:solidFill>
                <a:latin typeface="Proxima Nova"/>
                <a:ea typeface="Proxima Nova"/>
                <a:cs typeface="Proxima Nova"/>
                <a:sym typeface="Proxima Nova"/>
              </a:rPr>
              <a:t>in </a:t>
            </a:r>
            <a:r>
              <a:rPr b="1" i="0" lang="en-US" sz="800" u="none" cap="none" strike="noStrike">
                <a:solidFill>
                  <a:srgbClr val="000000"/>
                </a:solidFill>
                <a:latin typeface="Proxima Nova"/>
                <a:ea typeface="Proxima Nova"/>
                <a:cs typeface="Proxima Nova"/>
                <a:sym typeface="Proxima Nova"/>
              </a:rPr>
              <a:t>FY22</a:t>
            </a:r>
            <a:r>
              <a:rPr b="0" i="0" lang="en-US" sz="800" u="none" cap="none" strike="noStrike">
                <a:solidFill>
                  <a:srgbClr val="000000"/>
                </a:solidFill>
                <a:latin typeface="Proxima Nova"/>
                <a:ea typeface="Proxima Nova"/>
                <a:cs typeface="Proxima Nova"/>
                <a:sym typeface="Proxima Nova"/>
              </a:rPr>
              <a:t> to </a:t>
            </a:r>
            <a:r>
              <a:rPr b="1" i="0" lang="en-US" sz="800" u="none" cap="none" strike="noStrike">
                <a:solidFill>
                  <a:srgbClr val="000000"/>
                </a:solidFill>
                <a:latin typeface="Proxima Nova"/>
                <a:ea typeface="Proxima Nova"/>
                <a:cs typeface="Proxima Nova"/>
                <a:sym typeface="Proxima Nova"/>
              </a:rPr>
              <a:t>US$2.8B </a:t>
            </a:r>
            <a:r>
              <a:rPr b="0" i="0" lang="en-US" sz="800" u="none" cap="none" strike="noStrike">
                <a:solidFill>
                  <a:srgbClr val="000000"/>
                </a:solidFill>
                <a:latin typeface="Proxima Nova"/>
                <a:ea typeface="Proxima Nova"/>
                <a:cs typeface="Proxima Nova"/>
                <a:sym typeface="Proxima Nova"/>
              </a:rPr>
              <a:t>in </a:t>
            </a:r>
            <a:r>
              <a:rPr b="1" i="0" lang="en-US" sz="800" u="none" cap="none" strike="noStrike">
                <a:solidFill>
                  <a:srgbClr val="000000"/>
                </a:solidFill>
                <a:latin typeface="Proxima Nova"/>
                <a:ea typeface="Proxima Nova"/>
                <a:cs typeface="Proxima Nova"/>
                <a:sym typeface="Proxima Nova"/>
              </a:rPr>
              <a:t>FY24, ~39% CAGR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Mobility sector</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Strong recovery post Covid, achieving </a:t>
            </a:r>
            <a:r>
              <a:rPr b="1" i="0" lang="en-US" sz="800" u="none" cap="none" strike="noStrike">
                <a:solidFill>
                  <a:srgbClr val="000000"/>
                </a:solidFill>
                <a:latin typeface="Proxima Nova"/>
                <a:ea typeface="Proxima Nova"/>
                <a:cs typeface="Proxima Nova"/>
                <a:sym typeface="Proxima Nova"/>
              </a:rPr>
              <a:t>consistent double-digit YoY growth </a:t>
            </a:r>
            <a:r>
              <a:rPr b="0" i="0" lang="en-US" sz="800" u="none" cap="none" strike="noStrike">
                <a:solidFill>
                  <a:srgbClr val="000000"/>
                </a:solidFill>
                <a:latin typeface="Proxima Nova"/>
                <a:ea typeface="Proxima Nova"/>
                <a:cs typeface="Proxima Nova"/>
                <a:sym typeface="Proxima Nova"/>
              </a:rPr>
              <a:t>from FY22-FY24</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Achieved </a:t>
            </a:r>
            <a:r>
              <a:rPr b="1" i="0" lang="en-US" sz="800" u="none" cap="none" strike="noStrike">
                <a:solidFill>
                  <a:srgbClr val="000000"/>
                </a:solidFill>
                <a:latin typeface="Proxima Nova"/>
                <a:ea typeface="Proxima Nova"/>
                <a:cs typeface="Proxima Nova"/>
                <a:sym typeface="Proxima Nova"/>
              </a:rPr>
              <a:t>record segment revenue </a:t>
            </a:r>
            <a:r>
              <a:rPr b="0" i="0" lang="en-US" sz="800" u="none" cap="none" strike="noStrike">
                <a:solidFill>
                  <a:srgbClr val="000000"/>
                </a:solidFill>
                <a:latin typeface="Proxima Nova"/>
                <a:ea typeface="Proxima Nova"/>
                <a:cs typeface="Proxima Nova"/>
                <a:sym typeface="Proxima Nova"/>
              </a:rPr>
              <a:t>in FY24, benefitting from </a:t>
            </a:r>
            <a:r>
              <a:rPr b="1" i="0" lang="en-US" sz="800" u="none" cap="none" strike="noStrike">
                <a:solidFill>
                  <a:srgbClr val="000000"/>
                </a:solidFill>
                <a:latin typeface="Proxima Nova"/>
                <a:ea typeface="Proxima Nova"/>
                <a:cs typeface="Proxima Nova"/>
                <a:sym typeface="Proxima Nova"/>
              </a:rPr>
              <a:t>improved driver supply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reduced incentives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Key Driver: Increased demand </a:t>
            </a:r>
            <a:r>
              <a:rPr b="0" i="0" lang="en-US" sz="800" u="none" cap="none" strike="noStrike">
                <a:solidFill>
                  <a:srgbClr val="000000"/>
                </a:solidFill>
                <a:latin typeface="Proxima Nova"/>
                <a:ea typeface="Proxima Nova"/>
                <a:cs typeface="Proxima Nova"/>
                <a:sym typeface="Proxima Nova"/>
              </a:rPr>
              <a:t>in Indonesia, Singapore, and Vietnam as well as </a:t>
            </a:r>
            <a:r>
              <a:rPr b="1" i="0" lang="en-US" sz="800" u="none" cap="none" strike="noStrike">
                <a:solidFill>
                  <a:srgbClr val="000000"/>
                </a:solidFill>
                <a:latin typeface="Proxima Nova"/>
                <a:ea typeface="Proxima Nova"/>
                <a:cs typeface="Proxima Nova"/>
                <a:sym typeface="Proxima Nova"/>
              </a:rPr>
              <a:t>higher avg. fees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Delivery sector</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Segment revenue growth </a:t>
            </a:r>
            <a:r>
              <a:rPr b="1" i="0" lang="en-US" sz="800" u="none" cap="none" strike="noStrike">
                <a:solidFill>
                  <a:srgbClr val="000000"/>
                </a:solidFill>
                <a:latin typeface="Proxima Nova"/>
                <a:ea typeface="Proxima Nova"/>
                <a:cs typeface="Proxima Nova"/>
                <a:sym typeface="Proxima Nova"/>
              </a:rPr>
              <a:t>was lower than mobility but still robust</a:t>
            </a:r>
            <a:r>
              <a:rPr b="0" i="0" lang="en-US" sz="800" u="none" cap="none" strike="noStrike">
                <a:solidFill>
                  <a:srgbClr val="000000"/>
                </a:solidFill>
                <a:latin typeface="Proxima Nova"/>
                <a:ea typeface="Proxima Nova"/>
                <a:cs typeface="Proxima Nova"/>
                <a:sym typeface="Proxima Nova"/>
              </a:rPr>
              <a:t>, supported by </a:t>
            </a:r>
            <a:r>
              <a:rPr b="1" i="0" lang="en-US" sz="800" u="none" cap="none" strike="noStrike">
                <a:solidFill>
                  <a:srgbClr val="000000"/>
                </a:solidFill>
                <a:latin typeface="Proxima Nova"/>
                <a:ea typeface="Proxima Nova"/>
                <a:cs typeface="Proxima Nova"/>
                <a:sym typeface="Proxima Nova"/>
              </a:rPr>
              <a:t>diversification into groceries and non-food verticals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Deliveries profitability improved significantly as </a:t>
            </a:r>
            <a:r>
              <a:rPr b="1" i="0" lang="en-US" sz="800" u="none" cap="none" strike="noStrike">
                <a:solidFill>
                  <a:srgbClr val="000000"/>
                </a:solidFill>
                <a:latin typeface="Proxima Nova"/>
                <a:ea typeface="Proxima Nova"/>
                <a:cs typeface="Proxima Nova"/>
                <a:sym typeface="Proxima Nova"/>
              </a:rPr>
              <a:t>incentives fell, and commission take-rate rose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FY23: </a:t>
            </a:r>
            <a:r>
              <a:rPr b="0" i="0" lang="en-US" sz="800" u="none" cap="none" strike="noStrike">
                <a:solidFill>
                  <a:srgbClr val="000000"/>
                </a:solidFill>
                <a:latin typeface="Proxima Nova"/>
                <a:ea typeface="Proxima Nova"/>
                <a:cs typeface="Proxima Nova"/>
                <a:sym typeface="Proxima Nova"/>
              </a:rPr>
              <a:t>Revenue uplift from </a:t>
            </a:r>
            <a:r>
              <a:rPr b="1" i="0" lang="en-US" sz="800" u="none" cap="none" strike="noStrike">
                <a:solidFill>
                  <a:srgbClr val="000000"/>
                </a:solidFill>
                <a:latin typeface="Proxima Nova"/>
                <a:ea typeface="Proxima Nova"/>
                <a:cs typeface="Proxima Nova"/>
                <a:sym typeface="Proxima Nova"/>
              </a:rPr>
              <a:t>order frequency gains</a:t>
            </a:r>
            <a:r>
              <a:rPr b="0" i="0" lang="en-US" sz="800" u="none" cap="none" strike="noStrike">
                <a:solidFill>
                  <a:srgbClr val="000000"/>
                </a:solidFill>
                <a:latin typeface="Proxima Nova"/>
                <a:ea typeface="Proxima Nova"/>
                <a:cs typeface="Proxima Nova"/>
                <a:sym typeface="Proxima Nova"/>
              </a:rPr>
              <a:t> and </a:t>
            </a:r>
            <a:r>
              <a:rPr b="1" i="0" lang="en-US" sz="800" u="none" cap="none" strike="noStrike">
                <a:solidFill>
                  <a:srgbClr val="000000"/>
                </a:solidFill>
                <a:latin typeface="Proxima Nova"/>
                <a:ea typeface="Proxima Nova"/>
                <a:cs typeface="Proxima Nova"/>
                <a:sym typeface="Proxima Nova"/>
              </a:rPr>
              <a:t>new merchant onboarding</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Growth driven by </a:t>
            </a:r>
            <a:r>
              <a:rPr b="1" i="0" lang="en-US" sz="800" u="none" cap="none" strike="noStrike">
                <a:solidFill>
                  <a:srgbClr val="000000"/>
                </a:solidFill>
                <a:latin typeface="Proxima Nova"/>
                <a:ea typeface="Proxima Nova"/>
                <a:cs typeface="Proxima Nova"/>
                <a:sym typeface="Proxima Nova"/>
              </a:rPr>
              <a:t>GrabUnlimited subscriptions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merchant advertising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Financial Services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Currently the smallest contributor to revenue, but it is the </a:t>
            </a:r>
            <a:r>
              <a:rPr b="1" i="0" lang="en-US" sz="800" u="none" cap="none" strike="noStrike">
                <a:solidFill>
                  <a:srgbClr val="000000"/>
                </a:solidFill>
                <a:latin typeface="Proxima Nova"/>
                <a:ea typeface="Proxima Nova"/>
                <a:cs typeface="Proxima Nova"/>
                <a:sym typeface="Proxima Nova"/>
              </a:rPr>
              <a:t>fastest growing</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FY22-FY23: </a:t>
            </a:r>
            <a:r>
              <a:rPr b="0" i="0" lang="en-US" sz="800" u="none" cap="none" strike="noStrike">
                <a:solidFill>
                  <a:srgbClr val="000000"/>
                </a:solidFill>
                <a:latin typeface="Proxima Nova"/>
                <a:ea typeface="Proxima Nova"/>
                <a:cs typeface="Proxima Nova"/>
                <a:sym typeface="Proxima Nova"/>
              </a:rPr>
              <a:t>Operating at losses due to </a:t>
            </a:r>
            <a:r>
              <a:rPr b="1" i="0" lang="en-US" sz="800" u="none" cap="none" strike="noStrike">
                <a:solidFill>
                  <a:srgbClr val="000000"/>
                </a:solidFill>
                <a:latin typeface="Proxima Nova"/>
                <a:ea typeface="Proxima Nova"/>
                <a:cs typeface="Proxima Nova"/>
                <a:sym typeface="Proxima Nova"/>
              </a:rPr>
              <a:t>heavy investment in R&amp;D as well as promotions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Revenue grew </a:t>
            </a:r>
            <a:r>
              <a:rPr b="1" i="0" lang="en-US" sz="800" u="none" cap="none" strike="noStrike">
                <a:solidFill>
                  <a:srgbClr val="000000"/>
                </a:solidFill>
                <a:latin typeface="Proxima Nova"/>
                <a:ea typeface="Proxima Nova"/>
                <a:cs typeface="Proxima Nova"/>
                <a:sym typeface="Proxima Nova"/>
              </a:rPr>
              <a:t>sharply</a:t>
            </a:r>
            <a:r>
              <a:rPr b="0" i="0" lang="en-US" sz="800" u="none" cap="none" strike="noStrike">
                <a:solidFill>
                  <a:srgbClr val="000000"/>
                </a:solidFill>
                <a:latin typeface="Proxima Nova"/>
                <a:ea typeface="Proxima Nova"/>
                <a:cs typeface="Proxima Nova"/>
                <a:sym typeface="Proxima Nova"/>
              </a:rPr>
              <a:t>, led by </a:t>
            </a:r>
            <a:r>
              <a:rPr b="1" i="0" lang="en-US" sz="800" u="none" cap="none" strike="noStrike">
                <a:solidFill>
                  <a:srgbClr val="000000"/>
                </a:solidFill>
                <a:latin typeface="Proxima Nova"/>
                <a:ea typeface="Proxima Nova"/>
                <a:cs typeface="Proxima Nova"/>
                <a:sym typeface="Proxima Nova"/>
              </a:rPr>
              <a:t>payments volume expansion </a:t>
            </a:r>
            <a:r>
              <a:rPr b="0" i="0" lang="en-US" sz="800" u="none" cap="none" strike="noStrike">
                <a:solidFill>
                  <a:srgbClr val="000000"/>
                </a:solidFill>
                <a:latin typeface="Proxima Nova"/>
                <a:ea typeface="Proxima Nova"/>
                <a:cs typeface="Proxima Nova"/>
                <a:sym typeface="Proxima Nova"/>
              </a:rPr>
              <a:t>and </a:t>
            </a:r>
            <a:r>
              <a:rPr b="1" i="0" lang="en-US" sz="800" u="none" cap="none" strike="noStrike">
                <a:solidFill>
                  <a:srgbClr val="000000"/>
                </a:solidFill>
                <a:latin typeface="Proxima Nova"/>
                <a:ea typeface="Proxima Nova"/>
                <a:cs typeface="Proxima Nova"/>
                <a:sym typeface="Proxima Nova"/>
              </a:rPr>
              <a:t>digital bank traction</a:t>
            </a:r>
            <a:r>
              <a:rPr b="0" i="0" lang="en-US" sz="800" u="none" cap="none" strike="noStrike">
                <a:solidFill>
                  <a:srgbClr val="000000"/>
                </a:solidFill>
                <a:latin typeface="Proxima Nova"/>
                <a:ea typeface="Proxima Nova"/>
                <a:cs typeface="Proxima Nova"/>
                <a:sym typeface="Proxima Nova"/>
              </a:rPr>
              <a:t> in Singapore and Malaysia</a:t>
            </a:r>
            <a:endParaRPr b="0" i="0" sz="1400" u="none" cap="none" strike="noStrike">
              <a:solidFill>
                <a:srgbClr val="000000"/>
              </a:solidFill>
              <a:latin typeface="Arial"/>
              <a:ea typeface="Arial"/>
              <a:cs typeface="Arial"/>
              <a:sym typeface="Arial"/>
            </a:endParaRPr>
          </a:p>
        </p:txBody>
      </p:sp>
      <p:sp>
        <p:nvSpPr>
          <p:cNvPr id="339" name="Google Shape;339;p3"/>
          <p:cNvSpPr txBox="1"/>
          <p:nvPr/>
        </p:nvSpPr>
        <p:spPr>
          <a:xfrm>
            <a:off x="286799" y="3514141"/>
            <a:ext cx="4687577" cy="2180973"/>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Cash Flow &amp; Balance Sheet Health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Operating cash flow</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FY22: </a:t>
            </a:r>
            <a:r>
              <a:rPr b="0" i="0" lang="en-US" sz="800" u="none" cap="none" strike="noStrike">
                <a:solidFill>
                  <a:srgbClr val="000000"/>
                </a:solidFill>
                <a:latin typeface="Proxima Nova"/>
                <a:ea typeface="Proxima Nova"/>
                <a:cs typeface="Proxima Nova"/>
                <a:sym typeface="Proxima Nova"/>
              </a:rPr>
              <a:t>US$(798)M (outflow)</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FY23: </a:t>
            </a:r>
            <a:r>
              <a:rPr b="0" i="0" lang="en-US" sz="800" u="none" cap="none" strike="noStrike">
                <a:solidFill>
                  <a:srgbClr val="000000"/>
                </a:solidFill>
                <a:latin typeface="Proxima Nova"/>
                <a:ea typeface="Proxima Nova"/>
                <a:cs typeface="Proxima Nova"/>
                <a:sym typeface="Proxima Nova"/>
              </a:rPr>
              <a:t>US$86M (turning point)</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US$852M (first healthy inflow)</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With US$852M of operating cash flow in FY24, that is a </a:t>
            </a:r>
            <a:r>
              <a:rPr b="1" i="0" lang="en-US" sz="800" u="none" cap="none" strike="noStrike">
                <a:solidFill>
                  <a:srgbClr val="000000"/>
                </a:solidFill>
                <a:latin typeface="Proxima Nova"/>
                <a:ea typeface="Proxima Nova"/>
                <a:cs typeface="Proxima Nova"/>
                <a:sym typeface="Proxima Nova"/>
              </a:rPr>
              <a:t>swing of &gt;US$1.6B </a:t>
            </a:r>
            <a:r>
              <a:rPr b="0" i="0" lang="en-US" sz="800" u="none" cap="none" strike="noStrike">
                <a:solidFill>
                  <a:srgbClr val="000000"/>
                </a:solidFill>
                <a:latin typeface="Proxima Nova"/>
                <a:ea typeface="Proxima Nova"/>
                <a:cs typeface="Proxima Nova"/>
                <a:sym typeface="Proxima Nova"/>
              </a:rPr>
              <a:t>over the 3 years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Free cash flow</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FY22:</a:t>
            </a:r>
            <a:r>
              <a:rPr b="0" i="0" lang="en-US" sz="800" u="none" cap="none" strike="noStrike">
                <a:solidFill>
                  <a:srgbClr val="000000"/>
                </a:solidFill>
                <a:latin typeface="Proxima Nova"/>
                <a:ea typeface="Proxima Nova"/>
                <a:cs typeface="Proxima Nova"/>
                <a:sym typeface="Proxima Nova"/>
              </a:rPr>
              <a:t> US$(703)M</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FY23: </a:t>
            </a:r>
            <a:r>
              <a:rPr b="0" i="0" lang="en-US" sz="800" u="none" cap="none" strike="noStrike">
                <a:solidFill>
                  <a:srgbClr val="000000"/>
                </a:solidFill>
                <a:latin typeface="Proxima Nova"/>
                <a:ea typeface="Proxima Nova"/>
                <a:cs typeface="Proxima Nova"/>
                <a:sym typeface="Proxima Nova"/>
              </a:rPr>
              <a:t>US$340M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US$817M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With free cash flow turning strongly positive, Grab now has self-funding capacity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Balance sheet strength</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Cash &amp; cash equivalents: </a:t>
            </a:r>
            <a:r>
              <a:rPr b="0" i="0" lang="en-US" sz="800" u="none" cap="none" strike="noStrike">
                <a:solidFill>
                  <a:srgbClr val="000000"/>
                </a:solidFill>
                <a:latin typeface="Proxima Nova"/>
                <a:ea typeface="Proxima Nova"/>
                <a:cs typeface="Proxima Nova"/>
                <a:sym typeface="Proxima Nova"/>
              </a:rPr>
              <a:t>US$3B in FY24</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Debt: </a:t>
            </a:r>
            <a:r>
              <a:rPr b="0" i="0" lang="en-US" sz="800" u="none" cap="none" strike="noStrike">
                <a:solidFill>
                  <a:srgbClr val="000000"/>
                </a:solidFill>
                <a:latin typeface="Proxima Nova"/>
                <a:ea typeface="Proxima Nova"/>
                <a:cs typeface="Proxima Nova"/>
                <a:sym typeface="Proxima Nova"/>
              </a:rPr>
              <a:t>Low relative to cash and there is no near-term refinancing risk</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Increasing liabilities is due to </a:t>
            </a:r>
            <a:r>
              <a:rPr b="1" i="0" lang="en-US" sz="800" u="none" cap="none" strike="noStrike">
                <a:solidFill>
                  <a:srgbClr val="000000"/>
                </a:solidFill>
                <a:latin typeface="Proxima Nova"/>
                <a:ea typeface="Proxima Nova"/>
                <a:cs typeface="Proxima Nova"/>
                <a:sym typeface="Proxima Nova"/>
              </a:rPr>
              <a:t>rising customer deposits </a:t>
            </a:r>
            <a:r>
              <a:rPr b="0" i="0" lang="en-US" sz="800" u="none" cap="none" strike="noStrike">
                <a:solidFill>
                  <a:srgbClr val="000000"/>
                </a:solidFill>
                <a:latin typeface="Proxima Nova"/>
                <a:ea typeface="Proxima Nova"/>
                <a:cs typeface="Proxima Nova"/>
                <a:sym typeface="Proxima Nova"/>
              </a:rPr>
              <a:t>from </a:t>
            </a:r>
            <a:r>
              <a:rPr b="1" i="0" lang="en-US" sz="800" u="none" cap="none" strike="noStrike">
                <a:solidFill>
                  <a:srgbClr val="000000"/>
                </a:solidFill>
                <a:latin typeface="Proxima Nova"/>
                <a:ea typeface="Proxima Nova"/>
                <a:cs typeface="Proxima Nova"/>
                <a:sym typeface="Proxima Nova"/>
              </a:rPr>
              <a:t>growing fintech adoption</a:t>
            </a:r>
            <a:r>
              <a:rPr b="0" i="0" lang="en-US" sz="800" u="none" cap="none" strike="noStrike">
                <a:solidFill>
                  <a:srgbClr val="000000"/>
                </a:solidFill>
                <a:latin typeface="Proxima Nova"/>
                <a:ea typeface="Proxima Nova"/>
                <a:cs typeface="Proxima Nova"/>
                <a:sym typeface="Proxima Nova"/>
              </a:rPr>
              <a:t>, not a reflection of financial stress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now has ample runway to scale AI + fintech initiatives</a:t>
            </a:r>
            <a:endParaRPr b="0" i="0" sz="1400" u="none" cap="none" strike="noStrike">
              <a:solidFill>
                <a:srgbClr val="000000"/>
              </a:solidFill>
              <a:latin typeface="Arial"/>
              <a:ea typeface="Arial"/>
              <a:cs typeface="Arial"/>
              <a:sym typeface="Arial"/>
            </a:endParaRPr>
          </a:p>
        </p:txBody>
      </p:sp>
      <p:sp>
        <p:nvSpPr>
          <p:cNvPr id="340" name="Google Shape;340;p3"/>
          <p:cNvSpPr txBox="1"/>
          <p:nvPr/>
        </p:nvSpPr>
        <p:spPr>
          <a:xfrm>
            <a:off x="-3957722" y="1867693"/>
            <a:ext cx="3878464" cy="1550031"/>
          </a:xfrm>
          <a:prstGeom prst="rect">
            <a:avLst/>
          </a:prstGeom>
          <a:solidFill>
            <a:schemeClr val="lt1"/>
          </a:solidFill>
          <a:ln>
            <a:noFill/>
          </a:ln>
        </p:spPr>
        <p:txBody>
          <a:bodyPr anchorCtr="0" anchor="t" bIns="36000" lIns="90000" spcFirstLastPara="1" rIns="91425" wrap="square" tIns="360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Revenue Growth</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Show FY22 → FY24 revenue CAGR (~39%).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Split by segments if possible (Mobility, Deliveries, Fintech).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Profitability Path</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Operating loss narrowing: (1.37B) → (519M) → (168M).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Net loss improving: (1.74B) → (485M) → (158M).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EBITDA or Adjusted EBITDA if available.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Cash Flow</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Operating cash flow:</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FY22: -798M</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FY23: +86M</a:t>
            </a:r>
            <a:endParaRPr b="0" i="0" sz="1400" u="none" cap="none" strike="noStrike">
              <a:solidFill>
                <a:srgbClr val="000000"/>
              </a:solidFill>
              <a:latin typeface="Arial"/>
              <a:ea typeface="Arial"/>
              <a:cs typeface="Arial"/>
              <a:sym typeface="Arial"/>
            </a:endParaRPr>
          </a:p>
          <a:p>
            <a:pPr indent="0" lvl="1"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FY24: +852M (first year of strong positive CF).</a:t>
            </a:r>
            <a:endParaRPr b="0" i="0" sz="1400" u="none" cap="none" strike="noStrike">
              <a:solidFill>
                <a:srgbClr val="000000"/>
              </a:solidFill>
              <a:latin typeface="Arial"/>
              <a:ea typeface="Arial"/>
              <a:cs typeface="Arial"/>
              <a:sym typeface="Arial"/>
            </a:endParaRPr>
          </a:p>
        </p:txBody>
      </p:sp>
      <p:sp>
        <p:nvSpPr>
          <p:cNvPr id="341" name="Google Shape;341;p3"/>
          <p:cNvSpPr txBox="1"/>
          <p:nvPr/>
        </p:nvSpPr>
        <p:spPr>
          <a:xfrm>
            <a:off x="-3957722" y="3440277"/>
            <a:ext cx="3878464" cy="811367"/>
          </a:xfrm>
          <a:prstGeom prst="rect">
            <a:avLst/>
          </a:prstGeom>
          <a:solidFill>
            <a:schemeClr val="lt1"/>
          </a:solidFill>
          <a:ln>
            <a:noFill/>
          </a:ln>
        </p:spPr>
        <p:txBody>
          <a:bodyPr anchorCtr="0" anchor="t" bIns="36000" lIns="90000" spcFirstLastPara="1" rIns="91425" wrap="square" tIns="360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Balance Sheet Health</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Cash &amp; equivalents ~US$3B (ample runway).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Low debt relative to cash (liabilities rising due to customer deposits).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Margins &amp; Efficiency Ratios (optional)</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Gross margin, Operating margin trend.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Cash burn vs revenue.</a:t>
            </a:r>
            <a:endParaRPr b="0" i="0" sz="1400" u="none" cap="none" strike="noStrike">
              <a:solidFill>
                <a:srgbClr val="000000"/>
              </a:solidFill>
              <a:latin typeface="Arial"/>
              <a:ea typeface="Arial"/>
              <a:cs typeface="Arial"/>
              <a:sym typeface="Arial"/>
            </a:endParaRPr>
          </a:p>
        </p:txBody>
      </p:sp>
      <p:sp>
        <p:nvSpPr>
          <p:cNvPr id="342" name="Google Shape;342;p3"/>
          <p:cNvSpPr txBox="1"/>
          <p:nvPr/>
        </p:nvSpPr>
        <p:spPr>
          <a:xfrm>
            <a:off x="4974377" y="1023428"/>
            <a:ext cx="4644825" cy="826756"/>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Path to Profitability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Operating loss narrowed </a:t>
            </a:r>
            <a:r>
              <a:rPr b="0" i="0" lang="en-US" sz="800" u="none" cap="none" strike="noStrike">
                <a:solidFill>
                  <a:srgbClr val="000000"/>
                </a:solidFill>
                <a:latin typeface="Proxima Nova"/>
                <a:ea typeface="Proxima Nova"/>
                <a:cs typeface="Proxima Nova"/>
                <a:sym typeface="Proxima Nova"/>
              </a:rPr>
              <a:t>from </a:t>
            </a:r>
            <a:r>
              <a:rPr b="1" i="0" lang="en-US" sz="800" u="none" cap="none" strike="noStrike">
                <a:solidFill>
                  <a:srgbClr val="000000"/>
                </a:solidFill>
                <a:latin typeface="Proxima Nova"/>
                <a:ea typeface="Proxima Nova"/>
                <a:cs typeface="Proxima Nova"/>
                <a:sym typeface="Proxima Nova"/>
              </a:rPr>
              <a:t>US$1.4B </a:t>
            </a:r>
            <a:r>
              <a:rPr b="0" i="0" lang="en-US" sz="800" u="none" cap="none" strike="noStrike">
                <a:solidFill>
                  <a:srgbClr val="000000"/>
                </a:solidFill>
                <a:latin typeface="Proxima Nova"/>
                <a:ea typeface="Proxima Nova"/>
                <a:cs typeface="Proxima Nova"/>
                <a:sym typeface="Proxima Nova"/>
              </a:rPr>
              <a:t>in </a:t>
            </a:r>
            <a:r>
              <a:rPr b="1" i="0" lang="en-US" sz="800" u="none" cap="none" strike="noStrike">
                <a:solidFill>
                  <a:srgbClr val="000000"/>
                </a:solidFill>
                <a:latin typeface="Proxima Nova"/>
                <a:ea typeface="Proxima Nova"/>
                <a:cs typeface="Proxima Nova"/>
                <a:sym typeface="Proxima Nova"/>
              </a:rPr>
              <a:t>FY22</a:t>
            </a:r>
            <a:r>
              <a:rPr b="0" i="0" lang="en-US" sz="800" u="none" cap="none" strike="noStrike">
                <a:solidFill>
                  <a:srgbClr val="000000"/>
                </a:solidFill>
                <a:latin typeface="Proxima Nova"/>
                <a:ea typeface="Proxima Nova"/>
                <a:cs typeface="Proxima Nova"/>
                <a:sym typeface="Proxima Nova"/>
              </a:rPr>
              <a:t> to </a:t>
            </a:r>
            <a:r>
              <a:rPr b="1" i="0" lang="en-US" sz="800" u="none" cap="none" strike="noStrike">
                <a:solidFill>
                  <a:srgbClr val="000000"/>
                </a:solidFill>
                <a:latin typeface="Proxima Nova"/>
                <a:ea typeface="Proxima Nova"/>
                <a:cs typeface="Proxima Nova"/>
                <a:sym typeface="Proxima Nova"/>
              </a:rPr>
              <a:t>US$168M </a:t>
            </a:r>
            <a:r>
              <a:rPr b="0" i="0" lang="en-US" sz="800" u="none" cap="none" strike="noStrike">
                <a:solidFill>
                  <a:srgbClr val="000000"/>
                </a:solidFill>
                <a:latin typeface="Proxima Nova"/>
                <a:ea typeface="Proxima Nova"/>
                <a:cs typeface="Proxima Nova"/>
                <a:sym typeface="Proxima Nova"/>
              </a:rPr>
              <a:t>in </a:t>
            </a:r>
            <a:r>
              <a:rPr b="1" i="0" lang="en-US" sz="800" u="none" cap="none" strike="noStrike">
                <a:solidFill>
                  <a:srgbClr val="000000"/>
                </a:solidFill>
                <a:latin typeface="Proxima Nova"/>
                <a:ea typeface="Proxima Nova"/>
                <a:cs typeface="Proxima Nova"/>
                <a:sym typeface="Proxima Nova"/>
              </a:rPr>
              <a:t>FY24</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Net loss reduced </a:t>
            </a:r>
            <a:r>
              <a:rPr b="0" i="0" lang="en-US" sz="800" u="none" cap="none" strike="noStrike">
                <a:solidFill>
                  <a:srgbClr val="000000"/>
                </a:solidFill>
                <a:latin typeface="Proxima Nova"/>
                <a:ea typeface="Proxima Nova"/>
                <a:cs typeface="Proxima Nova"/>
                <a:sym typeface="Proxima Nova"/>
              </a:rPr>
              <a:t>by more than </a:t>
            </a:r>
            <a:r>
              <a:rPr b="1" i="0" lang="en-US" sz="800" u="none" cap="none" strike="noStrike">
                <a:solidFill>
                  <a:srgbClr val="000000"/>
                </a:solidFill>
                <a:latin typeface="Proxima Nova"/>
                <a:ea typeface="Proxima Nova"/>
                <a:cs typeface="Proxima Nova"/>
                <a:sym typeface="Proxima Nova"/>
              </a:rPr>
              <a:t>90%</a:t>
            </a:r>
            <a:r>
              <a:rPr b="0" i="0" lang="en-US" sz="800" u="none" cap="none" strike="noStrike">
                <a:solidFill>
                  <a:srgbClr val="000000"/>
                </a:solidFill>
                <a:latin typeface="Proxima Nova"/>
                <a:ea typeface="Proxima Nova"/>
                <a:cs typeface="Proxima Nova"/>
                <a:sym typeface="Proxima Nova"/>
              </a:rPr>
              <a:t> from FY22 to FY24, from </a:t>
            </a:r>
            <a:r>
              <a:rPr b="1" i="0" lang="en-US" sz="800" u="none" cap="none" strike="noStrike">
                <a:solidFill>
                  <a:srgbClr val="000000"/>
                </a:solidFill>
                <a:latin typeface="Proxima Nova"/>
                <a:ea typeface="Proxima Nova"/>
                <a:cs typeface="Proxima Nova"/>
                <a:sym typeface="Proxima Nova"/>
              </a:rPr>
              <a:t>US$1.7B </a:t>
            </a:r>
            <a:r>
              <a:rPr b="0" i="0" lang="en-US" sz="800" u="none" cap="none" strike="noStrike">
                <a:solidFill>
                  <a:srgbClr val="000000"/>
                </a:solidFill>
                <a:latin typeface="Proxima Nova"/>
                <a:ea typeface="Proxima Nova"/>
                <a:cs typeface="Proxima Nova"/>
                <a:sym typeface="Proxima Nova"/>
              </a:rPr>
              <a:t>to </a:t>
            </a:r>
            <a:r>
              <a:rPr b="1" i="0" lang="en-US" sz="800" u="none" cap="none" strike="noStrike">
                <a:solidFill>
                  <a:srgbClr val="000000"/>
                </a:solidFill>
                <a:latin typeface="Proxima Nova"/>
                <a:ea typeface="Proxima Nova"/>
                <a:cs typeface="Proxima Nova"/>
                <a:sym typeface="Proxima Nova"/>
              </a:rPr>
              <a:t>US$158M</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Positive adj. EBITDA </a:t>
            </a:r>
            <a:r>
              <a:rPr b="0" i="0" lang="en-US" sz="800" u="none" cap="none" strike="noStrike">
                <a:solidFill>
                  <a:srgbClr val="000000"/>
                </a:solidFill>
                <a:latin typeface="Proxima Nova"/>
                <a:ea typeface="Proxima Nova"/>
                <a:cs typeface="Proxima Nova"/>
                <a:sym typeface="Proxima Nova"/>
              </a:rPr>
              <a:t>in FY24, </a:t>
            </a:r>
            <a:r>
              <a:rPr b="1" i="0" lang="en-US" sz="800" u="none" cap="none" strike="noStrike">
                <a:solidFill>
                  <a:srgbClr val="000000"/>
                </a:solidFill>
                <a:latin typeface="Proxima Nova"/>
                <a:ea typeface="Proxima Nova"/>
                <a:cs typeface="Proxima Nova"/>
                <a:sym typeface="Proxima Nova"/>
              </a:rPr>
              <a:t>first profitability milestone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Key Drivers: </a:t>
            </a:r>
            <a:r>
              <a:rPr b="0" i="0" lang="en-US" sz="800" u="none" cap="none" strike="noStrike">
                <a:solidFill>
                  <a:srgbClr val="000000"/>
                </a:solidFill>
                <a:latin typeface="Proxima Nova"/>
                <a:ea typeface="Proxima Nova"/>
                <a:cs typeface="Proxima Nova"/>
                <a:sym typeface="Proxima Nova"/>
              </a:rPr>
              <a:t>Lower incentives/subsidies, Improved driver utilisation &amp; merchant take-rates and early benefits from AI efficiency</a:t>
            </a:r>
            <a:endParaRPr b="1" i="0" sz="800" u="none" cap="none" strike="noStrike">
              <a:solidFill>
                <a:srgbClr val="000000"/>
              </a:solidFill>
              <a:latin typeface="Proxima Nova"/>
              <a:ea typeface="Proxima Nova"/>
              <a:cs typeface="Proxima Nova"/>
              <a:sym typeface="Proxima Nova"/>
            </a:endParaRPr>
          </a:p>
        </p:txBody>
      </p:sp>
      <p:pic>
        <p:nvPicPr>
          <p:cNvPr descr="A graph of numbers and a number of loss&#10;&#10;AI-generated content may be incorrect." id="343" name="Google Shape;343;p3"/>
          <p:cNvPicPr preferRelativeResize="0"/>
          <p:nvPr/>
        </p:nvPicPr>
        <p:blipFill rotWithShape="1">
          <a:blip r:embed="rId4">
            <a:alphaModFix/>
          </a:blip>
          <a:srcRect b="0" l="0" r="0" t="0"/>
          <a:stretch/>
        </p:blipFill>
        <p:spPr>
          <a:xfrm>
            <a:off x="5675243" y="1877856"/>
            <a:ext cx="2882347" cy="1603779"/>
          </a:xfrm>
          <a:prstGeom prst="rect">
            <a:avLst/>
          </a:prstGeom>
          <a:noFill/>
          <a:ln>
            <a:noFill/>
          </a:ln>
        </p:spPr>
      </p:pic>
      <p:sp>
        <p:nvSpPr>
          <p:cNvPr id="344" name="Google Shape;344;p3"/>
          <p:cNvSpPr txBox="1"/>
          <p:nvPr/>
        </p:nvSpPr>
        <p:spPr>
          <a:xfrm>
            <a:off x="4929820" y="3512649"/>
            <a:ext cx="4687577" cy="2427194"/>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Margins &amp; Efficiency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Efficiency gains and subsidy cuts are driving </a:t>
            </a:r>
            <a:r>
              <a:rPr b="1" i="0" lang="en-US" sz="800" u="none" cap="none" strike="noStrike">
                <a:solidFill>
                  <a:srgbClr val="000000"/>
                </a:solidFill>
                <a:latin typeface="Proxima Nova"/>
                <a:ea typeface="Proxima Nova"/>
                <a:cs typeface="Proxima Nova"/>
                <a:sym typeface="Proxima Nova"/>
              </a:rPr>
              <a:t>margin improvements</a:t>
            </a:r>
            <a:r>
              <a:rPr b="0" i="0" lang="en-US" sz="800" u="none" cap="none" strike="noStrike">
                <a:solidFill>
                  <a:srgbClr val="000000"/>
                </a:solidFill>
                <a:latin typeface="Proxima Nova"/>
                <a:ea typeface="Proxima Nova"/>
                <a:cs typeface="Proxima Nova"/>
                <a:sym typeface="Proxima Nova"/>
              </a:rPr>
              <a:t>, positioning Grab for </a:t>
            </a:r>
            <a:r>
              <a:rPr b="1" i="0" lang="en-US" sz="800" u="none" cap="none" strike="noStrike">
                <a:solidFill>
                  <a:srgbClr val="000000"/>
                </a:solidFill>
                <a:latin typeface="Proxima Nova"/>
                <a:ea typeface="Proxima Nova"/>
                <a:cs typeface="Proxima Nova"/>
                <a:sym typeface="Proxima Nova"/>
              </a:rPr>
              <a:t>sustained profitability</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Gross margin has improved consistently as Grab shifted from </a:t>
            </a:r>
            <a:r>
              <a:rPr b="1" i="0" lang="en-US" sz="800" u="none" cap="none" strike="noStrike">
                <a:solidFill>
                  <a:srgbClr val="000000"/>
                </a:solidFill>
                <a:latin typeface="Proxima Nova"/>
                <a:ea typeface="Proxima Nova"/>
                <a:cs typeface="Proxima Nova"/>
                <a:sym typeface="Proxima Nova"/>
              </a:rPr>
              <a:t>incentive-heavy</a:t>
            </a:r>
            <a:r>
              <a:rPr b="0" i="0" lang="en-US" sz="800" u="none" cap="none" strike="noStrike">
                <a:solidFill>
                  <a:srgbClr val="000000"/>
                </a:solidFill>
                <a:latin typeface="Proxima Nova"/>
                <a:ea typeface="Proxima Nova"/>
                <a:cs typeface="Proxima Nova"/>
                <a:sym typeface="Proxima Nova"/>
              </a:rPr>
              <a:t> model to </a:t>
            </a:r>
            <a:r>
              <a:rPr b="1" i="0" lang="en-US" sz="800" u="none" cap="none" strike="noStrike">
                <a:solidFill>
                  <a:srgbClr val="000000"/>
                </a:solidFill>
                <a:latin typeface="Proxima Nova"/>
                <a:ea typeface="Proxima Nova"/>
                <a:cs typeface="Proxima Nova"/>
                <a:sym typeface="Proxima Nova"/>
              </a:rPr>
              <a:t>organic demand</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Structural shift</a:t>
            </a:r>
            <a:r>
              <a:rPr b="0" i="0" lang="en-US" sz="800" u="none" cap="none" strike="noStrike">
                <a:solidFill>
                  <a:srgbClr val="000000"/>
                </a:solidFill>
                <a:latin typeface="Proxima Nova"/>
                <a:ea typeface="Proxima Nova"/>
                <a:cs typeface="Proxima Nova"/>
                <a:sym typeface="Proxima Nova"/>
              </a:rPr>
              <a:t>: Grab cut subsidies by </a:t>
            </a:r>
            <a:r>
              <a:rPr b="1" i="0" lang="en-US" sz="800" u="none" cap="none" strike="noStrike">
                <a:solidFill>
                  <a:srgbClr val="000000"/>
                </a:solidFill>
                <a:latin typeface="Proxima Nova"/>
                <a:ea typeface="Proxima Nova"/>
                <a:cs typeface="Proxima Nova"/>
                <a:sym typeface="Proxima Nova"/>
              </a:rPr>
              <a:t>&gt;US$490M</a:t>
            </a:r>
            <a:r>
              <a:rPr b="0" i="0" lang="en-US" sz="800" u="none" cap="none" strike="noStrike">
                <a:solidFill>
                  <a:srgbClr val="000000"/>
                </a:solidFill>
                <a:latin typeface="Proxima Nova"/>
                <a:ea typeface="Proxima Nova"/>
                <a:cs typeface="Proxima Nova"/>
                <a:sym typeface="Proxima Nova"/>
              </a:rPr>
              <a:t>, while revenue nearly </a:t>
            </a:r>
            <a:r>
              <a:rPr b="1" i="0" lang="en-US" sz="800" u="none" cap="none" strike="noStrike">
                <a:solidFill>
                  <a:srgbClr val="000000"/>
                </a:solidFill>
                <a:latin typeface="Proxima Nova"/>
                <a:ea typeface="Proxima Nova"/>
                <a:cs typeface="Proxima Nova"/>
                <a:sym typeface="Proxima Nova"/>
              </a:rPr>
              <a:t>doubled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Operating margin (Loss/Revenue)</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FY22: </a:t>
            </a:r>
            <a:r>
              <a:rPr b="0" i="0" lang="en-US" sz="800" u="none" cap="none" strike="noStrike">
                <a:solidFill>
                  <a:srgbClr val="000000"/>
                </a:solidFill>
                <a:latin typeface="Proxima Nova"/>
                <a:ea typeface="Proxima Nova"/>
                <a:cs typeface="Proxima Nova"/>
                <a:sym typeface="Proxima Nova"/>
              </a:rPr>
              <a:t>-96%</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FY23: </a:t>
            </a:r>
            <a:r>
              <a:rPr b="0" i="0" lang="en-US" sz="800" u="none" cap="none" strike="noStrike">
                <a:solidFill>
                  <a:srgbClr val="000000"/>
                </a:solidFill>
                <a:latin typeface="Proxima Nova"/>
                <a:ea typeface="Proxima Nova"/>
                <a:cs typeface="Proxima Nova"/>
                <a:sym typeface="Proxima Nova"/>
              </a:rPr>
              <a:t>-22%</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-6%</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Operating margin close to breakeven in FY24, with adj. EBITDA being positive in is a very healthy indicator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Sales &amp; Marketing as % of Revenue (Proxy for subsidies)</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FY22:</a:t>
            </a:r>
            <a:r>
              <a:rPr b="0" i="0" lang="en-US" sz="800" u="none" cap="none" strike="noStrike">
                <a:solidFill>
                  <a:srgbClr val="000000"/>
                </a:solidFill>
                <a:latin typeface="Proxima Nova"/>
                <a:ea typeface="Proxima Nova"/>
                <a:cs typeface="Proxima Nova"/>
                <a:sym typeface="Proxima Nova"/>
              </a:rPr>
              <a:t> 64%</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FY23: </a:t>
            </a:r>
            <a:r>
              <a:rPr b="0" i="0" lang="en-US" sz="800" u="none" cap="none" strike="noStrike">
                <a:solidFill>
                  <a:srgbClr val="000000"/>
                </a:solidFill>
                <a:latin typeface="Proxima Nova"/>
                <a:ea typeface="Proxima Nova"/>
                <a:cs typeface="Proxima Nova"/>
                <a:sym typeface="Proxima Nova"/>
              </a:rPr>
              <a:t>26%</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FY24: </a:t>
            </a:r>
            <a:r>
              <a:rPr b="0" i="0" lang="en-US" sz="800" u="none" cap="none" strike="noStrike">
                <a:solidFill>
                  <a:srgbClr val="000000"/>
                </a:solidFill>
                <a:latin typeface="Proxima Nova"/>
                <a:ea typeface="Proxima Nova"/>
                <a:cs typeface="Proxima Nova"/>
                <a:sym typeface="Proxima Nova"/>
              </a:rPr>
              <a:t>15%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Benchmark</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Uber was re-rated when its margins crossed into positive territory, Grab is approaching the same inflection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1"/>
          <p:cNvSpPr txBox="1"/>
          <p:nvPr>
            <p:ph idx="12" type="sldNum"/>
          </p:nvPr>
        </p:nvSpPr>
        <p:spPr>
          <a:xfrm>
            <a:off x="7605150" y="6336185"/>
            <a:ext cx="2012247" cy="21414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50" name="Google Shape;350;p21"/>
          <p:cNvSpPr txBox="1"/>
          <p:nvPr>
            <p:ph idx="2" type="body"/>
          </p:nvPr>
        </p:nvSpPr>
        <p:spPr>
          <a:xfrm>
            <a:off x="286197" y="589308"/>
            <a:ext cx="9331200" cy="290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1800"/>
              <a:buNone/>
            </a:pPr>
            <a:r>
              <a:rPr lang="en-US"/>
              <a:t>Risks &amp; Mitigations</a:t>
            </a:r>
            <a:endParaRPr/>
          </a:p>
        </p:txBody>
      </p:sp>
      <p:sp>
        <p:nvSpPr>
          <p:cNvPr id="351" name="Google Shape;351;p21"/>
          <p:cNvSpPr txBox="1"/>
          <p:nvPr/>
        </p:nvSpPr>
        <p:spPr>
          <a:xfrm>
            <a:off x="286800" y="284206"/>
            <a:ext cx="3165414" cy="242887"/>
          </a:xfrm>
          <a:prstGeom prst="rect">
            <a:avLst/>
          </a:prstGeom>
          <a:noFill/>
          <a:ln>
            <a:noFill/>
          </a:ln>
        </p:spPr>
        <p:txBody>
          <a:bodyPr anchorCtr="0" anchor="ctr" bIns="45700" lIns="91425" spcFirstLastPara="1" rIns="91425" wrap="square" tIns="45700">
            <a:noAutofit/>
          </a:bodyPr>
          <a:lstStyle/>
          <a:p>
            <a:pPr indent="-285757" lvl="0" marL="285757" marR="0" rtl="0" algn="l">
              <a:lnSpc>
                <a:spcPct val="90000"/>
              </a:lnSpc>
              <a:spcBef>
                <a:spcPts val="0"/>
              </a:spcBef>
              <a:spcAft>
                <a:spcPts val="0"/>
              </a:spcAft>
              <a:buClr>
                <a:schemeClr val="dk1"/>
              </a:buClr>
              <a:buSzPts val="1000"/>
              <a:buFont typeface="Arial"/>
              <a:buAutoNum type="romanUcPeriod"/>
            </a:pPr>
            <a:r>
              <a:rPr b="0" i="0" lang="en-US" sz="1000" u="none" cap="none" strike="noStrike">
                <a:solidFill>
                  <a:schemeClr val="dk1"/>
                </a:solidFill>
                <a:latin typeface="Proxima Nova"/>
                <a:ea typeface="Proxima Nova"/>
                <a:cs typeface="Proxima Nova"/>
                <a:sym typeface="Proxima Nova"/>
              </a:rPr>
              <a:t>RISKS &amp; MITIGATIONS</a:t>
            </a:r>
            <a:endParaRPr b="0" i="0" sz="1400" u="none" cap="none" strike="noStrike">
              <a:solidFill>
                <a:srgbClr val="000000"/>
              </a:solidFill>
              <a:latin typeface="Arial"/>
              <a:ea typeface="Arial"/>
              <a:cs typeface="Arial"/>
              <a:sym typeface="Arial"/>
            </a:endParaRPr>
          </a:p>
        </p:txBody>
      </p:sp>
      <p:sp>
        <p:nvSpPr>
          <p:cNvPr id="352" name="Google Shape;352;p21"/>
          <p:cNvSpPr txBox="1"/>
          <p:nvPr/>
        </p:nvSpPr>
        <p:spPr>
          <a:xfrm>
            <a:off x="286197" y="1217140"/>
            <a:ext cx="4665600" cy="1934751"/>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Competition &amp; Market share pressure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Risk</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operates in </a:t>
            </a:r>
            <a:r>
              <a:rPr b="1" i="0" lang="en-US" sz="800" u="none" cap="none" strike="noStrike">
                <a:solidFill>
                  <a:srgbClr val="000000"/>
                </a:solidFill>
                <a:latin typeface="Proxima Nova"/>
                <a:ea typeface="Proxima Nova"/>
                <a:cs typeface="Proxima Nova"/>
                <a:sym typeface="Proxima Nova"/>
              </a:rPr>
              <a:t>highly competitive sectors </a:t>
            </a:r>
            <a:r>
              <a:rPr b="0" i="0" lang="en-US" sz="800" u="none" cap="none" strike="noStrike">
                <a:solidFill>
                  <a:srgbClr val="000000"/>
                </a:solidFill>
                <a:latin typeface="Proxima Nova"/>
                <a:ea typeface="Proxima Nova"/>
                <a:cs typeface="Proxima Nova"/>
                <a:sym typeface="Proxima Nova"/>
              </a:rPr>
              <a:t>(Mobility, Delivery, Fintech)</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Rivals like GoTo (Indonesia), Delivery Hero (Foodpanda), and Sea Ltd (ShopeePay) </a:t>
            </a:r>
            <a:r>
              <a:rPr b="1" i="0" lang="en-US" sz="800" u="none" cap="none" strike="noStrike">
                <a:solidFill>
                  <a:srgbClr val="000000"/>
                </a:solidFill>
                <a:latin typeface="Proxima Nova"/>
                <a:ea typeface="Proxima Nova"/>
                <a:cs typeface="Proxima Nova"/>
                <a:sym typeface="Proxima Nova"/>
              </a:rPr>
              <a:t>aggressively compete on price, promotions, and subsidies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If </a:t>
            </a:r>
            <a:r>
              <a:rPr b="1" i="0" lang="en-US" sz="800" u="none" cap="none" strike="noStrike">
                <a:solidFill>
                  <a:srgbClr val="000000"/>
                </a:solidFill>
                <a:latin typeface="Proxima Nova"/>
                <a:ea typeface="Proxima Nova"/>
                <a:cs typeface="Proxima Nova"/>
                <a:sym typeface="Proxima Nova"/>
              </a:rPr>
              <a:t>competition intensifies</a:t>
            </a:r>
            <a:r>
              <a:rPr b="0" i="0" lang="en-US" sz="800" u="none" cap="none" strike="noStrike">
                <a:solidFill>
                  <a:srgbClr val="000000"/>
                </a:solidFill>
                <a:latin typeface="Proxima Nova"/>
                <a:ea typeface="Proxima Nova"/>
                <a:cs typeface="Proxima Nova"/>
                <a:sym typeface="Proxima Nova"/>
              </a:rPr>
              <a:t>, Grab may need to </a:t>
            </a:r>
            <a:r>
              <a:rPr b="1" i="0" lang="en-US" sz="800" u="none" cap="none" strike="noStrike">
                <a:solidFill>
                  <a:srgbClr val="000000"/>
                </a:solidFill>
                <a:latin typeface="Proxima Nova"/>
                <a:ea typeface="Proxima Nova"/>
                <a:cs typeface="Proxima Nova"/>
                <a:sym typeface="Proxima Nova"/>
              </a:rPr>
              <a:t>reintroduce heavy subsidies </a:t>
            </a:r>
            <a:r>
              <a:rPr b="0" i="0" lang="en-US" sz="800" u="none" cap="none" strike="noStrike">
                <a:solidFill>
                  <a:srgbClr val="000000"/>
                </a:solidFill>
                <a:latin typeface="Proxima Nova"/>
                <a:ea typeface="Proxima Nova"/>
                <a:cs typeface="Proxima Nova"/>
                <a:sym typeface="Proxima Nova"/>
              </a:rPr>
              <a:t>– thus </a:t>
            </a:r>
            <a:r>
              <a:rPr b="1" i="0" lang="en-US" sz="800" u="none" cap="none" strike="noStrike">
                <a:solidFill>
                  <a:srgbClr val="000000"/>
                </a:solidFill>
                <a:latin typeface="Proxima Nova"/>
                <a:ea typeface="Proxima Nova"/>
                <a:cs typeface="Proxima Nova"/>
                <a:sym typeface="Proxima Nova"/>
              </a:rPr>
              <a:t>pressurising margins and delaying profitability</a:t>
            </a:r>
            <a:endParaRPr/>
          </a:p>
          <a:p>
            <a:pPr indent="0" lvl="0" marL="0" marR="0" rtl="0" algn="l">
              <a:lnSpc>
                <a:spcPct val="100000"/>
              </a:lnSpc>
              <a:spcBef>
                <a:spcPts val="0"/>
              </a:spcBef>
              <a:spcAft>
                <a:spcPts val="0"/>
              </a:spcAft>
              <a:buNone/>
            </a:pPr>
            <a:r>
              <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Scale leadership: </a:t>
            </a:r>
            <a:r>
              <a:rPr b="0" i="0" lang="en-US" sz="800" u="none" cap="none" strike="noStrike">
                <a:solidFill>
                  <a:srgbClr val="000000"/>
                </a:solidFill>
                <a:latin typeface="Proxima Nova"/>
                <a:ea typeface="Proxima Nova"/>
                <a:cs typeface="Proxima Nova"/>
                <a:sym typeface="Proxima Nova"/>
              </a:rPr>
              <a:t>Compared to rivals in SEA Grab has secured </a:t>
            </a:r>
            <a:r>
              <a:rPr b="1" i="0" lang="en-US" sz="800" u="none" cap="none" strike="noStrike">
                <a:solidFill>
                  <a:srgbClr val="000000"/>
                </a:solidFill>
                <a:latin typeface="Proxima Nova"/>
                <a:ea typeface="Proxima Nova"/>
                <a:cs typeface="Proxima Nova"/>
                <a:sym typeface="Proxima Nova"/>
              </a:rPr>
              <a:t>~55% GMV market share </a:t>
            </a:r>
            <a:r>
              <a:rPr b="0" i="0" lang="en-US" sz="800" u="none" cap="none" strike="noStrike">
                <a:solidFill>
                  <a:srgbClr val="000000"/>
                </a:solidFill>
                <a:latin typeface="Proxima Nova"/>
                <a:ea typeface="Proxima Nova"/>
                <a:cs typeface="Proxima Nova"/>
                <a:sym typeface="Proxima Nova"/>
              </a:rPr>
              <a:t>in food delivery and it is the </a:t>
            </a:r>
            <a:r>
              <a:rPr b="1" i="0" lang="en-US" sz="800" u="none" cap="none" strike="noStrike">
                <a:solidFill>
                  <a:srgbClr val="000000"/>
                </a:solidFill>
                <a:latin typeface="Proxima Nova"/>
                <a:ea typeface="Proxima Nova"/>
                <a:cs typeface="Proxima Nova"/>
                <a:sym typeface="Proxima Nova"/>
              </a:rPr>
              <a:t>leading mobility platform </a:t>
            </a:r>
            <a:r>
              <a:rPr b="0" i="0" lang="en-US" sz="800" u="none" cap="none" strike="noStrike">
                <a:solidFill>
                  <a:srgbClr val="000000"/>
                </a:solidFill>
                <a:latin typeface="Proxima Nova"/>
                <a:ea typeface="Proxima Nova"/>
                <a:cs typeface="Proxima Nova"/>
                <a:sym typeface="Proxima Nova"/>
              </a:rPr>
              <a:t>across multiple countries as well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Ecosystem bundling: </a:t>
            </a:r>
            <a:r>
              <a:rPr b="0" i="0" lang="en-US" sz="800" u="none" cap="none" strike="noStrike">
                <a:solidFill>
                  <a:srgbClr val="000000"/>
                </a:solidFill>
                <a:latin typeface="Proxima Nova"/>
                <a:ea typeface="Proxima Nova"/>
                <a:cs typeface="Proxima Nova"/>
                <a:sym typeface="Proxima Nova"/>
              </a:rPr>
              <a:t>GrabUnlimited subscriptions and cross-service </a:t>
            </a:r>
            <a:r>
              <a:rPr b="1" i="0" lang="en-US" sz="800" u="none" cap="none" strike="noStrike">
                <a:solidFill>
                  <a:srgbClr val="000000"/>
                </a:solidFill>
                <a:latin typeface="Proxima Nova"/>
                <a:ea typeface="Proxima Nova"/>
                <a:cs typeface="Proxima Nova"/>
                <a:sym typeface="Proxima Nova"/>
              </a:rPr>
              <a:t>discounts increases stickiness</a:t>
            </a:r>
            <a:r>
              <a:rPr b="0" i="0" lang="en-US" sz="800" u="none" cap="none" strike="noStrike">
                <a:solidFill>
                  <a:srgbClr val="000000"/>
                </a:solidFill>
                <a:latin typeface="Proxima Nova"/>
                <a:ea typeface="Proxima Nova"/>
                <a:cs typeface="Proxima Nova"/>
                <a:sym typeface="Proxima Nova"/>
              </a:rPr>
              <a:t>, and </a:t>
            </a:r>
            <a:r>
              <a:rPr b="1" i="0" lang="en-US" sz="800" u="none" cap="none" strike="noStrike">
                <a:solidFill>
                  <a:srgbClr val="000000"/>
                </a:solidFill>
                <a:latin typeface="Proxima Nova"/>
                <a:ea typeface="Proxima Nova"/>
                <a:cs typeface="Proxima Nova"/>
                <a:sym typeface="Proxima Nova"/>
              </a:rPr>
              <a:t>this reduces churn risk</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New AI-driven efficiencies </a:t>
            </a:r>
            <a:r>
              <a:rPr b="0" i="0" lang="en-US" sz="800" u="none" cap="none" strike="noStrike">
                <a:solidFill>
                  <a:srgbClr val="000000"/>
                </a:solidFill>
                <a:latin typeface="Proxima Nova"/>
                <a:ea typeface="Proxima Nova"/>
                <a:cs typeface="Proxima Nova"/>
                <a:sym typeface="Proxima Nova"/>
              </a:rPr>
              <a:t>further lowers operating costs, allowing Grab to remain competitive without returning to subsidy-heavy strategies</a:t>
            </a:r>
            <a:endParaRPr b="1" i="0" sz="1400" u="none" cap="none" strike="noStrike">
              <a:solidFill>
                <a:srgbClr val="000000"/>
              </a:solidFill>
              <a:latin typeface="Arial"/>
              <a:ea typeface="Arial"/>
              <a:cs typeface="Arial"/>
              <a:sym typeface="Arial"/>
            </a:endParaRPr>
          </a:p>
        </p:txBody>
      </p:sp>
      <p:sp>
        <p:nvSpPr>
          <p:cNvPr id="353" name="Google Shape;353;p21"/>
          <p:cNvSpPr txBox="1"/>
          <p:nvPr/>
        </p:nvSpPr>
        <p:spPr>
          <a:xfrm>
            <a:off x="286198" y="3552110"/>
            <a:ext cx="4665600" cy="1934751"/>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Execution risk in AI &amp; fintech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Risk</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Grab’s investment theses </a:t>
            </a:r>
            <a:r>
              <a:rPr b="1" i="0" lang="en-US" sz="800" u="none" cap="none" strike="noStrike">
                <a:solidFill>
                  <a:srgbClr val="000000"/>
                </a:solidFill>
                <a:latin typeface="Proxima Nova"/>
                <a:ea typeface="Proxima Nova"/>
                <a:cs typeface="Proxima Nova"/>
                <a:sym typeface="Proxima Nova"/>
              </a:rPr>
              <a:t>hinge on AI efficiencies and fintech adoption</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If driver/merchant adoption of AI tools is </a:t>
            </a:r>
            <a:r>
              <a:rPr b="1" i="0" lang="en-US" sz="800" u="none" cap="none" strike="noStrike">
                <a:solidFill>
                  <a:srgbClr val="000000"/>
                </a:solidFill>
                <a:latin typeface="Proxima Nova"/>
                <a:ea typeface="Proxima Nova"/>
                <a:cs typeface="Proxima Nova"/>
                <a:sym typeface="Proxima Nova"/>
              </a:rPr>
              <a:t>slow</a:t>
            </a:r>
            <a:r>
              <a:rPr b="0" i="0" lang="en-US" sz="800" u="none" cap="none" strike="noStrike">
                <a:solidFill>
                  <a:srgbClr val="000000"/>
                </a:solidFill>
                <a:latin typeface="Proxima Nova"/>
                <a:ea typeface="Proxima Nova"/>
                <a:cs typeface="Proxima Nova"/>
                <a:sym typeface="Proxima Nova"/>
              </a:rPr>
              <a:t>, or fintech products (GrabPay) </a:t>
            </a:r>
            <a:r>
              <a:rPr b="1" i="0" lang="en-US" sz="800" u="none" cap="none" strike="noStrike">
                <a:solidFill>
                  <a:srgbClr val="000000"/>
                </a:solidFill>
                <a:latin typeface="Proxima Nova"/>
                <a:ea typeface="Proxima Nova"/>
                <a:cs typeface="Proxima Nova"/>
                <a:sym typeface="Proxima Nova"/>
              </a:rPr>
              <a:t>underperform</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revenue diversification may stall</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AI and fintech scaling comes with </a:t>
            </a:r>
            <a:r>
              <a:rPr b="1" i="0" lang="en-US" sz="800" u="none" cap="none" strike="noStrike">
                <a:solidFill>
                  <a:srgbClr val="000000"/>
                </a:solidFill>
                <a:latin typeface="Proxima Nova"/>
                <a:ea typeface="Proxima Nova"/>
                <a:cs typeface="Proxima Nova"/>
                <a:sym typeface="Proxima Nova"/>
              </a:rPr>
              <a:t>high upfront R&amp;D and marketing costs</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risking margin dilution </a:t>
            </a:r>
            <a:r>
              <a:rPr b="0" i="0" lang="en-US" sz="800" u="none" cap="none" strike="noStrike">
                <a:solidFill>
                  <a:srgbClr val="000000"/>
                </a:solidFill>
                <a:latin typeface="Proxima Nova"/>
                <a:ea typeface="Proxima Nova"/>
                <a:cs typeface="Proxima Nova"/>
                <a:sym typeface="Proxima Nova"/>
              </a:rPr>
              <a:t>if uptake lags as well</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Early traction data is strong</a:t>
            </a:r>
            <a:r>
              <a:rPr b="0" i="0" lang="en-US" sz="800" u="none" cap="none" strike="noStrike">
                <a:solidFill>
                  <a:srgbClr val="000000"/>
                </a:solidFill>
                <a:latin typeface="Proxima Nova"/>
                <a:ea typeface="Proxima Nova"/>
                <a:cs typeface="Proxima Nova"/>
                <a:sym typeface="Proxima Nova"/>
              </a:rPr>
              <a:t>, AI Ride Guidance showed </a:t>
            </a:r>
            <a:r>
              <a:rPr b="1" i="0" lang="en-US" sz="800" u="none" cap="none" strike="noStrike">
                <a:solidFill>
                  <a:srgbClr val="000000"/>
                </a:solidFill>
                <a:latin typeface="Proxima Nova"/>
                <a:ea typeface="Proxima Nova"/>
                <a:cs typeface="Proxima Nova"/>
                <a:sym typeface="Proxima Nova"/>
              </a:rPr>
              <a:t>21% increase in driver earnings/hour</a:t>
            </a:r>
            <a:r>
              <a:rPr b="0" i="0" lang="en-US" sz="800" u="none" cap="none" strike="noStrike">
                <a:solidFill>
                  <a:srgbClr val="000000"/>
                </a:solidFill>
                <a:latin typeface="Proxima Nova"/>
                <a:ea typeface="Proxima Nova"/>
                <a:cs typeface="Proxima Nova"/>
                <a:sym typeface="Proxima Nova"/>
              </a:rPr>
              <a:t> across 80k drivers and GrabPay processed </a:t>
            </a:r>
            <a:r>
              <a:rPr b="1" i="0" lang="en-US" sz="800" u="none" cap="none" strike="noStrike">
                <a:solidFill>
                  <a:srgbClr val="000000"/>
                </a:solidFill>
                <a:latin typeface="Proxima Nova"/>
                <a:ea typeface="Proxima Nova"/>
                <a:cs typeface="Proxima Nova"/>
                <a:sym typeface="Proxima Nova"/>
              </a:rPr>
              <a:t>US$5B transactions </a:t>
            </a:r>
            <a:r>
              <a:rPr b="0" i="0" lang="en-US" sz="800" u="none" cap="none" strike="noStrike">
                <a:solidFill>
                  <a:srgbClr val="000000"/>
                </a:solidFill>
                <a:latin typeface="Proxima Nova"/>
                <a:ea typeface="Proxima Nova"/>
                <a:cs typeface="Proxima Nova"/>
                <a:sym typeface="Proxima Nova"/>
              </a:rPr>
              <a:t>in 2024 which is a </a:t>
            </a:r>
            <a:r>
              <a:rPr b="1" i="0" lang="en-US" sz="800" u="none" cap="none" strike="noStrike">
                <a:solidFill>
                  <a:srgbClr val="000000"/>
                </a:solidFill>
                <a:latin typeface="Proxima Nova"/>
                <a:ea typeface="Proxima Nova"/>
                <a:cs typeface="Proxima Nova"/>
                <a:sym typeface="Proxima Nova"/>
              </a:rPr>
              <a:t>60% growth </a:t>
            </a:r>
            <a:r>
              <a:rPr b="0" i="0" lang="en-US" sz="800" u="none" cap="none" strike="noStrike">
                <a:solidFill>
                  <a:srgbClr val="000000"/>
                </a:solidFill>
                <a:latin typeface="Proxima Nova"/>
                <a:ea typeface="Proxima Nova"/>
                <a:cs typeface="Proxima Nova"/>
                <a:sym typeface="Proxima Nova"/>
              </a:rPr>
              <a:t>from prior year</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Strategically </a:t>
            </a:r>
            <a:r>
              <a:rPr b="1" i="0" lang="en-US" sz="800" u="none" cap="none" strike="noStrike">
                <a:solidFill>
                  <a:srgbClr val="000000"/>
                </a:solidFill>
                <a:latin typeface="Proxima Nova"/>
                <a:ea typeface="Proxima Nova"/>
                <a:cs typeface="Proxima Nova"/>
                <a:sym typeface="Proxima Nova"/>
              </a:rPr>
              <a:t>target profitable products </a:t>
            </a:r>
            <a:r>
              <a:rPr b="0" i="0" lang="en-US" sz="800" u="none" cap="none" strike="noStrike">
                <a:solidFill>
                  <a:srgbClr val="000000"/>
                </a:solidFill>
                <a:latin typeface="Proxima Nova"/>
                <a:ea typeface="Proxima Nova"/>
                <a:cs typeface="Proxima Nova"/>
                <a:sym typeface="Proxima Nova"/>
              </a:rPr>
              <a:t>as well as </a:t>
            </a:r>
            <a:r>
              <a:rPr b="1" i="0" lang="en-US" sz="800" u="none" cap="none" strike="noStrike">
                <a:solidFill>
                  <a:srgbClr val="000000"/>
                </a:solidFill>
                <a:latin typeface="Proxima Nova"/>
                <a:ea typeface="Proxima Nova"/>
                <a:cs typeface="Proxima Nova"/>
                <a:sym typeface="Proxima Nova"/>
              </a:rPr>
              <a:t>high adoption markets </a:t>
            </a:r>
            <a:r>
              <a:rPr b="0" i="0" lang="en-US" sz="800" u="none" cap="none" strike="noStrike">
                <a:solidFill>
                  <a:srgbClr val="000000"/>
                </a:solidFill>
                <a:latin typeface="Proxima Nova"/>
                <a:ea typeface="Proxima Nova"/>
                <a:cs typeface="Proxima Nova"/>
                <a:sym typeface="Proxima Nova"/>
              </a:rPr>
              <a:t>(e.g., Singapore)</a:t>
            </a:r>
            <a:endParaRPr b="1"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Grab’s </a:t>
            </a:r>
            <a:r>
              <a:rPr b="1" i="0" lang="en-US" sz="800" u="none" cap="none" strike="noStrike">
                <a:solidFill>
                  <a:srgbClr val="000000"/>
                </a:solidFill>
                <a:latin typeface="Proxima Nova"/>
                <a:ea typeface="Proxima Nova"/>
                <a:cs typeface="Proxima Nova"/>
                <a:sym typeface="Proxima Nova"/>
              </a:rPr>
              <a:t>US$3B cash reserves </a:t>
            </a:r>
            <a:r>
              <a:rPr b="0" i="0" lang="en-US" sz="800" u="none" cap="none" strike="noStrike">
                <a:solidFill>
                  <a:srgbClr val="000000"/>
                </a:solidFill>
                <a:latin typeface="Proxima Nova"/>
                <a:ea typeface="Proxima Nova"/>
                <a:cs typeface="Proxima Nova"/>
                <a:sym typeface="Proxima Nova"/>
              </a:rPr>
              <a:t>give it capacity to </a:t>
            </a:r>
            <a:r>
              <a:rPr b="1" i="0" lang="en-US" sz="800" u="none" cap="none" strike="noStrike">
                <a:solidFill>
                  <a:srgbClr val="000000"/>
                </a:solidFill>
                <a:latin typeface="Proxima Nova"/>
                <a:ea typeface="Proxima Nova"/>
                <a:cs typeface="Proxima Nova"/>
                <a:sym typeface="Proxima Nova"/>
              </a:rPr>
              <a:t>absorb R&amp;D costs </a:t>
            </a:r>
            <a:r>
              <a:rPr b="0" i="0" lang="en-US" sz="800" u="none" cap="none" strike="noStrike">
                <a:solidFill>
                  <a:srgbClr val="000000"/>
                </a:solidFill>
                <a:latin typeface="Proxima Nova"/>
                <a:ea typeface="Proxima Nova"/>
                <a:cs typeface="Proxima Nova"/>
                <a:sym typeface="Proxima Nova"/>
              </a:rPr>
              <a:t>while </a:t>
            </a:r>
            <a:r>
              <a:rPr b="1" i="0" lang="en-US" sz="800" u="none" cap="none" strike="noStrike">
                <a:solidFill>
                  <a:srgbClr val="000000"/>
                </a:solidFill>
                <a:latin typeface="Proxima Nova"/>
                <a:ea typeface="Proxima Nova"/>
                <a:cs typeface="Proxima Nova"/>
                <a:sym typeface="Proxima Nova"/>
              </a:rPr>
              <a:t>scaling AI and fintech</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takes a </a:t>
            </a:r>
            <a:r>
              <a:rPr b="1" i="0" lang="en-US" sz="800" u="none" cap="none" strike="noStrike">
                <a:solidFill>
                  <a:srgbClr val="000000"/>
                </a:solidFill>
                <a:latin typeface="Proxima Nova"/>
                <a:ea typeface="Proxima Nova"/>
                <a:cs typeface="Proxima Nova"/>
                <a:sym typeface="Proxima Nova"/>
              </a:rPr>
              <a:t>phased rollout approach </a:t>
            </a:r>
            <a:r>
              <a:rPr b="0" i="0" lang="en-US" sz="800" u="none" cap="none" strike="noStrike">
                <a:solidFill>
                  <a:srgbClr val="000000"/>
                </a:solidFill>
                <a:latin typeface="Proxima Nova"/>
                <a:ea typeface="Proxima Nova"/>
                <a:cs typeface="Proxima Nova"/>
                <a:sym typeface="Proxima Nova"/>
              </a:rPr>
              <a:t>(pilots before full launch), </a:t>
            </a:r>
            <a:r>
              <a:rPr b="1" i="0" lang="en-US" sz="800" u="none" cap="none" strike="noStrike">
                <a:solidFill>
                  <a:srgbClr val="000000"/>
                </a:solidFill>
                <a:latin typeface="Proxima Nova"/>
                <a:ea typeface="Proxima Nova"/>
                <a:cs typeface="Proxima Nova"/>
                <a:sym typeface="Proxima Nova"/>
              </a:rPr>
              <a:t>reducing large scale failure risk</a:t>
            </a:r>
            <a:endParaRPr b="1" i="0" sz="1400" u="none" cap="none" strike="noStrike">
              <a:solidFill>
                <a:srgbClr val="000000"/>
              </a:solidFill>
              <a:latin typeface="Arial"/>
              <a:ea typeface="Arial"/>
              <a:cs typeface="Arial"/>
              <a:sym typeface="Arial"/>
            </a:endParaRPr>
          </a:p>
        </p:txBody>
      </p:sp>
      <p:sp>
        <p:nvSpPr>
          <p:cNvPr id="354" name="Google Shape;354;p21"/>
          <p:cNvSpPr txBox="1"/>
          <p:nvPr/>
        </p:nvSpPr>
        <p:spPr>
          <a:xfrm>
            <a:off x="4951797" y="1217140"/>
            <a:ext cx="4665600" cy="2057862"/>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AI Hype &amp; Competitive catch-up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Risk</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Current enthusiasm for AI could prove </a:t>
            </a:r>
            <a:r>
              <a:rPr b="1" i="0" lang="en-US" sz="800" u="none" cap="none" strike="noStrike">
                <a:solidFill>
                  <a:srgbClr val="000000"/>
                </a:solidFill>
                <a:latin typeface="Proxima Nova"/>
                <a:ea typeface="Proxima Nova"/>
                <a:cs typeface="Proxima Nova"/>
                <a:sym typeface="Proxima Nova"/>
              </a:rPr>
              <a:t>over-hyped</a:t>
            </a:r>
            <a:r>
              <a:rPr b="0" i="0" lang="en-US" sz="800" u="none" cap="none" strike="noStrike">
                <a:solidFill>
                  <a:srgbClr val="000000"/>
                </a:solidFill>
                <a:latin typeface="Proxima Nova"/>
                <a:ea typeface="Proxima Nova"/>
                <a:cs typeface="Proxima Nova"/>
                <a:sym typeface="Proxima Nova"/>
              </a:rPr>
              <a:t> if the tools </a:t>
            </a:r>
            <a:r>
              <a:rPr b="1" i="0" lang="en-US" sz="800" u="none" cap="none" strike="noStrike">
                <a:solidFill>
                  <a:srgbClr val="000000"/>
                </a:solidFill>
                <a:latin typeface="Proxima Nova"/>
                <a:ea typeface="Proxima Nova"/>
                <a:cs typeface="Proxima Nova"/>
                <a:sym typeface="Proxima Nova"/>
              </a:rPr>
              <a:t>fail to deliver sustained cost savings or adoption at scale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While Grab has an </a:t>
            </a:r>
            <a:r>
              <a:rPr b="1" i="0" lang="en-US" sz="800" u="none" cap="none" strike="noStrike">
                <a:solidFill>
                  <a:srgbClr val="000000"/>
                </a:solidFill>
                <a:latin typeface="Proxima Nova"/>
                <a:ea typeface="Proxima Nova"/>
                <a:cs typeface="Proxima Nova"/>
                <a:sym typeface="Proxima Nova"/>
              </a:rPr>
              <a:t>early-mover advantage</a:t>
            </a:r>
            <a:r>
              <a:rPr b="0" i="0" lang="en-US" sz="800" u="none" cap="none" strike="noStrike">
                <a:solidFill>
                  <a:srgbClr val="000000"/>
                </a:solidFill>
                <a:latin typeface="Proxima Nova"/>
                <a:ea typeface="Proxima Nova"/>
                <a:cs typeface="Proxima Nova"/>
                <a:sym typeface="Proxima Nova"/>
              </a:rPr>
              <a:t>, competitors are likely to adopt </a:t>
            </a:r>
            <a:r>
              <a:rPr b="1" i="0" lang="en-US" sz="800" u="none" cap="none" strike="noStrike">
                <a:solidFill>
                  <a:srgbClr val="000000"/>
                </a:solidFill>
                <a:latin typeface="Proxima Nova"/>
                <a:ea typeface="Proxima Nova"/>
                <a:cs typeface="Proxima Nova"/>
                <a:sym typeface="Proxima Nova"/>
              </a:rPr>
              <a:t>similar AI tools </a:t>
            </a:r>
            <a:r>
              <a:rPr b="0" i="0" lang="en-US" sz="800" u="none" cap="none" strike="noStrike">
                <a:solidFill>
                  <a:srgbClr val="000000"/>
                </a:solidFill>
                <a:latin typeface="Proxima Nova"/>
                <a:ea typeface="Proxima Nova"/>
                <a:cs typeface="Proxima Nova"/>
                <a:sym typeface="Proxima Nova"/>
              </a:rPr>
              <a:t>over time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If AI becomes </a:t>
            </a:r>
            <a:r>
              <a:rPr b="1" i="0" lang="en-US" sz="800" u="none" cap="none" strike="noStrike">
                <a:solidFill>
                  <a:srgbClr val="000000"/>
                </a:solidFill>
                <a:latin typeface="Proxima Nova"/>
                <a:ea typeface="Proxima Nova"/>
                <a:cs typeface="Proxima Nova"/>
                <a:sym typeface="Proxima Nova"/>
              </a:rPr>
              <a:t>commoditised</a:t>
            </a:r>
            <a:r>
              <a:rPr b="0" i="0" lang="en-US" sz="800" u="none" cap="none" strike="noStrike">
                <a:solidFill>
                  <a:srgbClr val="000000"/>
                </a:solidFill>
                <a:latin typeface="Proxima Nova"/>
                <a:ea typeface="Proxima Nova"/>
                <a:cs typeface="Proxima Nova"/>
                <a:sym typeface="Proxima Nova"/>
              </a:rPr>
              <a:t>, Grab’s </a:t>
            </a:r>
            <a:r>
              <a:rPr b="1" i="0" lang="en-US" sz="800" u="none" cap="none" strike="noStrike">
                <a:solidFill>
                  <a:srgbClr val="000000"/>
                </a:solidFill>
                <a:latin typeface="Proxima Nova"/>
                <a:ea typeface="Proxima Nova"/>
                <a:cs typeface="Proxima Nova"/>
                <a:sym typeface="Proxima Nova"/>
              </a:rPr>
              <a:t>margin advantage could erode</a:t>
            </a:r>
            <a:r>
              <a:rPr b="0" i="0" lang="en-US" sz="800" u="none" cap="none" strike="noStrike">
                <a:solidFill>
                  <a:srgbClr val="000000"/>
                </a:solidFill>
                <a:latin typeface="Proxima Nova"/>
                <a:ea typeface="Proxima Nova"/>
                <a:cs typeface="Proxima Nova"/>
                <a:sym typeface="Proxima Nova"/>
              </a:rPr>
              <a:t>, weakening one of its key differentiators</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Grab’s </a:t>
            </a:r>
            <a:r>
              <a:rPr b="1" i="0" lang="en-US" sz="800" u="none" cap="none" strike="noStrike">
                <a:solidFill>
                  <a:srgbClr val="000000"/>
                </a:solidFill>
                <a:latin typeface="Proxima Nova"/>
                <a:ea typeface="Proxima Nova"/>
                <a:cs typeface="Proxima Nova"/>
                <a:sym typeface="Proxima Nova"/>
              </a:rPr>
              <a:t>proprietary SEA data</a:t>
            </a:r>
            <a:r>
              <a:rPr b="0" i="0" lang="en-US" sz="800" u="none" cap="none" strike="noStrike">
                <a:solidFill>
                  <a:srgbClr val="000000"/>
                </a:solidFill>
                <a:latin typeface="Proxima Nova"/>
                <a:ea typeface="Proxima Nova"/>
                <a:cs typeface="Proxima Nova"/>
                <a:sym typeface="Proxima Nova"/>
              </a:rPr>
              <a:t> advantage gives it a </a:t>
            </a:r>
            <a:r>
              <a:rPr b="1" i="0" lang="en-US" sz="800" u="none" cap="none" strike="noStrike">
                <a:solidFill>
                  <a:srgbClr val="000000"/>
                </a:solidFill>
                <a:latin typeface="Proxima Nova"/>
                <a:ea typeface="Proxima Nova"/>
                <a:cs typeface="Proxima Nova"/>
                <a:sym typeface="Proxima Nova"/>
              </a:rPr>
              <a:t>structural edge </a:t>
            </a:r>
            <a:r>
              <a:rPr b="0" i="0" lang="en-US" sz="800" u="none" cap="none" strike="noStrike">
                <a:solidFill>
                  <a:srgbClr val="000000"/>
                </a:solidFill>
                <a:latin typeface="Proxima Nova"/>
                <a:ea typeface="Proxima Nova"/>
                <a:cs typeface="Proxima Nova"/>
                <a:sym typeface="Proxima Nova"/>
              </a:rPr>
              <a:t>– AI models trained on localised data will </a:t>
            </a:r>
            <a:r>
              <a:rPr b="1" i="0" lang="en-US" sz="800" u="none" cap="none" strike="noStrike">
                <a:solidFill>
                  <a:srgbClr val="000000"/>
                </a:solidFill>
                <a:latin typeface="Proxima Nova"/>
                <a:ea typeface="Proxima Nova"/>
                <a:cs typeface="Proxima Nova"/>
                <a:sym typeface="Proxima Nova"/>
              </a:rPr>
              <a:t>outperform</a:t>
            </a:r>
            <a:r>
              <a:rPr b="0" i="0" lang="en-US" sz="800" u="none" cap="none" strike="noStrike">
                <a:solidFill>
                  <a:srgbClr val="000000"/>
                </a:solidFill>
                <a:latin typeface="Proxima Nova"/>
                <a:ea typeface="Proxima Nova"/>
                <a:cs typeface="Proxima Nova"/>
                <a:sym typeface="Proxima Nova"/>
              </a:rPr>
              <a:t> generic/global models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1" i="0" lang="en-US" sz="800" u="none" cap="none" strike="noStrike">
                <a:solidFill>
                  <a:srgbClr val="000000"/>
                </a:solidFill>
                <a:latin typeface="Proxima Nova"/>
                <a:ea typeface="Proxima Nova"/>
                <a:cs typeface="Proxima Nova"/>
                <a:sym typeface="Proxima Nova"/>
              </a:rPr>
              <a:t>Ecosystem bundling</a:t>
            </a:r>
            <a:r>
              <a:rPr b="0" i="0" lang="en-US" sz="800" u="none" cap="none" strike="noStrike">
                <a:solidFill>
                  <a:srgbClr val="000000"/>
                </a:solidFill>
                <a:latin typeface="Proxima Nova"/>
                <a:ea typeface="Proxima Nova"/>
                <a:cs typeface="Proxima Nova"/>
                <a:sym typeface="Proxima Nova"/>
              </a:rPr>
              <a:t> (AI embedded across rides, deliveries, and fintech) creates </a:t>
            </a:r>
            <a:r>
              <a:rPr b="1" i="0" lang="en-US" sz="800" u="none" cap="none" strike="noStrike">
                <a:solidFill>
                  <a:srgbClr val="000000"/>
                </a:solidFill>
                <a:latin typeface="Proxima Nova"/>
                <a:ea typeface="Proxima Nova"/>
                <a:cs typeface="Proxima Nova"/>
                <a:sym typeface="Proxima Nova"/>
              </a:rPr>
              <a:t>deeper network</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effects</a:t>
            </a:r>
            <a:r>
              <a:rPr b="0" i="0" lang="en-US" sz="800" u="none" cap="none" strike="noStrike">
                <a:solidFill>
                  <a:srgbClr val="000000"/>
                </a:solidFill>
                <a:latin typeface="Proxima Nova"/>
                <a:ea typeface="Proxima Nova"/>
                <a:cs typeface="Proxima Nova"/>
                <a:sym typeface="Proxima Nova"/>
              </a:rPr>
              <a:t> than standalone AI adoption by competitors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is investing in </a:t>
            </a:r>
            <a:r>
              <a:rPr b="1" i="0" lang="en-US" sz="800" u="none" cap="none" strike="noStrike">
                <a:solidFill>
                  <a:srgbClr val="000000"/>
                </a:solidFill>
                <a:latin typeface="Proxima Nova"/>
                <a:ea typeface="Proxima Nova"/>
                <a:cs typeface="Proxima Nova"/>
                <a:sym typeface="Proxima Nova"/>
              </a:rPr>
              <a:t>long-term AI infrastructure </a:t>
            </a:r>
            <a:r>
              <a:rPr b="0" i="0" lang="en-US" sz="800" u="none" cap="none" strike="noStrike">
                <a:solidFill>
                  <a:srgbClr val="000000"/>
                </a:solidFill>
                <a:latin typeface="Proxima Nova"/>
                <a:ea typeface="Proxima Nova"/>
                <a:cs typeface="Proxima Nova"/>
                <a:sym typeface="Proxima Nova"/>
              </a:rPr>
              <a:t>(Singapore HQ, AI Centre of excellence), showing commitment beyond the short-term “AI buzz”</a:t>
            </a:r>
            <a:endParaRPr b="0" i="0" sz="1400" u="none" cap="none" strike="noStrike">
              <a:solidFill>
                <a:srgbClr val="000000"/>
              </a:solidFill>
              <a:latin typeface="Arial"/>
              <a:ea typeface="Arial"/>
              <a:cs typeface="Arial"/>
              <a:sym typeface="Arial"/>
            </a:endParaRPr>
          </a:p>
        </p:txBody>
      </p:sp>
      <p:sp>
        <p:nvSpPr>
          <p:cNvPr id="355" name="Google Shape;355;p21"/>
          <p:cNvSpPr txBox="1"/>
          <p:nvPr/>
        </p:nvSpPr>
        <p:spPr>
          <a:xfrm>
            <a:off x="4951797" y="3552110"/>
            <a:ext cx="4665600" cy="2057862"/>
          </a:xfrm>
          <a:prstGeom prst="rect">
            <a:avLst/>
          </a:prstGeom>
          <a:noFill/>
          <a:ln>
            <a:noFill/>
          </a:ln>
        </p:spPr>
        <p:txBody>
          <a:bodyPr anchorCtr="0" anchor="t" bIns="36000" lIns="91425" spcFirstLastPara="1" rIns="91425" wrap="square" tIns="360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sng" cap="none" strike="noStrike">
                <a:solidFill>
                  <a:srgbClr val="000000"/>
                </a:solidFill>
                <a:latin typeface="Proxima Nova"/>
                <a:ea typeface="Proxima Nova"/>
                <a:cs typeface="Proxima Nova"/>
                <a:sym typeface="Proxima Nova"/>
              </a:rPr>
              <a:t>Regulatory &amp; Compliance risks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Risk</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Expansion into financial services exposes Grab to </a:t>
            </a:r>
            <a:r>
              <a:rPr b="1" i="0" lang="en-US" sz="800" u="none" cap="none" strike="noStrike">
                <a:solidFill>
                  <a:srgbClr val="000000"/>
                </a:solidFill>
                <a:latin typeface="Proxima Nova"/>
                <a:ea typeface="Proxima Nova"/>
                <a:cs typeface="Proxima Nova"/>
                <a:sym typeface="Proxima Nova"/>
              </a:rPr>
              <a:t>stricter oversight </a:t>
            </a:r>
            <a:r>
              <a:rPr b="0" i="0" lang="en-US" sz="800" u="none" cap="none" strike="noStrike">
                <a:solidFill>
                  <a:srgbClr val="000000"/>
                </a:solidFill>
                <a:latin typeface="Proxima Nova"/>
                <a:ea typeface="Proxima Nova"/>
                <a:cs typeface="Proxima Nova"/>
                <a:sym typeface="Proxima Nova"/>
              </a:rPr>
              <a:t>(digital banking, lending, insurance)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Different countries have </a:t>
            </a:r>
            <a:r>
              <a:rPr b="1" i="0" lang="en-US" sz="800" u="none" cap="none" strike="noStrike">
                <a:solidFill>
                  <a:srgbClr val="000000"/>
                </a:solidFill>
                <a:latin typeface="Proxima Nova"/>
                <a:ea typeface="Proxima Nova"/>
                <a:cs typeface="Proxima Nova"/>
                <a:sym typeface="Proxima Nova"/>
              </a:rPr>
              <a:t>fragmented regulatory regimes </a:t>
            </a:r>
            <a:r>
              <a:rPr b="0" i="0" lang="en-US" sz="800" u="none" cap="none" strike="noStrike">
                <a:solidFill>
                  <a:srgbClr val="000000"/>
                </a:solidFill>
                <a:latin typeface="Proxima Nova"/>
                <a:ea typeface="Proxima Nova"/>
                <a:cs typeface="Proxima Nova"/>
                <a:sym typeface="Proxima Nova"/>
              </a:rPr>
              <a:t>which can lead to </a:t>
            </a:r>
            <a:r>
              <a:rPr b="1" i="0" lang="en-US" sz="800" u="none" cap="none" strike="noStrike">
                <a:solidFill>
                  <a:srgbClr val="000000"/>
                </a:solidFill>
                <a:latin typeface="Proxima Nova"/>
                <a:ea typeface="Proxima Nova"/>
                <a:cs typeface="Proxima Nova"/>
                <a:sym typeface="Proxima Nova"/>
              </a:rPr>
              <a:t>costly compliance </a:t>
            </a:r>
            <a:r>
              <a:rPr b="0" i="0" lang="en-US" sz="800" u="none" cap="none" strike="noStrike">
                <a:solidFill>
                  <a:srgbClr val="000000"/>
                </a:solidFill>
                <a:latin typeface="Proxima Nova"/>
                <a:ea typeface="Proxima Nova"/>
                <a:cs typeface="Proxima Nova"/>
                <a:sym typeface="Proxima Nova"/>
              </a:rPr>
              <a:t>and the </a:t>
            </a:r>
            <a:r>
              <a:rPr b="1" i="0" lang="en-US" sz="800" u="none" cap="none" strike="noStrike">
                <a:solidFill>
                  <a:srgbClr val="000000"/>
                </a:solidFill>
                <a:latin typeface="Proxima Nova"/>
                <a:ea typeface="Proxima Nova"/>
                <a:cs typeface="Proxima Nova"/>
                <a:sym typeface="Proxima Nova"/>
              </a:rPr>
              <a:t>risk of fine/operational delays</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Implementation of AI tools may face </a:t>
            </a:r>
            <a:r>
              <a:rPr b="1" i="0" lang="en-US" sz="800" u="none" cap="none" strike="noStrike">
                <a:solidFill>
                  <a:srgbClr val="000000"/>
                </a:solidFill>
                <a:latin typeface="Proxima Nova"/>
                <a:ea typeface="Proxima Nova"/>
                <a:cs typeface="Proxima Nova"/>
                <a:sym typeface="Proxima Nova"/>
              </a:rPr>
              <a:t>data privacy and ethical regulation </a:t>
            </a:r>
            <a:r>
              <a:rPr b="0" i="0" lang="en-US" sz="800" u="none" cap="none" strike="noStrike">
                <a:solidFill>
                  <a:srgbClr val="000000"/>
                </a:solidFill>
                <a:latin typeface="Proxima Nova"/>
                <a:ea typeface="Proxima Nova"/>
                <a:cs typeface="Proxima Nova"/>
                <a:sym typeface="Proxima Nova"/>
              </a:rPr>
              <a:t>hurdles</a:t>
            </a:r>
            <a:endParaRPr/>
          </a:p>
          <a:p>
            <a:pPr indent="0" lvl="0" marL="0" marR="0" rtl="0" algn="l">
              <a:lnSpc>
                <a:spcPct val="100000"/>
              </a:lnSpc>
              <a:spcBef>
                <a:spcPts val="0"/>
              </a:spcBef>
              <a:spcAft>
                <a:spcPts val="0"/>
              </a:spcAft>
              <a:buNone/>
            </a:pPr>
            <a:r>
              <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Mitigation</a:t>
            </a:r>
            <a:endParaRPr b="0" i="0" sz="800" u="none" cap="none" strike="noStrike">
              <a:solidFill>
                <a:srgbClr val="000000"/>
              </a:solidFill>
              <a:latin typeface="Proxima Nova"/>
              <a:ea typeface="Proxima Nova"/>
              <a:cs typeface="Proxima Nova"/>
              <a:sym typeface="Proxima Nova"/>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 has a </a:t>
            </a:r>
            <a:r>
              <a:rPr b="1" i="0" lang="en-US" sz="800" u="none" cap="none" strike="noStrike">
                <a:solidFill>
                  <a:srgbClr val="000000"/>
                </a:solidFill>
                <a:latin typeface="Proxima Nova"/>
                <a:ea typeface="Proxima Nova"/>
                <a:cs typeface="Proxima Nova"/>
                <a:sym typeface="Proxima Nova"/>
              </a:rPr>
              <a:t>compliance-first strategy</a:t>
            </a:r>
            <a:r>
              <a:rPr b="0" i="0" lang="en-US" sz="800" u="none" cap="none" strike="noStrike">
                <a:solidFill>
                  <a:srgbClr val="000000"/>
                </a:solidFill>
                <a:latin typeface="Proxima Nova"/>
                <a:ea typeface="Proxima Nova"/>
                <a:cs typeface="Proxima Nova"/>
                <a:sym typeface="Proxima Nova"/>
              </a:rPr>
              <a:t>, with </a:t>
            </a:r>
            <a:r>
              <a:rPr b="1" i="0" lang="en-US" sz="800" u="none" cap="none" strike="noStrike">
                <a:solidFill>
                  <a:srgbClr val="000000"/>
                </a:solidFill>
                <a:latin typeface="Proxima Nova"/>
                <a:ea typeface="Proxima Nova"/>
                <a:cs typeface="Proxima Nova"/>
                <a:sym typeface="Proxima Nova"/>
              </a:rPr>
              <a:t>partnerships across governments </a:t>
            </a:r>
            <a:r>
              <a:rPr b="0" i="0" lang="en-US" sz="800" u="none" cap="none" strike="noStrike">
                <a:solidFill>
                  <a:srgbClr val="000000"/>
                </a:solidFill>
                <a:latin typeface="Proxima Nova"/>
                <a:ea typeface="Proxima Nova"/>
                <a:cs typeface="Proxima Nova"/>
                <a:sym typeface="Proxima Nova"/>
              </a:rPr>
              <a:t>(e.g., Singapore’s MAS and Malaysia’s bank Negara)</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Operates digital banking via </a:t>
            </a:r>
            <a:r>
              <a:rPr b="1" i="0" lang="en-US" sz="800" u="none" cap="none" strike="noStrike">
                <a:solidFill>
                  <a:srgbClr val="000000"/>
                </a:solidFill>
                <a:latin typeface="Proxima Nova"/>
                <a:ea typeface="Proxima Nova"/>
                <a:cs typeface="Proxima Nova"/>
                <a:sym typeface="Proxima Nova"/>
              </a:rPr>
              <a:t>joint ventures with licensed partners</a:t>
            </a:r>
            <a:r>
              <a:rPr b="0" i="0" lang="en-US" sz="800" u="none" cap="none" strike="noStrike">
                <a:solidFill>
                  <a:srgbClr val="000000"/>
                </a:solidFill>
                <a:latin typeface="Proxima Nova"/>
                <a:ea typeface="Proxima Nova"/>
                <a:cs typeface="Proxima Nova"/>
                <a:sym typeface="Proxima Nova"/>
              </a:rPr>
              <a:t>, </a:t>
            </a:r>
            <a:r>
              <a:rPr b="1" i="0" lang="en-US" sz="800" u="none" cap="none" strike="noStrike">
                <a:solidFill>
                  <a:srgbClr val="000000"/>
                </a:solidFill>
                <a:latin typeface="Proxima Nova"/>
                <a:ea typeface="Proxima Nova"/>
                <a:cs typeface="Proxima Nova"/>
                <a:sym typeface="Proxima Nova"/>
              </a:rPr>
              <a:t>spreading regulatory responsibility, leveraging on existing processes </a:t>
            </a:r>
            <a:r>
              <a:rPr b="0" i="0" lang="en-US" sz="800" u="none" cap="none" strike="noStrike">
                <a:solidFill>
                  <a:srgbClr val="000000"/>
                </a:solidFill>
                <a:latin typeface="Proxima Nova"/>
                <a:ea typeface="Proxima Nova"/>
                <a:cs typeface="Proxima Nova"/>
                <a:sym typeface="Proxima Nova"/>
              </a:rPr>
              <a:t>that have </a:t>
            </a:r>
            <a:r>
              <a:rPr b="1" i="0" lang="en-US" sz="800" u="none" cap="none" strike="noStrike">
                <a:solidFill>
                  <a:srgbClr val="000000"/>
                </a:solidFill>
                <a:latin typeface="Proxima Nova"/>
                <a:ea typeface="Proxima Nova"/>
                <a:cs typeface="Proxima Nova"/>
                <a:sym typeface="Proxima Nova"/>
              </a:rPr>
              <a:t>passed regulatory checks </a:t>
            </a:r>
            <a:r>
              <a:rPr b="0" i="0" lang="en-US" sz="800" u="none" cap="none" strike="noStrike">
                <a:solidFill>
                  <a:srgbClr val="000000"/>
                </a:solidFill>
                <a:latin typeface="Proxima Nova"/>
                <a:ea typeface="Proxima Nova"/>
                <a:cs typeface="Proxima Nova"/>
                <a:sym typeface="Proxima Nova"/>
              </a:rPr>
              <a:t>as well as </a:t>
            </a:r>
            <a:r>
              <a:rPr b="1" i="0" lang="en-US" sz="800" u="none" cap="none" strike="noStrike">
                <a:solidFill>
                  <a:srgbClr val="000000"/>
                </a:solidFill>
                <a:latin typeface="Proxima Nova"/>
                <a:ea typeface="Proxima Nova"/>
                <a:cs typeface="Proxima Nova"/>
                <a:sym typeface="Proxima Nova"/>
              </a:rPr>
              <a:t>reducing their individual exposure</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0"/>
              </a:spcBef>
              <a:spcAft>
                <a:spcPts val="0"/>
              </a:spcAft>
              <a:buClr>
                <a:srgbClr val="000000"/>
              </a:buClr>
              <a:buSzPts val="800"/>
              <a:buFont typeface="Arial"/>
              <a:buChar char="•"/>
            </a:pPr>
            <a:r>
              <a:rPr b="0" i="0" lang="en-US" sz="800" u="none" cap="none" strike="noStrike">
                <a:solidFill>
                  <a:srgbClr val="000000"/>
                </a:solidFill>
                <a:latin typeface="Proxima Nova"/>
                <a:ea typeface="Proxima Nova"/>
                <a:cs typeface="Proxima Nova"/>
                <a:sym typeface="Proxima Nova"/>
              </a:rPr>
              <a:t>Grab’s </a:t>
            </a:r>
            <a:r>
              <a:rPr b="1" i="0" lang="en-US" sz="800" u="none" cap="none" strike="noStrike">
                <a:solidFill>
                  <a:srgbClr val="000000"/>
                </a:solidFill>
                <a:latin typeface="Proxima Nova"/>
                <a:ea typeface="Proxima Nova"/>
                <a:cs typeface="Proxima Nova"/>
                <a:sym typeface="Proxima Nova"/>
              </a:rPr>
              <a:t>brand reputation &amp; government ties </a:t>
            </a:r>
            <a:r>
              <a:rPr b="0" i="0" lang="en-US" sz="800" u="none" cap="none" strike="noStrike">
                <a:solidFill>
                  <a:srgbClr val="000000"/>
                </a:solidFill>
                <a:latin typeface="Proxima Nova"/>
                <a:ea typeface="Proxima Nova"/>
                <a:cs typeface="Proxima Nova"/>
                <a:sym typeface="Proxima Nova"/>
              </a:rPr>
              <a:t>(Singapore HQ, AI Centre of excellence backed by Digital Industry Singapore) give it </a:t>
            </a:r>
            <a:r>
              <a:rPr b="1" i="0" lang="en-US" sz="800" u="none" cap="none" strike="noStrike">
                <a:solidFill>
                  <a:srgbClr val="000000"/>
                </a:solidFill>
                <a:latin typeface="Proxima Nova"/>
                <a:ea typeface="Proxima Nova"/>
                <a:cs typeface="Proxima Nova"/>
                <a:sym typeface="Proxima Nova"/>
              </a:rPr>
              <a:t>stronger credibility </a:t>
            </a:r>
            <a:r>
              <a:rPr b="0" i="0" lang="en-US" sz="800" u="none" cap="none" strike="noStrike">
                <a:solidFill>
                  <a:srgbClr val="000000"/>
                </a:solidFill>
                <a:latin typeface="Proxima Nova"/>
                <a:ea typeface="Proxima Nova"/>
                <a:cs typeface="Proxima Nova"/>
                <a:sym typeface="Proxima Nova"/>
              </a:rPr>
              <a:t>than other competitors</a:t>
            </a:r>
            <a:endParaRPr b="0" i="0" sz="1400" u="none" cap="none" strike="noStrike">
              <a:solidFill>
                <a:srgbClr val="000000"/>
              </a:solidFill>
              <a:latin typeface="Arial"/>
              <a:ea typeface="Arial"/>
              <a:cs typeface="Arial"/>
              <a:sym typeface="Arial"/>
            </a:endParaRPr>
          </a:p>
        </p:txBody>
      </p:sp>
      <p:sp>
        <p:nvSpPr>
          <p:cNvPr id="356" name="Google Shape;356;p21"/>
          <p:cNvSpPr txBox="1"/>
          <p:nvPr/>
        </p:nvSpPr>
        <p:spPr>
          <a:xfrm>
            <a:off x="-3696387" y="1642423"/>
            <a:ext cx="3594787" cy="961077"/>
          </a:xfrm>
          <a:prstGeom prst="rect">
            <a:avLst/>
          </a:prstGeom>
          <a:solidFill>
            <a:schemeClr val="lt1"/>
          </a:solidFill>
          <a:ln cap="flat" cmpd="sng" w="9525">
            <a:solidFill>
              <a:srgbClr val="05B05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sng" cap="none" strike="noStrike">
                <a:solidFill>
                  <a:srgbClr val="000000"/>
                </a:solidFill>
                <a:latin typeface="Proxima Nova"/>
                <a:ea typeface="Proxima Nova"/>
                <a:cs typeface="Proxima Nova"/>
                <a:sym typeface="Proxima Nova"/>
              </a:rPr>
              <a:t>Competition &amp; Margin Pressure</a:t>
            </a:r>
            <a:endParaRPr b="1" i="0" sz="105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Mitigants: </a:t>
            </a:r>
            <a:r>
              <a:rPr b="0" i="0" lang="en-US" sz="800" u="none" cap="none" strike="noStrike">
                <a:solidFill>
                  <a:srgbClr val="000000"/>
                </a:solidFill>
                <a:latin typeface="Proxima Nova"/>
                <a:ea typeface="Proxima Nova"/>
                <a:cs typeface="Proxima Nova"/>
                <a:sym typeface="Proxima Nova"/>
              </a:rPr>
              <a:t>Grab can cut costs by using AI and data to make rides and deliveries more efficient. It should focus on growing higher-margin areas like digital payments, lending, and advertising so it’s not stuck in price wars. Loyalty programs and bundles (like GrabUnlimited) keep customers coming back without heavy subsidies.</a:t>
            </a:r>
            <a:endParaRPr b="1" i="0" sz="1050" u="none" cap="none" strike="noStrike">
              <a:solidFill>
                <a:srgbClr val="000000"/>
              </a:solidFill>
              <a:latin typeface="Proxima Nova"/>
              <a:ea typeface="Proxima Nova"/>
              <a:cs typeface="Proxima Nova"/>
              <a:sym typeface="Proxima Nova"/>
            </a:endParaRPr>
          </a:p>
        </p:txBody>
      </p:sp>
      <p:sp>
        <p:nvSpPr>
          <p:cNvPr id="357" name="Google Shape;357;p21"/>
          <p:cNvSpPr txBox="1"/>
          <p:nvPr/>
        </p:nvSpPr>
        <p:spPr>
          <a:xfrm>
            <a:off x="-3696387" y="2669061"/>
            <a:ext cx="3594787" cy="1519878"/>
          </a:xfrm>
          <a:prstGeom prst="rect">
            <a:avLst/>
          </a:prstGeom>
          <a:solidFill>
            <a:schemeClr val="lt1"/>
          </a:solidFill>
          <a:ln cap="flat" cmpd="sng" w="9525">
            <a:solidFill>
              <a:srgbClr val="05B0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US" sz="1000" u="sng" cap="none" strike="noStrike">
                <a:solidFill>
                  <a:srgbClr val="000000"/>
                </a:solidFill>
                <a:latin typeface="Proxima Nova"/>
                <a:ea typeface="Proxima Nova"/>
                <a:cs typeface="Proxima Nova"/>
                <a:sym typeface="Proxima Nova"/>
              </a:rPr>
              <a:t>Execution Risk </a:t>
            </a:r>
            <a:endParaRPr b="1" i="0" sz="10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40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Risk: </a:t>
            </a:r>
            <a:r>
              <a:rPr b="0" i="0" lang="en-US" sz="800" u="none" cap="none" strike="noStrike">
                <a:solidFill>
                  <a:srgbClr val="000000"/>
                </a:solidFill>
                <a:latin typeface="Proxima Nova"/>
                <a:ea typeface="Proxima Nova"/>
                <a:cs typeface="Proxima Nova"/>
                <a:sym typeface="Proxima Nova"/>
              </a:rPr>
              <a:t>Fintech is only ~9% of revenue today (US$253M FY2024). Scaling without profit discipline could mirror past subsidy-heavy delivery model.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000000"/>
                </a:solidFill>
                <a:latin typeface="Proxima Nova"/>
                <a:ea typeface="Proxima Nova"/>
                <a:cs typeface="Proxima Nova"/>
                <a:sym typeface="Proxima Nova"/>
              </a:rPr>
              <a:t>Mitigation: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Focus on high-adoption markets (MY, SG, ID).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Prioritize profitable products (SME lending, insurance fees).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Maintain incentive discipline (consumer incentives already cut -22% YoY in 2023).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Proxima Nova"/>
                <a:ea typeface="Proxima Nova"/>
                <a:cs typeface="Proxima Nova"/>
                <a:sym typeface="Proxima Nova"/>
              </a:rPr>
              <a:t>By prioritizing SME loans, micro-insurance, and merchant payments, Grab earns real, sustainable profit instead of chasing just user growth.</a:t>
            </a:r>
            <a:endParaRPr b="0" i="0" sz="1400" u="none" cap="none" strike="noStrike">
              <a:solidFill>
                <a:srgbClr val="000000"/>
              </a:solidFill>
              <a:latin typeface="Arial"/>
              <a:ea typeface="Arial"/>
              <a:cs typeface="Arial"/>
              <a:sym typeface="Arial"/>
            </a:endParaRPr>
          </a:p>
        </p:txBody>
      </p:sp>
      <p:sp>
        <p:nvSpPr>
          <p:cNvPr id="358" name="Google Shape;358;p21"/>
          <p:cNvSpPr txBox="1"/>
          <p:nvPr/>
        </p:nvSpPr>
        <p:spPr>
          <a:xfrm>
            <a:off x="-3696388" y="4254500"/>
            <a:ext cx="3594787" cy="1519878"/>
          </a:xfrm>
          <a:prstGeom prst="rect">
            <a:avLst/>
          </a:prstGeom>
          <a:solidFill>
            <a:schemeClr val="lt1"/>
          </a:solidFill>
          <a:ln cap="flat" cmpd="sng" w="9525">
            <a:solidFill>
              <a:srgbClr val="05B05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050" u="sng" cap="none" strike="noStrike">
                <a:solidFill>
                  <a:srgbClr val="000000"/>
                </a:solidFill>
                <a:latin typeface="Proxima Nova"/>
                <a:ea typeface="Proxima Nova"/>
                <a:cs typeface="Proxima Nova"/>
                <a:sym typeface="Proxima Nova"/>
              </a:rPr>
              <a:t>AI Overhype Risk </a:t>
            </a:r>
            <a:endParaRPr b="1" i="0" sz="105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1" i="0" lang="en-US" sz="800" u="none" cap="none" strike="noStrike">
                <a:solidFill>
                  <a:srgbClr val="000000"/>
                </a:solidFill>
                <a:latin typeface="Proxima Nova"/>
                <a:ea typeface="Proxima Nova"/>
                <a:cs typeface="Proxima Nova"/>
                <a:sym typeface="Proxima Nova"/>
              </a:rPr>
              <a:t>Risk:</a:t>
            </a:r>
            <a:r>
              <a:rPr b="0" i="0" lang="en-US" sz="800" u="none" cap="none" strike="noStrike">
                <a:solidFill>
                  <a:srgbClr val="000000"/>
                </a:solidFill>
                <a:latin typeface="Proxima Nova"/>
                <a:ea typeface="Proxima Nova"/>
                <a:cs typeface="Proxima Nova"/>
                <a:sym typeface="Proxima Nova"/>
              </a:rPr>
              <a:t> If all rivals adopt AI, Grab’s AI pivot looks generic.</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1" i="0" lang="en-US" sz="800" u="none" cap="none" strike="noStrike">
                <a:solidFill>
                  <a:srgbClr val="000000"/>
                </a:solidFill>
                <a:latin typeface="Proxima Nova"/>
                <a:ea typeface="Proxima Nova"/>
                <a:cs typeface="Proxima Nova"/>
                <a:sym typeface="Proxima Nova"/>
              </a:rPr>
              <a:t>Mitigation:</a:t>
            </a:r>
            <a:endParaRPr b="1"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Cross-vertical AI: rides + food + payments → more personalised and unique</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Operational AI: fraud checks, driver routing, support bot(customer service).</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Region-specific AI IP (e.g. festivals /payday demand cycles). -&gt; high demand</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  Adjust driver incentives for late-night mobility surges.</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 Promote BNPL for festive shopping</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 predict demand for family ride clusters and gifting deliveries.</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 Anticipate high ride demand for travel &amp; nightlife.</a:t>
            </a:r>
            <a:endParaRPr b="0" i="0" sz="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Clr>
                <a:srgbClr val="000000"/>
              </a:buClr>
              <a:buSzPts val="1000"/>
              <a:buFont typeface="Arial"/>
              <a:buNone/>
            </a:pPr>
            <a:r>
              <a:rPr b="0" i="0" lang="en-US" sz="800" u="none" cap="none" strike="noStrike">
                <a:solidFill>
                  <a:srgbClr val="000000"/>
                </a:solidFill>
                <a:latin typeface="Proxima Nova"/>
                <a:ea typeface="Proxima Nova"/>
                <a:cs typeface="Proxima Nova"/>
                <a:sym typeface="Proxima Nova"/>
              </a:rPr>
              <a:t>- trigger BNPL/credit offers right after salary credit</a:t>
            </a:r>
            <a:endParaRPr b="0" i="0" sz="800" u="none" cap="none" strike="noStrike">
              <a:solidFill>
                <a:srgbClr val="000000"/>
              </a:solidFill>
              <a:latin typeface="Proxima Nova"/>
              <a:ea typeface="Proxima Nova"/>
              <a:cs typeface="Proxima Nova"/>
              <a:sym typeface="Proxima Nova"/>
            </a:endParaRPr>
          </a:p>
        </p:txBody>
      </p:sp>
      <p:sp>
        <p:nvSpPr>
          <p:cNvPr id="359" name="Google Shape;359;p21"/>
          <p:cNvSpPr txBox="1"/>
          <p:nvPr/>
        </p:nvSpPr>
        <p:spPr>
          <a:xfrm>
            <a:off x="464354" y="6336185"/>
            <a:ext cx="7068793" cy="214145"/>
          </a:xfrm>
          <a:prstGeom prst="rect">
            <a:avLst/>
          </a:prstGeom>
          <a:noFill/>
          <a:ln>
            <a:noFill/>
          </a:ln>
        </p:spPr>
        <p:txBody>
          <a:bodyPr anchorCtr="0" anchor="t" bIns="45700" lIns="72000" spcFirstLastPara="1" rIns="91425" wrap="square" tIns="45700">
            <a:noAutofit/>
          </a:bodyPr>
          <a:lstStyle/>
          <a:p>
            <a:pPr indent="0" lvl="0" marL="0" marR="0" rtl="0" algn="l">
              <a:lnSpc>
                <a:spcPct val="100000"/>
              </a:lnSpc>
              <a:spcBef>
                <a:spcPts val="0"/>
              </a:spcBef>
              <a:spcAft>
                <a:spcPts val="0"/>
              </a:spcAft>
              <a:buClr>
                <a:srgbClr val="7F7F7F"/>
              </a:buClr>
              <a:buSzPts val="800"/>
              <a:buFont typeface="Arial"/>
              <a:buNone/>
            </a:pPr>
            <a:r>
              <a:rPr b="0" i="1" lang="en-US" sz="800" u="none" cap="none" strike="noStrike">
                <a:solidFill>
                  <a:srgbClr val="7F7F7F"/>
                </a:solidFill>
                <a:latin typeface="Proxima Nova"/>
                <a:ea typeface="Proxima Nova"/>
                <a:cs typeface="Proxima Nova"/>
                <a:sym typeface="Proxima Nova"/>
              </a:rPr>
              <a:t>Source(s):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akwood">
  <a:themeElements>
    <a:clrScheme name="Custom 2">
      <a:dk1>
        <a:srgbClr val="000000"/>
      </a:dk1>
      <a:lt1>
        <a:srgbClr val="FFFFFF"/>
      </a:lt1>
      <a:dk2>
        <a:srgbClr val="102F44"/>
      </a:dk2>
      <a:lt2>
        <a:srgbClr val="F2F2F2"/>
      </a:lt2>
      <a:accent1>
        <a:srgbClr val="102F44"/>
      </a:accent1>
      <a:accent2>
        <a:srgbClr val="0E4D5F"/>
      </a:accent2>
      <a:accent3>
        <a:srgbClr val="EE8F10"/>
      </a:accent3>
      <a:accent4>
        <a:srgbClr val="C5AF97"/>
      </a:accent4>
      <a:accent5>
        <a:srgbClr val="C2AE8E"/>
      </a:accent5>
      <a:accent6>
        <a:srgbClr val="F3D9B5"/>
      </a:accent6>
      <a:hlink>
        <a:srgbClr val="102F44"/>
      </a:hlink>
      <a:folHlink>
        <a:srgbClr val="0E4D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2023-10-17T02:29:02Z</dcterms:created>
  <dc:creator>Andrew Seng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0x01010079D314C4C531C545B9C0005EC02544E6</vt:lpwstr>
  </property>
</Properties>
</file>
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35.xml" ContentType="application/vnd.openxmlformats-officedocument.presentationml.tags+xml"/>
  <Override PartName="/ppt/notesSlides/notesSlide9.xml" ContentType="application/vnd.openxmlformats-officedocument.presentationml.notesSlide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1.xml" ContentType="application/vnd.openxmlformats-officedocument.presentationml.notesSlide+xml"/>
  <Override PartName="/ppt/tags/tag99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5" r:id="rId5"/>
    <p:sldMasterId id="2147483660" r:id="rId6"/>
    <p:sldMasterId id="2147483672" r:id="rId7"/>
  </p:sldMasterIdLst>
  <p:notesMasterIdLst>
    <p:notesMasterId r:id="rId22"/>
  </p:notesMasterIdLst>
  <p:sldIdLst>
    <p:sldId id="264" r:id="rId8"/>
    <p:sldId id="277" r:id="rId9"/>
    <p:sldId id="276" r:id="rId10"/>
    <p:sldId id="275" r:id="rId11"/>
    <p:sldId id="305" r:id="rId12"/>
    <p:sldId id="287" r:id="rId13"/>
    <p:sldId id="288" r:id="rId14"/>
    <p:sldId id="273" r:id="rId15"/>
    <p:sldId id="278" r:id="rId16"/>
    <p:sldId id="279" r:id="rId17"/>
    <p:sldId id="266" r:id="rId18"/>
    <p:sldId id="282" r:id="rId19"/>
    <p:sldId id="302" r:id="rId20"/>
    <p:sldId id="303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34" userDrawn="1">
          <p15:clr>
            <a:srgbClr val="A4A3A4"/>
          </p15:clr>
        </p15:guide>
        <p15:guide id="5" pos="7537" userDrawn="1">
          <p15:clr>
            <a:srgbClr val="A4A3A4"/>
          </p15:clr>
        </p15:guide>
        <p15:guide id="7" orient="horz" pos="4156" userDrawn="1">
          <p15:clr>
            <a:srgbClr val="A4A3A4"/>
          </p15:clr>
        </p15:guide>
        <p15:guide id="14" orient="horz" pos="2546" userDrawn="1">
          <p15:clr>
            <a:srgbClr val="A4A3A4"/>
          </p15:clr>
        </p15:guide>
        <p15:guide id="15" orient="horz" pos="867" userDrawn="1">
          <p15:clr>
            <a:srgbClr val="A4A3A4"/>
          </p15:clr>
        </p15:guide>
        <p15:guide id="19" pos="11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095CE7-9638-3285-5DA6-2BE09043928D}" name="DANIELLE TOH HUI TING" initials="DT" userId="S::dhttoh001@mymail.sim.edu.sg::3a25bfef-7021-43ec-9b04-49ed938d70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A12"/>
    <a:srgbClr val="C00000"/>
    <a:srgbClr val="101010"/>
    <a:srgbClr val="730D0D"/>
    <a:srgbClr val="E40913"/>
    <a:srgbClr val="21201C"/>
    <a:srgbClr val="0F9ED5"/>
    <a:srgbClr val="E97132"/>
    <a:srgbClr val="E50C12"/>
    <a:srgbClr val="FDFDF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B9285-4100-47BB-8DDD-370F5F8FE5E2}" v="11" dt="2025-10-25T16:50:24.608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pos="234"/>
        <p:guide pos="7537"/>
        <p:guide orient="horz" pos="4156"/>
        <p:guide orient="horz" pos="2546"/>
        <p:guide orient="horz" pos="867"/>
        <p:guide pos="1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222222222222223E-2"/>
          <c:y val="0.24435318275154005"/>
          <c:w val="0.9555555555555556"/>
          <c:h val="0.5831622176591375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30C3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48870636550308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BBE-4A75-80DF-2DF2830921B0}"/>
                </c:ext>
              </c:extLst>
            </c:dLbl>
            <c:dLbl>
              <c:idx val="1"/>
              <c:layout>
                <c:manualLayout>
                  <c:x val="0"/>
                  <c:y val="-0.1694045174537987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BBE-4A75-80DF-2DF2830921B0}"/>
                </c:ext>
              </c:extLst>
            </c:dLbl>
            <c:dLbl>
              <c:idx val="2"/>
              <c:layout>
                <c:manualLayout>
                  <c:x val="0"/>
                  <c:y val="-0.191991786447638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BBE-4A75-80DF-2DF2830921B0}"/>
                </c:ext>
              </c:extLst>
            </c:dLbl>
            <c:dLbl>
              <c:idx val="3"/>
              <c:layout>
                <c:manualLayout>
                  <c:x val="0"/>
                  <c:y val="-0.222792607802874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BBE-4A75-80DF-2DF2830921B0}"/>
                </c:ext>
              </c:extLst>
            </c:dLbl>
            <c:dLbl>
              <c:idx val="4"/>
              <c:layout>
                <c:manualLayout>
                  <c:x val="0"/>
                  <c:y val="-0.253593429158110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BBE-4A75-80DF-2DF2830921B0}"/>
                </c:ext>
              </c:extLst>
            </c:dLbl>
            <c:dLbl>
              <c:idx val="5"/>
              <c:layout>
                <c:manualLayout>
                  <c:x val="0"/>
                  <c:y val="-0.2915811088295687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BBE-4A75-80DF-2DF2830921B0}"/>
                </c:ext>
              </c:extLst>
            </c:dLbl>
            <c:dLbl>
              <c:idx val="6"/>
              <c:layout>
                <c:manualLayout>
                  <c:x val="0"/>
                  <c:y val="-0.311088295687884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BBE-4A75-80DF-2DF2830921B0}"/>
                </c:ext>
              </c:extLst>
            </c:dLbl>
            <c:dLbl>
              <c:idx val="7"/>
              <c:layout>
                <c:manualLayout>
                  <c:x val="0"/>
                  <c:y val="-0.321355236139630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BBE-4A75-80DF-2DF2830921B0}"/>
                </c:ext>
              </c:extLst>
            </c:dLbl>
            <c:dLbl>
              <c:idx val="8"/>
              <c:layout>
                <c:manualLayout>
                  <c:x val="0"/>
                  <c:y val="-0.3531827515400410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BBE-4A75-80DF-2DF2830921B0}"/>
                </c:ext>
              </c:extLst>
            </c:dLbl>
            <c:dLbl>
              <c:idx val="9"/>
              <c:layout>
                <c:manualLayout>
                  <c:x val="0"/>
                  <c:y val="-0.3644763860369609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5BBE-4A75-80DF-2DF2830921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70</c:v>
                </c:pt>
                <c:pt idx="1">
                  <c:v>89.1</c:v>
                </c:pt>
                <c:pt idx="2">
                  <c:v>110.6</c:v>
                </c:pt>
                <c:pt idx="3">
                  <c:v>139.30000000000001</c:v>
                </c:pt>
                <c:pt idx="4">
                  <c:v>167.1</c:v>
                </c:pt>
                <c:pt idx="5">
                  <c:v>203.7</c:v>
                </c:pt>
                <c:pt idx="6">
                  <c:v>221.8</c:v>
                </c:pt>
                <c:pt idx="7">
                  <c:v>230.7</c:v>
                </c:pt>
                <c:pt idx="8">
                  <c:v>260.3</c:v>
                </c:pt>
                <c:pt idx="9">
                  <c:v>270.7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BE-4A75-80DF-2DF283092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72889152"/>
        <c:axId val="1"/>
      </c:barChart>
      <c:catAx>
        <c:axId val="17728891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0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728891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629629629629631E-2"/>
          <c:y val="6.9986541049798109E-2"/>
          <c:w val="0.94074074074074077"/>
          <c:h val="0.8600269179004037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30C3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EA8-4071-B8A4-2FD189773BF5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38.700000000000003</c:v>
                </c:pt>
                <c:pt idx="1">
                  <c:v>17.899999999999999</c:v>
                </c:pt>
                <c:pt idx="2">
                  <c:v>15</c:v>
                </c:pt>
                <c:pt idx="3">
                  <c:v>28.499999999999996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A8-4071-B8A4-2FD189773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100"/>
        <c:axId val="1751260271"/>
        <c:axId val="1"/>
      </c:barChart>
      <c:catAx>
        <c:axId val="175126027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8.700000000000003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512602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09.392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40.201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34.117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64 0 24575,'0'1'0,"1"-1"0,-1 0 0,1 1 0,-1-1 0,1 0 0,-1 1 0,1-1 0,-1 0 0,0 1 0,1-1 0,-1 1 0,0-1 0,1 1 0,-1-1 0,0 1 0,0-1 0,0 1 0,1-1 0,-1 1 0,0 0 0,0-1 0,0 1 0,0-1 0,0 1 0,0-1 0,0 1 0,0 0 0,0-1 0,0 1 0,0-1 0,0 1 0,-1-1 0,1 2 0,-6 19 0,-8 6 0,11-20 0,9-18 0,-4 6 0,0 0 0,0 0 0,-1 0 0,0 0 0,0 0 0,0-1 0,0-5 0,-2 17 0,-1 0 0,0 1 0,0-1 0,-6 11 0,-6 16 0,11-29 0,2-8 0,1 3 0,0 0 0,0 0 0,0 0 0,0 0 0,0 0 0,1 0 0,-1 0 0,0 0 0,1 0 0,-1 0 0,0 0 0,1 0 0,-1 0 0,1 0 0,1-1 0,4-3 0,8-4 0,-14 9 0,0 0 0,0 0 0,1-1 0,-1 1 0,0 0 0,0 0 0,1 0 0,-1 0 0,0-1 0,0 1 0,0 0 0,1 0 0,-1-1 0,0 1 0,0 0 0,0 0 0,0-1 0,1 1 0,-1 0 0,0 0 0,0-1 0,0 1 0,0 0 0,0 0 0,0-1 0,0 1 0,0 0 0,0-1 0,0 1 0,0 0 0,0 0 0,0-1 0,0 1 0,-1-1 0,1 1 0,-1 0 0,0 0 0,1 0 0,-1 0 0,1 0 0,-1 0 0,0 0 0,1 0 0,-1 0 0,1 0 0,-1 0 0,0 1 0,1-1 0,-1 0 0,1 0 0,-1 0 0,1 1 0,-1-1 0,1 0 0,-1 1 0,1-1 0,-1 1 0,1-1 0,-1 1 0,-16 13 0,13-10 0,2 0 0,-12 15 0,8-15 0,4-13 0,2 7 0,0 0 0,1 0 0,-1 1 0,1-1 0,0 1 0,-1-1 0,1 0 0,0 1 0,0-1 0,0 1 0,0 0 0,0-1 0,0 1 0,0 0 0,1-1 0,1 0 0,24-15 0,-26 18 0,-1-1 0,0 1 0,1-1 0,-1 1 0,0 0 0,1-1 0,-1 1 0,0-1 0,0 1 0,0 0 0,0-1 0,1 1 0,-1-1 0,0 1 0,0 0 0,0-1 0,0 1 0,-1 0 0,1-1 0,0 1 0,0-1 0,0 2 0,-3 16 0,-1-1 0,5-16 0,3-10 0,-3 6-105,0 1 0,0-1 0,0 0 0,0 1 0,0-1 0,-1 0 0,1 0 0,-1 0 0,0 0 0,0 1 0,0-1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36.973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1 16 24575,'-1'-1'0,"1"0"0,0 1 0,0-1 0,1 0 0,-1 1 0,0-1 0,0 0 0,0 1 0,0-1 0,0 1 0,1-1 0,-1 0 0,0 1 0,1-1 0,-1 1 0,0-1 0,1 1 0,-1-1 0,1 1 0,-1-1 0,0 1 0,1-1 0,-1 1 0,1-1 0,0 1 0,-1 0 0,2-1 0,-2 1 0,1 0 0,-1 0 0,1 0 0,-1 0 0,0 1 0,1-1 0,-1 0 0,1 0 0,-1 0 0,0 0 0,1 1 0,-1-1 0,1 0 0,-1 1 0,0-1 0,1 0 0,-1 0 0,0 1 0,1-1 0,-1 1 0,0-1 0,0 0 0,0 1 0,1-1 0,-1 1 0,0-1 0,0 0 0,0 1 0,0-1 0,0 1 0,1-1 0,-1 1 0,0-1 0,0 1 0,0-1 0,0 0 0,-1 1 0,1-1 0,0 1 0,0-1 0,0 1 0,-5 37-1365,4-33-5461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50.827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52.212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55.938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56.524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1 0 24575,'-1'0'0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02:57.128"/>
    </inkml:context>
    <inkml:brush xml:id="br0">
      <inkml:brushProperty name="width" value="0.025" units="cm"/>
      <inkml:brushProperty name="height" value="0.025" units="cm"/>
      <inkml:brushProperty name="color" value="#F8F8F8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3B544-8555-3641-9D02-20843C8F3A5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AD3BF-B4EC-EF4A-88AD-02EB9AF5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9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5E9B-34FA-9AAA-6DA3-4FF40518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60F0C-7F67-0F52-3B18-CC059E14B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CA759-DB00-8BBD-258F-D8A5D0ADC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B621C-FBB6-429F-3D11-6FA8BD284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10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5655-64AD-9662-E429-6BACDDB7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4DAC6-CDDD-4D82-0524-9A26311CA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2AFBF-145B-E582-52E3-D8122D31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68B7-E28A-61CB-99F8-3FE7E9C88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1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CBC4-9E23-F767-D08A-EF6DB750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4566B-EB0B-F5E8-6C85-ED77D4DE1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ED192-D804-0A6E-64D1-7139F87D6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AC14E-A8DA-18C1-E4A2-1293B9AAA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4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2D3F-6767-7182-93AA-F409CB36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C0443-C0E2-C469-81F4-8365B448C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35F92-381C-7ECB-D968-A252E7978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BBD66-AFB7-834D-9018-06911B4A7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FEFE5-1744-0D81-4039-00F75D56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4A05C-281B-0EBC-008E-57395EAFC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E7451-04D3-FE08-0429-A1FE82495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1"/>
              <a:t>https://</a:t>
            </a:r>
            <a:r>
              <a:rPr lang="en-SG" sz="1200" b="1" err="1"/>
              <a:t>www.grandviewresearch.com</a:t>
            </a:r>
            <a:r>
              <a:rPr lang="en-SG" sz="1200" b="1"/>
              <a:t>/industry-analysis/true-wireless-stereo-earbuds-market-repo</a:t>
            </a:r>
            <a:endParaRPr lang="en-US" sz="120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0A92A-8C86-32F4-DDF7-1C838906E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61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92A4-A368-FDB5-A1BD-56F0E445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67DCD-A956-B4A3-A3AF-7578A3B54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5DB4B-7191-59D2-E660-98886C280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45228-8E54-E0D5-1D78-9D075D50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12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23CA-3661-165B-B7A8-5626CA2E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5A0F2-5005-6EFB-4124-FBEBFD3EB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E59C4-A0D3-A4BC-02D3-80821832C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C3CCC-C047-4D7F-D9D5-64F420D3F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75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F4EA-597D-48D8-09E7-3CA4A35B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0671F-4A60-C12A-FD7F-D589AAD1F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7BF02-7EB1-D938-8DE6-919932964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EE324-2C50-C1CB-019B-073D58634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37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C23E-FE57-9520-0D02-01FF5F5C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225FB-B616-E60F-F07F-55D10748D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AC00C-D323-417E-7D16-25E6B7674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A7386-23DE-8C7B-A0F7-B8E0A1830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AD3BF-B4EC-EF4A-88AD-02EB9AF5A8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5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75C2-8774-CADA-2F03-447932756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5ADE4-D28B-1F77-63BA-29BFA9F32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8EAE7-9FC6-6A51-E43C-E34627BB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4CF1-C225-84B2-25F9-41D63D18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7A047-50CC-633F-7BB9-5A8304EF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253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52B7-706F-D99D-0DA3-0B1F3140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8918-5C12-1445-EA36-E9FAF3DBF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F11C-32A2-FEF3-6F2C-806D2B2A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8A3FA-0F4F-6D0E-7888-05D4E2BE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BF037-60AF-6D1C-7DB1-778C8D4E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326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1B07-1EC4-FA0C-3DA7-A61D1368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0ED78-E7D0-A44E-577E-18A64207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BE472-30D7-F143-8455-ED3B8B16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BBA3-8F71-C9F8-5516-1811BA55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0D6BF-C6C9-F83D-BF05-DE550F59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140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F2BE-E1AA-38FD-43DC-7463542C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20683-1354-B778-04B4-CDE1C803B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ED9A0-D68C-A9ED-5BB5-B2D012DF1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CB279-65F8-22CC-F605-6E44F8D9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85060-C34D-8271-4D75-A5EB7761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C7521-4D1B-F214-EBAD-33687F9E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144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8570-4621-6F57-89BF-02679A84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C2C52-F528-C26D-7411-06E83AC43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1FAB9-5F27-031D-3601-7EAEF7002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9C45D-DECF-5560-92BE-6C6EA2DC1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38C2E-6EF2-7103-D943-436798B9C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074C4-ACF1-7FCD-A8D3-05643536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1C363-F760-3D5E-B453-75358C54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8A697-28E4-1561-4FEE-8802F10A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120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83C1-8482-1996-C368-DF4FF832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34690-A986-6AB4-2889-6296945C6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4A0F1-D22D-AD07-08C6-448DDD0B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A8F6E-E08F-320D-7BB6-4C805415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083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05A1-BAA8-34C5-4B98-78AD05EC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D78F-A430-F7FA-4D8D-B8DDF09C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0A4D5-A582-7A39-BBBD-128FF5A0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C20F6-AE52-BC68-8973-729A9690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77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820BF-72D6-F251-A0FF-0E4111CC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0126D-6AC8-C63D-47EE-1C33B67A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E6D93-56C0-E640-E9E6-CFDD1517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668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E067-E599-152E-7199-87BE52B0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71E35-63EA-9694-EA79-39660EF47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33AC5-F10F-17D9-1C49-2C6409BE1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2E334-7EC8-09A1-0483-B300BCC2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8F2DD-4E4E-AC08-921B-4EBF9A6F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00066-865D-ED34-E6DB-625EB06C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478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D20B-F6A0-E5F1-4383-0F2A009C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33122-CDD5-B822-5C80-8FFF1F546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FD01F-360A-A976-3D08-2FF151268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AA995-849B-3D1E-FC04-84C43D02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8D3BA-A721-ADAC-E903-966A6684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F06EC-BCAA-56A2-86FC-C9A2E8CA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903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B9E0-9E73-C6B4-FF56-F5ABBE3A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B4A47-3B04-C4AF-DB88-AF4F91F60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AC21D-D19A-E8C4-A0B0-A557253A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5951E-93F2-B185-56B7-91FE4658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66B3-426D-B14C-E8C0-6FC98462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167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0213D-0779-B06D-1302-70D513769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359E0-EF0D-CE92-3024-64170BFDB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FB5F3-AA2D-7AED-B591-2426B7CF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00F24-1CBA-EE0E-FA7E-9547089A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A2A9-98D5-6EE3-33C6-833566A5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2223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E96C-625D-14EC-8906-1218BC67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6AE4D-AE34-1D3F-9A45-AAAF5E5FC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E4CB1-37C5-103C-688E-CA90E7E8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EA52-C6EE-16C2-BBFF-A0256CB5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20A3A-8B7E-BFD3-FB1E-8E5A83A2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3783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E76B-911E-2350-4397-70A585DD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366D-5278-33EA-CEC5-BC0FED41A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127A-586A-5FF7-711B-D33A3FBE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C83C-AA7B-4950-FFEF-B8E5B4C3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82AF3-1153-03ED-5B2B-8918F56C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2605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BF25-60CD-8089-320E-14FE7CB6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627DC-E08D-22BF-E7FC-17C815A5A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2EFC-B47A-21F7-BEAF-FDBAD5E5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929E7-C99C-D931-05B4-E2E0B3627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3B447-1B58-A631-0EEE-8218C555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9328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2CAC-D7DA-E4A5-725C-3208122F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67BE-7662-4BF0-44FA-0A4F6F0AD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CA2B3-068C-36E2-A7AE-1FD2704AD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8E341-BBD9-1960-530C-9643FF39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CDCCB-AFFB-E6C7-B2AB-A4E124CE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C8B5C-9D87-3324-C3EF-287CDA8A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6830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EB0E-01FD-E376-24F4-29AD38267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1A707-0D86-100D-D550-9DCA5A1C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9BB40-57C7-FE82-03C8-841C1593B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47025-B00E-DA07-F8D2-795481C05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38A07-4BC5-1B2F-6804-F6F5F838A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7FCD6-568A-D581-1880-3BEA0605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4E8A9-5719-0CEB-EE24-0DBB23D1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46606-E583-EC8F-B0A4-602A4FDF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059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FBAB-A365-6B03-5D4B-95DC9031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E4DEC-D39A-AFA1-4797-550016C7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85C81-304B-E3FB-7916-591CBA63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C8A39-46A6-4C47-22B7-E4070212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2857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AD03F-E061-6E7F-5E3A-B1682A61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79C0C-0270-FE04-6139-7CA95C6B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52548-B39B-4D25-5DB0-68196EDD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76189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F54B-89F8-0896-FED2-E41BB48C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F7D7-EA6E-E342-4905-9BF21EFF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8BE2E-6EA2-725F-FFA4-FF24C8CA4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7E8E5-1E8B-4964-CCF3-B164D945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987AB-EE24-3F23-3193-732A234E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ECB80-ECB4-BA39-96D9-A7AC99F9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58675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B869-211A-BC4F-196E-D4524506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94F4C-658C-781E-9B63-A318412D8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C1B1A-2678-8FAC-28B6-FDF59B29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C5BE0-FF97-E4F7-CCBB-D622E991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1C35F-00E5-BEB3-D2A6-8AC02FF8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3D6AE-33CE-0157-8401-86799F3A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0406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FC11-C0B5-C5C6-4485-199A0D18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AB3D6-F0D8-160E-B9B2-9A5E4D881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93819-CA0E-84D1-2B0A-D0BF7ED7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BD4FA-A1AF-0D46-4F4D-83DC1CDA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A53E9-FF35-EA5B-1DAE-46EFF422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8877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A4CF1-53A0-AC68-3983-07210E2C3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6FCE8-5F12-9B86-54AF-03FBA37F7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7611-3C52-C750-0ACF-C1A2FE21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A6C1F-80CA-98F2-F85C-FF959589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204C9-C4A9-E9CB-82EB-7C485E7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6392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AA85-27AB-0597-98F9-43728F42F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062EF-D0F3-2088-7423-04B59DCAC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4165E-2B44-4DDE-F6FB-471B87E8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64BC9-B586-27B3-DFD5-1A8E2284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4719E-E52F-29EE-D3C0-DAA0C0D3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573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1ED8-DFE6-3F3F-4FBB-3828944D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A725-5420-1681-D26C-74F042B76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B7B4D-8C01-1760-EB9A-689C873A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A27A-7FD6-2430-5C09-9766C44D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02A74-2D96-4106-3337-4679E390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3940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B065-AC30-5864-1C28-82F1B745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D6B79-07CB-BF38-1061-5D24578B7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A1C2-9037-0320-5D36-B75A8EF8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EC950-06D0-949F-F903-DA167CE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90EC9-B334-A649-C2F9-6D69E211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681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395C-466E-58F5-CA7C-F129F904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B926-A61B-6A5A-D28F-6CB305C4B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A8D39-49D3-1411-BDF9-351ACE848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CB476-1C93-D954-4710-CA0013F6B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EB647-77B9-5EEC-8561-502986E9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B12F5-D585-BE53-B07F-469AFD28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7536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8870-DD7C-A0C9-E699-67746BF5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7D46E-FC13-7353-7073-198C4C7C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1CC47-E2C0-257F-6BC2-0BABDBA29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EB5A2-1C29-C4E2-89EA-70065041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433B9-CC4B-51C5-4D4C-73EF4F851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1D845-2AEE-6131-9FEA-793A7527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4FA70-E344-EBDC-206C-0269B7BD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20134-3A1A-994A-7C7E-98E2B316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30330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F861-531E-752E-6E11-72F31675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56C12-4B56-2C6A-F985-63DB59F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CACA2-4D78-CCD6-5229-6B3393AF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DEF2-ED51-6744-E816-4D29E71D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12326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6D296-684E-A4B7-A3E4-64A396A8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E1F29-1A1A-F4D6-B75E-4E40AC1C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D389E-63C6-1CE4-AA2D-E122FC60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6837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0288-D4F9-B9C1-974D-D1473B03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C5AE-7C36-E950-EF3F-F17B6FF53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1C722-3446-2C9D-7CEC-F506E1608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781EA-5B7C-8ABB-BD33-C3C43DDE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BBD2A-652F-FC63-C666-D424621B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FE855-BCFC-36B1-0E68-DAB00DCD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7483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59A9-D313-430F-541A-BE0E0EEA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37F54-A741-1E34-B291-507894F3D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932E3-AD9C-A934-DDF4-9D8B54A4C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E43FE-C5AB-DBC3-EE72-25706CC7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CA665-7079-7487-282D-5FE25945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2A5B3-829F-7646-06AC-00451D02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4405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D1F7-585D-773D-9ACF-0398D08F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DCADE-EF0E-83E4-F297-A20D87EC8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9A789-0DC9-7708-977A-22B06692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1E09-5068-5760-56BF-EB5E8760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126D3-4F08-7751-A232-F16D789E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22749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42B74-4BF9-9E35-A658-9E44A4161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7F126-5855-C66E-05D5-2DE3C43C3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4CCF7-1D7F-396D-0923-E189542D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A1C1-B080-29F0-5618-EA2BEAB8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075D-144F-ABB4-5F8A-02FF1B10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8544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5C55-206F-AEC7-54F4-1E43DA6FB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A8468-DCF5-ADB1-04C7-78CDD313E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503DF-5DE9-8442-85FD-286A3ED2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92A82-11B7-3F36-0197-A6EEB436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33545-E426-1994-3070-FA34AFEE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52472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7871-01BF-C4D7-E1AD-C1C1B0A2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A044-0E51-8987-4764-AD79B605D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F957-31C7-770B-F7BD-2A1291B0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076B9-3C87-9500-83B0-47CBE001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212-4843-2AA2-2045-019018DC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78614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F631-6F71-AE0D-BA66-89F05804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55D83-8671-80FE-3BD8-B205E3BD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800B-944C-AEC6-1334-3A97F585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A7165-9B20-BB96-051E-E3A5791A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EB6D-4DEA-4927-DAE9-9A6B6083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86443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8B9E-3BE8-B4F2-9A12-7362B5E6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DCF5-4F4B-C2CF-18E9-53CB9FA23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3EB3F-CC22-757F-991B-C06A338A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2064E-BDF5-DF06-25AD-2594860B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C1BA6-9232-1928-B3D6-B98B1AFC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3F827-4CA0-A90D-1A35-63F4039B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8808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F64C-6D3C-EBE2-2D65-BEDE6902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6D3CA-D37B-4B39-0821-B30C7594A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86B2-AA2D-C112-60F6-900E8ACB6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0F841-2D1B-7C51-AE68-CF1140D4B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930ED-DBF0-D493-24AE-C72DEFE64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54543-3516-B90A-D8B7-91A8AE15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BAAC27-B384-F24A-6A69-BA0EF6FE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0DB6BB-3996-A859-4A86-C63D2CAD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42355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17B9-10E4-F2F0-A5C0-93F931A6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F03BE-2EE6-8D64-2B37-BB7B7434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DB97C-1BDE-8728-1942-74498720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25699-AB8E-A628-20EC-E0EE2809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5763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14048-A893-B310-C7C0-F5C05C03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19940-7AEC-7CAD-9B2D-FCCBE0A2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03DFA-09A8-AFA0-3168-A4EC65FD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36473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34CA-EF79-6B9C-14AD-0DADC664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FE6C-386A-F784-4D67-A7D280CA3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50478-E2EF-5DCC-5EF4-C8DE0A793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F6337-F08A-1A43-0382-B53AE1E8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F4A5A-470B-6E32-B7D1-BC7CE704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FB2B7-6E52-8475-626F-EAD9C979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2313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79E7-00F3-43BB-212B-4A3811FB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BE6CC-F1B2-75E6-D661-82FF26BAB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FAAA9-C4EA-F122-0B3A-19C13E48F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0F21B-362E-6F6F-7812-3847CF58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F50D6-56BD-C627-F203-6AE1F514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71A0C-1BC0-8B0E-0621-A4667FE4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15339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F60-C242-C8A3-DF16-6AC91364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1A781-33B3-CB73-6792-AA846BBB4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2BEEE-34AD-C418-5409-F356D337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76B4-E589-8CB9-CF5D-C702328B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3BCA0-2E0E-B1B4-BD27-C510E74F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63613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C3EDE-3837-C0F5-2E0A-8B767D0A5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101D3-2932-57D6-B732-CA4938782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28274-8FF3-3A6D-93A7-246C53AB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26251-5BB2-67AF-0A11-CD3CD705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914C3-B0C3-FC5E-4D3C-7209422C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994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275535D-D294-D83B-7E1F-438EEA2C8B58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055430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6" progId="TCLayout.ActiveDocument.1">
                  <p:embed/>
                </p:oleObj>
              </mc:Choice>
              <mc:Fallback>
                <p:oleObj name="think-cell Slide" r:id="rId1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5535D-D294-D83B-7E1F-438EEA2C8B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9887C-4D96-101C-21B2-4ECD6DCF2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192CC-276E-7C0E-3E63-C620ED185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4F329-A853-4F38-B28C-56418FE42C7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4088-F8C5-BE2F-AC3A-F6BA11AA5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39455-D410-8BFD-B4DB-193B0708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6A800-9408-4B74-996D-16E86AE423F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904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8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CAABD0C-EAF0-A93A-3D7D-1EB6E1FD53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811476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6" progId="TCLayout.ActiveDocument.1">
                  <p:embed/>
                </p:oleObj>
              </mc:Choice>
              <mc:Fallback>
                <p:oleObj name="think-cell Slide" r:id="rId1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AABD0C-EAF0-A93A-3D7D-1EB6E1FD5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E7ADF-17BA-155B-2D3F-11E8A4FB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A60F6-7399-39D6-A3FB-5826D175E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56AB4-6B01-23BF-0500-C5D172C8D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ABBD8-FB55-41F9-9716-F20DB9C89702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F2E2B-3B38-A2C3-7E7B-C889ACD4D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F88B0-0C52-B382-D652-B6222A65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FE1C5-0B84-46BE-8025-3A3BE79987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664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FF005B3-CEF5-5D04-98E8-3B3DDF304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30591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6" progId="TCLayout.ActiveDocument.1">
                  <p:embed/>
                </p:oleObj>
              </mc:Choice>
              <mc:Fallback>
                <p:oleObj name="think-cell Slide" r:id="rId1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F005B3-CEF5-5D04-98E8-3B3DDF304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45089-0D5C-E4D1-3549-1F6E06FF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41A72-D4EC-4C16-F55D-B4309CE72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F9DB9-621B-F7F1-DCDD-9E4CF4464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94B41-6A12-4341-8762-A68E5122EA6F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BC632-8BAD-3426-822C-3063ED925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07AEC-ABCF-4A18-15B9-DC5B3FD59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C537C-FC17-4ED5-A07A-E5EFD6213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114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0EBAEB-2F78-FDF7-7CC6-9875283A9A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73575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6" progId="TCLayout.ActiveDocument.1">
                  <p:embed/>
                </p:oleObj>
              </mc:Choice>
              <mc:Fallback>
                <p:oleObj name="think-cell Slide" r:id="rId1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0EBAEB-2F78-FDF7-7CC6-9875283A9A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19717-F3C4-FCC4-0E4E-B43BFD2F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CCF6A-97A9-E9C1-3F3E-D43F8982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BF4E3-98FC-F98D-8D64-36DAE46BE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64194-457B-4AFD-90DA-2920A4D0EB3A}" type="datetimeFigureOut">
              <a:rPr lang="en-SG" smtClean="0"/>
              <a:t>26/10/2025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3EC1-5F63-9E79-623D-D458DAE25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8FA1-8139-D657-9B31-EBB88FB29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E554D-5001-4CFA-9F6F-F8F7AA7ECC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85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13" Type="http://schemas.openxmlformats.org/officeDocument/2006/relationships/image" Target="../media/image11.png"/><Relationship Id="rId18" Type="http://schemas.openxmlformats.org/officeDocument/2006/relationships/image" Target="../media/image15.svg"/><Relationship Id="rId26" Type="http://schemas.openxmlformats.org/officeDocument/2006/relationships/image" Target="../media/image23.svg"/><Relationship Id="rId3" Type="http://schemas.openxmlformats.org/officeDocument/2006/relationships/tags" Target="../tags/tag9.xml"/><Relationship Id="rId21" Type="http://schemas.openxmlformats.org/officeDocument/2006/relationships/image" Target="../media/image18.png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tags" Target="../tags/tag8.xml"/><Relationship Id="rId16" Type="http://schemas.openxmlformats.org/officeDocument/2006/relationships/chart" Target="../charts/chart1.xml"/><Relationship Id="rId20" Type="http://schemas.openxmlformats.org/officeDocument/2006/relationships/image" Target="../media/image17.svg"/><Relationship Id="rId1" Type="http://schemas.openxmlformats.org/officeDocument/2006/relationships/tags" Target="../tags/tag7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9.png"/><Relationship Id="rId24" Type="http://schemas.openxmlformats.org/officeDocument/2006/relationships/image" Target="../media/image21.sv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3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tags" Target="../tags/tag10.xml"/><Relationship Id="rId9" Type="http://schemas.openxmlformats.org/officeDocument/2006/relationships/image" Target="../media/image7.jpeg"/><Relationship Id="rId14" Type="http://schemas.openxmlformats.org/officeDocument/2006/relationships/image" Target="../media/image12.png"/><Relationship Id="rId22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12" Type="http://schemas.openxmlformats.org/officeDocument/2006/relationships/image" Target="../media/image28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emf"/><Relationship Id="rId11" Type="http://schemas.openxmlformats.org/officeDocument/2006/relationships/image" Target="../media/image27.sv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31.svg"/><Relationship Id="rId10" Type="http://schemas.openxmlformats.org/officeDocument/2006/relationships/image" Target="../media/image2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5.sv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hyperlink" Target="https://fortune.com/2024/04/25/netflix-spending-budget-originals-licensing-content-shows-streaming/" TargetMode="External"/><Relationship Id="rId18" Type="http://schemas.openxmlformats.org/officeDocument/2006/relationships/image" Target="../media/image36.png"/><Relationship Id="rId3" Type="http://schemas.openxmlformats.org/officeDocument/2006/relationships/tags" Target="../tags/tag15.xml"/><Relationship Id="rId21" Type="http://schemas.openxmlformats.org/officeDocument/2006/relationships/image" Target="../media/image39.svg"/><Relationship Id="rId7" Type="http://schemas.openxmlformats.org/officeDocument/2006/relationships/tags" Target="../tags/tag19.xml"/><Relationship Id="rId12" Type="http://schemas.openxmlformats.org/officeDocument/2006/relationships/image" Target="../media/image7.jpe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tags" Target="../tags/tag14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.emf"/><Relationship Id="rId24" Type="http://schemas.openxmlformats.org/officeDocument/2006/relationships/image" Target="../media/image42.png"/><Relationship Id="rId5" Type="http://schemas.openxmlformats.org/officeDocument/2006/relationships/tags" Target="../tags/tag17.xml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37.svg"/><Relationship Id="rId4" Type="http://schemas.openxmlformats.org/officeDocument/2006/relationships/tags" Target="../tags/tag16.xml"/><Relationship Id="rId9" Type="http://schemas.openxmlformats.org/officeDocument/2006/relationships/notesSlide" Target="../notesSlides/notesSlide3.xml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46.png"/><Relationship Id="rId18" Type="http://schemas.openxmlformats.org/officeDocument/2006/relationships/hyperlink" Target="https://newsroom.ucla.edu/releases/teens-screens-traditional-media-friendship-storylines-center-scholars-storytellers" TargetMode="External"/><Relationship Id="rId3" Type="http://schemas.openxmlformats.org/officeDocument/2006/relationships/tags" Target="../tags/tag22.xml"/><Relationship Id="rId21" Type="http://schemas.openxmlformats.org/officeDocument/2006/relationships/chart" Target="../charts/chart2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tags" Target="../tags/tag21.xml"/><Relationship Id="rId16" Type="http://schemas.openxmlformats.org/officeDocument/2006/relationships/image" Target="../media/image49.png"/><Relationship Id="rId20" Type="http://schemas.openxmlformats.org/officeDocument/2006/relationships/hyperlink" Target="https://www.emarketer.com/content/exclusive--half-of-us-consumers-make-tv-inspired-purchases" TargetMode="Externa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44.png"/><Relationship Id="rId5" Type="http://schemas.openxmlformats.org/officeDocument/2006/relationships/tags" Target="../tags/tag24.xml"/><Relationship Id="rId15" Type="http://schemas.openxmlformats.org/officeDocument/2006/relationships/image" Target="../media/image48.png"/><Relationship Id="rId10" Type="http://schemas.openxmlformats.org/officeDocument/2006/relationships/image" Target="../media/image7.jpeg"/><Relationship Id="rId19" Type="http://schemas.openxmlformats.org/officeDocument/2006/relationships/hyperlink" Target="https://www.mordorintelligence.com/industry-reports/home-theatre-system-market" TargetMode="External"/><Relationship Id="rId4" Type="http://schemas.openxmlformats.org/officeDocument/2006/relationships/tags" Target="../tags/tag23.xml"/><Relationship Id="rId9" Type="http://schemas.openxmlformats.org/officeDocument/2006/relationships/image" Target="../media/image1.emf"/><Relationship Id="rId1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18" Type="http://schemas.openxmlformats.org/officeDocument/2006/relationships/image" Target="../media/image60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63.svg"/><Relationship Id="rId7" Type="http://schemas.openxmlformats.org/officeDocument/2006/relationships/image" Target="../media/image7.jpeg"/><Relationship Id="rId12" Type="http://schemas.openxmlformats.org/officeDocument/2006/relationships/image" Target="../media/image55.png"/><Relationship Id="rId17" Type="http://schemas.openxmlformats.org/officeDocument/2006/relationships/image" Target="../media/image59.svg"/><Relationship Id="rId2" Type="http://schemas.openxmlformats.org/officeDocument/2006/relationships/tags" Target="../tags/tag27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tags" Target="../tags/tag26.xml"/><Relationship Id="rId6" Type="http://schemas.openxmlformats.org/officeDocument/2006/relationships/image" Target="../media/image1.emf"/><Relationship Id="rId11" Type="http://schemas.openxmlformats.org/officeDocument/2006/relationships/image" Target="../media/image54.sv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10" Type="http://schemas.openxmlformats.org/officeDocument/2006/relationships/image" Target="../media/image53.png"/><Relationship Id="rId19" Type="http://schemas.openxmlformats.org/officeDocument/2006/relationships/image" Target="../media/image61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52.svg"/><Relationship Id="rId14" Type="http://schemas.openxmlformats.org/officeDocument/2006/relationships/image" Target="../media/image4.png"/><Relationship Id="rId22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6" Type="http://schemas.openxmlformats.org/officeDocument/2006/relationships/image" Target="../media/image7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13" Type="http://schemas.openxmlformats.org/officeDocument/2006/relationships/image" Target="../media/image7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12" Type="http://schemas.openxmlformats.org/officeDocument/2006/relationships/image" Target="../media/image72.svg"/><Relationship Id="rId2" Type="http://schemas.openxmlformats.org/officeDocument/2006/relationships/tags" Target="../tags/tag30.xml"/><Relationship Id="rId16" Type="http://schemas.openxmlformats.org/officeDocument/2006/relationships/image" Target="../media/image76.svg"/><Relationship Id="rId1" Type="http://schemas.openxmlformats.org/officeDocument/2006/relationships/tags" Target="../tags/tag29.xml"/><Relationship Id="rId6" Type="http://schemas.openxmlformats.org/officeDocument/2006/relationships/image" Target="../media/image1.emf"/><Relationship Id="rId11" Type="http://schemas.openxmlformats.org/officeDocument/2006/relationships/image" Target="../media/image71.png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12" Type="http://schemas.openxmlformats.org/officeDocument/2006/relationships/image" Target="../media/image81.svg"/><Relationship Id="rId17" Type="http://schemas.openxmlformats.org/officeDocument/2006/relationships/image" Target="../media/image86.png"/><Relationship Id="rId2" Type="http://schemas.openxmlformats.org/officeDocument/2006/relationships/tags" Target="../tags/tag32.xml"/><Relationship Id="rId16" Type="http://schemas.openxmlformats.org/officeDocument/2006/relationships/image" Target="../media/image85.svg"/><Relationship Id="rId1" Type="http://schemas.openxmlformats.org/officeDocument/2006/relationships/tags" Target="../tags/tag31.xml"/><Relationship Id="rId6" Type="http://schemas.openxmlformats.org/officeDocument/2006/relationships/image" Target="../media/image1.emf"/><Relationship Id="rId11" Type="http://schemas.openxmlformats.org/officeDocument/2006/relationships/image" Target="../media/image80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84.png"/><Relationship Id="rId10" Type="http://schemas.openxmlformats.org/officeDocument/2006/relationships/image" Target="../media/image79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78.png"/><Relationship Id="rId14" Type="http://schemas.openxmlformats.org/officeDocument/2006/relationships/image" Target="../media/image8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0.png"/><Relationship Id="rId18" Type="http://schemas.openxmlformats.org/officeDocument/2006/relationships/customXml" Target="../ink/ink7.xml"/><Relationship Id="rId3" Type="http://schemas.openxmlformats.org/officeDocument/2006/relationships/slideLayout" Target="../slideLayouts/slideLayout1.xml"/><Relationship Id="rId21" Type="http://schemas.openxmlformats.org/officeDocument/2006/relationships/customXml" Target="../ink/ink9.xml"/><Relationship Id="rId7" Type="http://schemas.openxmlformats.org/officeDocument/2006/relationships/image" Target="../media/image7.jpeg"/><Relationship Id="rId12" Type="http://schemas.openxmlformats.org/officeDocument/2006/relationships/customXml" Target="../ink/ink3.xml"/><Relationship Id="rId17" Type="http://schemas.openxmlformats.org/officeDocument/2006/relationships/customXml" Target="../ink/ink6.xml"/><Relationship Id="rId2" Type="http://schemas.openxmlformats.org/officeDocument/2006/relationships/tags" Target="../tags/tag34.xml"/><Relationship Id="rId16" Type="http://schemas.openxmlformats.org/officeDocument/2006/relationships/customXml" Target="../ink/ink5.xml"/><Relationship Id="rId20" Type="http://schemas.openxmlformats.org/officeDocument/2006/relationships/image" Target="../media/image92.png"/><Relationship Id="rId1" Type="http://schemas.openxmlformats.org/officeDocument/2006/relationships/tags" Target="../tags/tag33.xml"/><Relationship Id="rId6" Type="http://schemas.openxmlformats.org/officeDocument/2006/relationships/image" Target="../media/image1.emf"/><Relationship Id="rId11" Type="http://schemas.openxmlformats.org/officeDocument/2006/relationships/customXml" Target="../ink/ink2.xml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91.png"/><Relationship Id="rId10" Type="http://schemas.openxmlformats.org/officeDocument/2006/relationships/image" Target="../media/image89.png"/><Relationship Id="rId19" Type="http://schemas.openxmlformats.org/officeDocument/2006/relationships/customXml" Target="../ink/ink8.xml"/><Relationship Id="rId4" Type="http://schemas.openxmlformats.org/officeDocument/2006/relationships/notesSlide" Target="../notesSlides/notesSlide8.xml"/><Relationship Id="rId9" Type="http://schemas.openxmlformats.org/officeDocument/2006/relationships/customXml" Target="../ink/ink1.xml"/><Relationship Id="rId1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4.png"/><Relationship Id="rId12" Type="http://schemas.openxmlformats.org/officeDocument/2006/relationships/image" Target="../media/image96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6" Type="http://schemas.openxmlformats.org/officeDocument/2006/relationships/image" Target="../media/image7.jpeg"/><Relationship Id="rId11" Type="http://schemas.openxmlformats.org/officeDocument/2006/relationships/image" Target="../media/image95.png"/><Relationship Id="rId5" Type="http://schemas.openxmlformats.org/officeDocument/2006/relationships/image" Target="../media/image1.emf"/><Relationship Id="rId10" Type="http://schemas.openxmlformats.org/officeDocument/2006/relationships/image" Target="../media/image94.sv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Relationship Id="rId6" Type="http://schemas.openxmlformats.org/officeDocument/2006/relationships/image" Target="../media/image7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62.xml"/><Relationship Id="rId21" Type="http://schemas.openxmlformats.org/officeDocument/2006/relationships/tags" Target="../tags/tag57.xml"/><Relationship Id="rId34" Type="http://schemas.openxmlformats.org/officeDocument/2006/relationships/tags" Target="../tags/tag70.xml"/><Relationship Id="rId42" Type="http://schemas.openxmlformats.org/officeDocument/2006/relationships/tags" Target="../tags/tag78.xml"/><Relationship Id="rId47" Type="http://schemas.openxmlformats.org/officeDocument/2006/relationships/tags" Target="../tags/tag83.xml"/><Relationship Id="rId50" Type="http://schemas.openxmlformats.org/officeDocument/2006/relationships/tags" Target="../tags/tag86.xml"/><Relationship Id="rId55" Type="http://schemas.openxmlformats.org/officeDocument/2006/relationships/tags" Target="../tags/tag91.xml"/><Relationship Id="rId63" Type="http://schemas.openxmlformats.org/officeDocument/2006/relationships/slideLayout" Target="../slideLayouts/slideLayout2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9" Type="http://schemas.openxmlformats.org/officeDocument/2006/relationships/tags" Target="../tags/tag65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32" Type="http://schemas.openxmlformats.org/officeDocument/2006/relationships/tags" Target="../tags/tag68.xml"/><Relationship Id="rId37" Type="http://schemas.openxmlformats.org/officeDocument/2006/relationships/tags" Target="../tags/tag73.xml"/><Relationship Id="rId40" Type="http://schemas.openxmlformats.org/officeDocument/2006/relationships/tags" Target="../tags/tag76.xml"/><Relationship Id="rId45" Type="http://schemas.openxmlformats.org/officeDocument/2006/relationships/tags" Target="../tags/tag81.xml"/><Relationship Id="rId53" Type="http://schemas.openxmlformats.org/officeDocument/2006/relationships/tags" Target="../tags/tag89.xml"/><Relationship Id="rId58" Type="http://schemas.openxmlformats.org/officeDocument/2006/relationships/tags" Target="../tags/tag94.xml"/><Relationship Id="rId66" Type="http://schemas.openxmlformats.org/officeDocument/2006/relationships/image" Target="../media/image2.emf"/><Relationship Id="rId5" Type="http://schemas.openxmlformats.org/officeDocument/2006/relationships/tags" Target="../tags/tag41.xml"/><Relationship Id="rId61" Type="http://schemas.openxmlformats.org/officeDocument/2006/relationships/tags" Target="../tags/tag97.xml"/><Relationship Id="rId19" Type="http://schemas.openxmlformats.org/officeDocument/2006/relationships/tags" Target="../tags/tag5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30" Type="http://schemas.openxmlformats.org/officeDocument/2006/relationships/tags" Target="../tags/tag66.xml"/><Relationship Id="rId35" Type="http://schemas.openxmlformats.org/officeDocument/2006/relationships/tags" Target="../tags/tag71.xml"/><Relationship Id="rId43" Type="http://schemas.openxmlformats.org/officeDocument/2006/relationships/tags" Target="../tags/tag79.xml"/><Relationship Id="rId48" Type="http://schemas.openxmlformats.org/officeDocument/2006/relationships/tags" Target="../tags/tag84.xml"/><Relationship Id="rId56" Type="http://schemas.openxmlformats.org/officeDocument/2006/relationships/tags" Target="../tags/tag92.xml"/><Relationship Id="rId64" Type="http://schemas.openxmlformats.org/officeDocument/2006/relationships/notesSlide" Target="../notesSlides/notesSlide11.xml"/><Relationship Id="rId8" Type="http://schemas.openxmlformats.org/officeDocument/2006/relationships/tags" Target="../tags/tag44.xml"/><Relationship Id="rId51" Type="http://schemas.openxmlformats.org/officeDocument/2006/relationships/tags" Target="../tags/tag87.xml"/><Relationship Id="rId3" Type="http://schemas.openxmlformats.org/officeDocument/2006/relationships/tags" Target="../tags/tag39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33" Type="http://schemas.openxmlformats.org/officeDocument/2006/relationships/tags" Target="../tags/tag69.xml"/><Relationship Id="rId38" Type="http://schemas.openxmlformats.org/officeDocument/2006/relationships/tags" Target="../tags/tag74.xml"/><Relationship Id="rId46" Type="http://schemas.openxmlformats.org/officeDocument/2006/relationships/tags" Target="../tags/tag82.xml"/><Relationship Id="rId59" Type="http://schemas.openxmlformats.org/officeDocument/2006/relationships/tags" Target="../tags/tag95.xml"/><Relationship Id="rId67" Type="http://schemas.openxmlformats.org/officeDocument/2006/relationships/image" Target="../media/image7.jpeg"/><Relationship Id="rId20" Type="http://schemas.openxmlformats.org/officeDocument/2006/relationships/tags" Target="../tags/tag56.xml"/><Relationship Id="rId41" Type="http://schemas.openxmlformats.org/officeDocument/2006/relationships/tags" Target="../tags/tag77.xml"/><Relationship Id="rId54" Type="http://schemas.openxmlformats.org/officeDocument/2006/relationships/tags" Target="../tags/tag90.xml"/><Relationship Id="rId62" Type="http://schemas.openxmlformats.org/officeDocument/2006/relationships/tags" Target="../tags/tag9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36" Type="http://schemas.openxmlformats.org/officeDocument/2006/relationships/tags" Target="../tags/tag72.xml"/><Relationship Id="rId49" Type="http://schemas.openxmlformats.org/officeDocument/2006/relationships/tags" Target="../tags/tag85.xml"/><Relationship Id="rId57" Type="http://schemas.openxmlformats.org/officeDocument/2006/relationships/tags" Target="../tags/tag93.xml"/><Relationship Id="rId10" Type="http://schemas.openxmlformats.org/officeDocument/2006/relationships/tags" Target="../tags/tag46.xml"/><Relationship Id="rId31" Type="http://schemas.openxmlformats.org/officeDocument/2006/relationships/tags" Target="../tags/tag67.xml"/><Relationship Id="rId44" Type="http://schemas.openxmlformats.org/officeDocument/2006/relationships/tags" Target="../tags/tag80.xml"/><Relationship Id="rId52" Type="http://schemas.openxmlformats.org/officeDocument/2006/relationships/tags" Target="../tags/tag88.xml"/><Relationship Id="rId60" Type="http://schemas.openxmlformats.org/officeDocument/2006/relationships/tags" Target="../tags/tag96.xml"/><Relationship Id="rId65" Type="http://schemas.openxmlformats.org/officeDocument/2006/relationships/oleObject" Target="../embeddings/oleObject13.bin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9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8873F0B-1234-4B25-F998-DB5A1CBC9E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5454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6" imgH="486" progId="TCLayout.ActiveDocument.1">
                  <p:embed/>
                </p:oleObj>
              </mc:Choice>
              <mc:Fallback>
                <p:oleObj name="think-cell Slide" r:id="rId3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873F0B-1234-4B25-F998-DB5A1CBC9E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82704B-5FFC-30F4-D335-A3BB37017D60}"/>
              </a:ext>
            </a:extLst>
          </p:cNvPr>
          <p:cNvSpPr txBox="1"/>
          <p:nvPr/>
        </p:nvSpPr>
        <p:spPr>
          <a:xfrm>
            <a:off x="9512716" y="6278789"/>
            <a:ext cx="2510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chemeClr val="bg1"/>
                </a:solidFill>
                <a:ea typeface="+mn-lt"/>
                <a:cs typeface="+mn-lt"/>
              </a:rPr>
              <a:t>Think&amp;Sell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 Consulting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E10187-1F9F-ECBB-F9FE-3A59A6C16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1" y="6432"/>
            <a:ext cx="12191348" cy="68516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BD569F-91B8-5725-5890-0148718D2A38}"/>
              </a:ext>
            </a:extLst>
          </p:cNvPr>
          <p:cNvSpPr txBox="1"/>
          <p:nvPr/>
        </p:nvSpPr>
        <p:spPr>
          <a:xfrm>
            <a:off x="4936717" y="3634154"/>
            <a:ext cx="74376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a typeface="+mn-lt"/>
                <a:cs typeface="+mn-lt"/>
              </a:rPr>
              <a:t>Reimagining Streaming: Netflix’s Next Leap</a:t>
            </a:r>
            <a:endParaRPr lang="en-US" sz="2800" b="1">
              <a:solidFill>
                <a:schemeClr val="bg1"/>
              </a:solidFill>
            </a:endParaRPr>
          </a:p>
          <a:p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CFDB01-40F3-6AAD-8925-6E2AA908AC54}"/>
              </a:ext>
            </a:extLst>
          </p:cNvPr>
          <p:cNvSpPr txBox="1"/>
          <p:nvPr/>
        </p:nvSpPr>
        <p:spPr>
          <a:xfrm>
            <a:off x="9276522" y="4141303"/>
            <a:ext cx="2749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FFFF"/>
                </a:solidFill>
                <a:latin typeface="Aptos"/>
                <a:cs typeface="Segoe UI"/>
              </a:rPr>
              <a:t>By: </a:t>
            </a:r>
            <a:r>
              <a:rPr lang="en-US" i="1" err="1">
                <a:solidFill>
                  <a:srgbClr val="FFFFFF"/>
                </a:solidFill>
                <a:latin typeface="Aptos"/>
                <a:cs typeface="Segoe UI"/>
              </a:rPr>
              <a:t>Think&amp;Sell</a:t>
            </a:r>
            <a:r>
              <a:rPr lang="en-US" i="1">
                <a:solidFill>
                  <a:srgbClr val="FFFFFF"/>
                </a:solidFill>
                <a:latin typeface="Aptos"/>
                <a:cs typeface="Segoe UI"/>
              </a:rPr>
              <a:t> Consulting</a:t>
            </a:r>
            <a:endParaRPr lang="en-US" i="1"/>
          </a:p>
        </p:txBody>
      </p:sp>
      <p:pic>
        <p:nvPicPr>
          <p:cNvPr id="17" name="Graphic 16" descr="Head with gears with solid fill">
            <a:extLst>
              <a:ext uri="{FF2B5EF4-FFF2-40B4-BE49-F238E27FC236}">
                <a16:creationId xmlns:a16="http://schemas.microsoft.com/office/drawing/2014/main" id="{3416770A-59DA-D5FA-A016-316E894CC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5886" y="4106517"/>
            <a:ext cx="442292" cy="4422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9C7EBA-8327-A0A8-A00A-AA609A0ED5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812" y="5995365"/>
            <a:ext cx="1963808" cy="6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1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9FEC3-F43C-F6B0-4F0D-5567F3EF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EEE4049-CD25-E635-FFBA-698EAA2E44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EE4049-CD25-E635-FFBA-698EAA2E44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0547BE-4006-3B0D-D461-EFD2148E922A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D2AF8-0CDD-79FC-FA29-11936A0D0D21}"/>
              </a:ext>
            </a:extLst>
          </p:cNvPr>
          <p:cNvSpPr txBox="1"/>
          <p:nvPr/>
        </p:nvSpPr>
        <p:spPr>
          <a:xfrm>
            <a:off x="375752" y="-7622"/>
            <a:ext cx="1053550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Overview</a:t>
            </a:r>
            <a:endParaRPr lang="en-US" sz="2500" b="1" dirty="0">
              <a:solidFill>
                <a:schemeClr val="bg1"/>
              </a:solidFill>
            </a:endParaRPr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853E6A32-2E8E-9AF6-7501-0E1CE505D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277A07-7A33-A159-62A9-56C90EDDD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040308"/>
              </p:ext>
            </p:extLst>
          </p:nvPr>
        </p:nvGraphicFramePr>
        <p:xfrm>
          <a:off x="6203176" y="3148223"/>
          <a:ext cx="5737414" cy="337764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95714">
                  <a:extLst>
                    <a:ext uri="{9D8B030D-6E8A-4147-A177-3AD203B41FA5}">
                      <a16:colId xmlns:a16="http://schemas.microsoft.com/office/drawing/2014/main" val="3920449975"/>
                    </a:ext>
                  </a:extLst>
                </a:gridCol>
                <a:gridCol w="4841700">
                  <a:extLst>
                    <a:ext uri="{9D8B030D-6E8A-4147-A177-3AD203B41FA5}">
                      <a16:colId xmlns:a16="http://schemas.microsoft.com/office/drawing/2014/main" val="3337315979"/>
                    </a:ext>
                  </a:extLst>
                </a:gridCol>
              </a:tblGrid>
              <a:tr h="61174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Video Streamer</a:t>
                      </a: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Positioning VS Netflix</a:t>
                      </a: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953889"/>
                  </a:ext>
                </a:extLst>
              </a:tr>
              <a:tr h="679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300" b="1" i="0" u="none" strike="noStrike" noProof="0">
                        <a:latin typeface="Aptos"/>
                      </a:endParaRP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latin typeface="Aptos"/>
                        </a:rPr>
                        <a:t>Backed by Amazon’s ecosystem and bundled with Prime, giving wide reach but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lower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engagement per user. Netflix counters with a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pure-play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entertainment focus and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higher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daily watch time.</a:t>
                      </a:r>
                      <a:endParaRPr lang="en-US" sz="1300"/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68531641"/>
                  </a:ext>
                </a:extLst>
              </a:tr>
              <a:tr h="679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300" b="1" i="0" u="none" strike="noStrike" noProof="0">
                        <a:latin typeface="Aptos"/>
                      </a:endParaRP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latin typeface="Aptos"/>
                        </a:rPr>
                        <a:t>Leverages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strong franchise 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IPs (Marvel, Star Wars, Pixar). Netflix competes by offering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greater content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breadth and consistent release cadence across genres and geographies.</a:t>
                      </a:r>
                      <a:endParaRPr lang="en-US" sz="1300"/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1201856"/>
                  </a:ext>
                </a:extLst>
              </a:tr>
              <a:tr h="679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300" b="1" i="0" u="none" strike="noStrike" noProof="0">
                        <a:latin typeface="Aptos"/>
                      </a:endParaRP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latin typeface="Aptos"/>
                        </a:rPr>
                        <a:t>Premium storytelling niche with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strong critical acclaim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but limited output. Netflix balances both scale and prestige while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investing heavily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in international hits.</a:t>
                      </a:r>
                      <a:endParaRPr lang="en-US" sz="1300"/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33879438"/>
                  </a:ext>
                </a:extLst>
              </a:tr>
              <a:tr h="679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300" b="1" i="0" u="none" strike="noStrike" noProof="0">
                        <a:latin typeface="Aptos"/>
                      </a:endParaRPr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latin typeface="Aptos"/>
                        </a:rPr>
                        <a:t>Competitive pricing and local language content 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drive regional stickiness.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 Netflix responds through </a:t>
                      </a:r>
                      <a:r>
                        <a:rPr lang="en-US" sz="1300" b="1" i="0" u="none" strike="noStrike" noProof="0">
                          <a:latin typeface="Aptos"/>
                        </a:rPr>
                        <a:t>localized originals </a:t>
                      </a:r>
                      <a:r>
                        <a:rPr lang="en-US" sz="1300" b="0" i="0" u="none" strike="noStrike" noProof="0">
                          <a:latin typeface="Aptos"/>
                        </a:rPr>
                        <a:t>and strategic partnerships in Asia, LATAM, and Europe.</a:t>
                      </a:r>
                      <a:endParaRPr lang="en-US" sz="1300"/>
                    </a:p>
                  </a:txBody>
                  <a:tcPr marL="97115" marR="97115" marT="48557" marB="48557"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4539507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78AAB5F-214C-10B4-2E81-286DF5ED3534}"/>
              </a:ext>
            </a:extLst>
          </p:cNvPr>
          <p:cNvSpPr txBox="1"/>
          <p:nvPr/>
        </p:nvSpPr>
        <p:spPr>
          <a:xfrm>
            <a:off x="467686" y="1705137"/>
            <a:ext cx="394952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200" b="1">
                <a:solidFill>
                  <a:srgbClr val="C00000"/>
                </a:solidFill>
              </a:rPr>
              <a:t>Subscription-based streaming 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FE6CC3-43F9-B715-D2AF-B8CA54E50E47}"/>
              </a:ext>
            </a:extLst>
          </p:cNvPr>
          <p:cNvSpPr txBox="1"/>
          <p:nvPr/>
        </p:nvSpPr>
        <p:spPr>
          <a:xfrm>
            <a:off x="573354" y="1928547"/>
            <a:ext cx="3643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200" dirty="0"/>
              <a:t>Delivers films, TV series, documentaries, and increasingly live events and sports.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200" dirty="0"/>
              <a:t>Produces local content globally and localizes for different markets.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0E2D0-B155-A4D7-8088-8BF7C75958BF}"/>
              </a:ext>
            </a:extLst>
          </p:cNvPr>
          <p:cNvSpPr txBox="1"/>
          <p:nvPr/>
        </p:nvSpPr>
        <p:spPr>
          <a:xfrm>
            <a:off x="467686" y="846536"/>
            <a:ext cx="424124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World’s</a:t>
            </a:r>
            <a:r>
              <a:rPr lang="en-US" sz="1200" b="1" dirty="0">
                <a:solidFill>
                  <a:srgbClr val="C00000"/>
                </a:solidFill>
                <a:latin typeface=""/>
              </a:rPr>
              <a:t> </a:t>
            </a:r>
            <a:r>
              <a:rPr lang="en-US" sz="1200" b="1" dirty="0">
                <a:solidFill>
                  <a:srgbClr val="C00000"/>
                </a:solidFill>
              </a:rPr>
              <a:t>leading</a:t>
            </a:r>
            <a:r>
              <a:rPr lang="en-US" sz="1200" b="1" dirty="0">
                <a:solidFill>
                  <a:srgbClr val="C00000"/>
                </a:solidFill>
                <a:latin typeface=""/>
              </a:rPr>
              <a:t> streaming entertainment innovator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80E3B2-AC66-9D8D-F948-3D171E2A623D}"/>
              </a:ext>
            </a:extLst>
          </p:cNvPr>
          <p:cNvSpPr txBox="1"/>
          <p:nvPr/>
        </p:nvSpPr>
        <p:spPr>
          <a:xfrm>
            <a:off x="547509" y="1072026"/>
            <a:ext cx="37602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Trendsetter</a:t>
            </a:r>
            <a:r>
              <a:rPr lang="en-US" sz="1200" dirty="0">
                <a:solidFill>
                  <a:srgbClr val="000000"/>
                </a:solidFill>
              </a:rPr>
              <a:t> in streaming tech and content </a:t>
            </a:r>
            <a:r>
              <a:rPr lang="en-US" sz="1200" dirty="0" err="1">
                <a:solidFill>
                  <a:sysClr val="windowText" lastClr="000000"/>
                </a:solidFill>
              </a:rPr>
              <a:t>pearsonalization</a:t>
            </a:r>
            <a:r>
              <a:rPr lang="en-US" sz="1200" dirty="0">
                <a:solidFill>
                  <a:sysClr val="windowText" lastClr="000000"/>
                </a:solidFill>
              </a:rPr>
              <a:t>, holding </a:t>
            </a:r>
            <a:r>
              <a:rPr lang="en-US" sz="1200" b="1" dirty="0">
                <a:solidFill>
                  <a:sysClr val="windowText" lastClr="000000"/>
                </a:solidFill>
              </a:rPr>
              <a:t>~21–23%</a:t>
            </a:r>
            <a:r>
              <a:rPr lang="en-US" sz="1200" dirty="0">
                <a:solidFill>
                  <a:sysClr val="windowText" lastClr="000000"/>
                </a:solidFill>
              </a:rPr>
              <a:t> share of the global streaming market.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4531B6A-40C4-077F-9F1F-6DFC8CE2EBCC}"/>
              </a:ext>
            </a:extLst>
          </p:cNvPr>
          <p:cNvGrpSpPr/>
          <p:nvPr/>
        </p:nvGrpSpPr>
        <p:grpSpPr>
          <a:xfrm>
            <a:off x="4047481" y="925342"/>
            <a:ext cx="3995596" cy="1947577"/>
            <a:chOff x="5612845" y="653487"/>
            <a:chExt cx="4522600" cy="217290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12C982-4113-E2FB-089C-58B728722775}"/>
                </a:ext>
              </a:extLst>
            </p:cNvPr>
            <p:cNvSpPr txBox="1"/>
            <p:nvPr/>
          </p:nvSpPr>
          <p:spPr>
            <a:xfrm>
              <a:off x="5671395" y="653487"/>
              <a:ext cx="2977361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US$39B</a:t>
              </a:r>
            </a:p>
            <a:p>
              <a:pPr algn="ctr"/>
              <a:r>
                <a:rPr lang="en-US" sz="1400" i="1">
                  <a:solidFill>
                    <a:schemeClr val="accent2">
                      <a:lumMod val="76000"/>
                    </a:schemeClr>
                  </a:solidFill>
                </a:rPr>
                <a:t>2024 Revenue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EDCAB2-38DE-38D3-6C6C-69902ADA4CB3}"/>
                </a:ext>
              </a:extLst>
            </p:cNvPr>
            <p:cNvSpPr txBox="1"/>
            <p:nvPr/>
          </p:nvSpPr>
          <p:spPr>
            <a:xfrm>
              <a:off x="5612845" y="2241615"/>
              <a:ext cx="2977361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301.6M</a:t>
              </a:r>
            </a:p>
            <a:p>
              <a:pPr algn="ctr"/>
              <a:r>
                <a:rPr lang="en-US" sz="1400" i="1">
                  <a:solidFill>
                    <a:schemeClr val="accent2">
                      <a:lumMod val="76000"/>
                    </a:schemeClr>
                  </a:solidFill>
                </a:rPr>
                <a:t>Paid Memberships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598D70-C194-3393-9A45-185A1DEC377B}"/>
                </a:ext>
              </a:extLst>
            </p:cNvPr>
            <p:cNvSpPr txBox="1"/>
            <p:nvPr/>
          </p:nvSpPr>
          <p:spPr>
            <a:xfrm>
              <a:off x="5646753" y="1155361"/>
              <a:ext cx="2977361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190+</a:t>
              </a:r>
            </a:p>
            <a:p>
              <a:pPr algn="ctr"/>
              <a:r>
                <a:rPr lang="en-US" sz="1400" i="1">
                  <a:solidFill>
                    <a:schemeClr val="accent2">
                      <a:lumMod val="76000"/>
                    </a:schemeClr>
                  </a:solidFill>
                </a:rPr>
                <a:t>Countries</a:t>
              </a:r>
            </a:p>
          </p:txBody>
        </p:sp>
        <p:pic>
          <p:nvPicPr>
            <p:cNvPr id="18" name="Picture 17" descr="A bear on a flag&#10;&#10;AI-generated content may be incorrect.">
              <a:extLst>
                <a:ext uri="{FF2B5EF4-FFF2-40B4-BE49-F238E27FC236}">
                  <a16:creationId xmlns:a16="http://schemas.microsoft.com/office/drawing/2014/main" id="{2B9382C7-CB55-17AF-4A95-05D61A3CF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08679" y="1135077"/>
              <a:ext cx="1726766" cy="10053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87D3C7-75AA-2E9D-BBDB-7FDC16506DFB}"/>
                </a:ext>
              </a:extLst>
            </p:cNvPr>
            <p:cNvSpPr txBox="1"/>
            <p:nvPr/>
          </p:nvSpPr>
          <p:spPr>
            <a:xfrm>
              <a:off x="8797146" y="2147140"/>
              <a:ext cx="1164919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b="1">
                  <a:solidFill>
                    <a:srgbClr val="FF0000"/>
                  </a:solidFill>
                </a:rPr>
                <a:t>Founded: 1997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1DB862C-39DD-8CC6-11F4-154848277CD3}"/>
                </a:ext>
              </a:extLst>
            </p:cNvPr>
            <p:cNvSpPr txBox="1"/>
            <p:nvPr/>
          </p:nvSpPr>
          <p:spPr>
            <a:xfrm>
              <a:off x="5629350" y="1673545"/>
              <a:ext cx="2977361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13K+</a:t>
              </a:r>
            </a:p>
            <a:p>
              <a:pPr algn="ctr"/>
              <a:r>
                <a:rPr lang="en-US" sz="1400" i="1">
                  <a:solidFill>
                    <a:schemeClr val="accent2">
                      <a:lumMod val="76000"/>
                    </a:schemeClr>
                  </a:solidFill>
                </a:rPr>
                <a:t>Employees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062BEAE-676C-F27C-54C7-D0AA46C1EB89}"/>
              </a:ext>
            </a:extLst>
          </p:cNvPr>
          <p:cNvSpPr txBox="1"/>
          <p:nvPr/>
        </p:nvSpPr>
        <p:spPr>
          <a:xfrm>
            <a:off x="328972" y="4359000"/>
            <a:ext cx="5967427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Market Context</a:t>
            </a:r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Global video-streaming market projected to reach </a:t>
            </a:r>
            <a:r>
              <a:rPr lang="en-US" sz="1200" b="1" dirty="0"/>
              <a:t>US $416.8 B by 2030</a:t>
            </a:r>
            <a:endParaRPr lang="en-US" sz="1200" dirty="0"/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Live-streaming sub-segment growing fastest: </a:t>
            </a:r>
            <a:r>
              <a:rPr lang="en-US" sz="1200" b="1" dirty="0"/>
              <a:t>US $104.9 B → US $712.9 B by 2033</a:t>
            </a:r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Ad-supported (AVOD) formats rising &gt; 2× faster than paid subscriptions (SVOD).</a:t>
            </a:r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North America is mature; </a:t>
            </a:r>
            <a:r>
              <a:rPr lang="en-US" sz="1200" b="1" dirty="0"/>
              <a:t>Asia-Pacific expected &gt; 25% CAGR</a:t>
            </a:r>
            <a:r>
              <a:rPr lang="en-US" sz="1200" dirty="0"/>
              <a:t> through 2030.</a:t>
            </a:r>
          </a:p>
          <a:p>
            <a:pPr marL="685800" lvl="1" indent="-228600">
              <a:buFont typeface=""/>
              <a:buChar char="•"/>
            </a:pPr>
            <a:r>
              <a:rPr lang="en-US" sz="1200" b="1" dirty="0"/>
              <a:t>Smart TVs &amp; mobile</a:t>
            </a:r>
            <a:r>
              <a:rPr lang="en-US" sz="1200" dirty="0"/>
              <a:t> drive &gt; 70% of total viewing hours worldwide.</a:t>
            </a:r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Online streaming now accounts for </a:t>
            </a:r>
            <a:r>
              <a:rPr lang="en-US" sz="1200" b="1" dirty="0"/>
              <a:t>44.8% of total TV viewing.</a:t>
            </a:r>
            <a:endParaRPr lang="en-US" sz="1200" dirty="0"/>
          </a:p>
          <a:p>
            <a:pPr marL="685800" lvl="1" indent="-228600">
              <a:buFont typeface=""/>
              <a:buChar char="•"/>
            </a:pPr>
            <a:r>
              <a:rPr lang="en-US" sz="1200" dirty="0"/>
              <a:t>Industry shifting toward </a:t>
            </a:r>
            <a:r>
              <a:rPr lang="en-US" sz="1200" b="1" dirty="0"/>
              <a:t>hybrid monetization (ad-tiers + bundling + commerce)</a:t>
            </a:r>
            <a:r>
              <a:rPr lang="en-US" sz="1200" dirty="0"/>
              <a:t>.</a:t>
            </a:r>
          </a:p>
          <a:p>
            <a:pPr algn="ctr"/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08E8C64-9CE2-AD8E-87DB-9D1E472E17A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1249" y="3879524"/>
            <a:ext cx="680598" cy="5834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FCE2F5E-B03B-73C7-FFFB-62DF5DF6D46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" t="-3403" r="-5785"/>
          <a:stretch>
            <a:fillRect/>
          </a:stretch>
        </p:blipFill>
        <p:spPr>
          <a:xfrm>
            <a:off x="6261249" y="4547241"/>
            <a:ext cx="718673" cy="60761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CBE2C99-4F9A-5534-26A8-1B4B9C10786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70" r="-1669"/>
          <a:stretch>
            <a:fillRect/>
          </a:stretch>
        </p:blipFill>
        <p:spPr>
          <a:xfrm>
            <a:off x="6263329" y="5247065"/>
            <a:ext cx="685936" cy="61773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4ADE0F9-85D4-D680-B0EF-52D0AAA562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266" y="5992575"/>
            <a:ext cx="706114" cy="53564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B82E2B4-B8C5-DB4B-1ED2-1D14F03D68C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465" y="3138600"/>
            <a:ext cx="5790360" cy="124748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F64E7AAB-F5DA-838B-1599-330F7B2B9FE4}"/>
              </a:ext>
            </a:extLst>
          </p:cNvPr>
          <p:cNvGrpSpPr/>
          <p:nvPr/>
        </p:nvGrpSpPr>
        <p:grpSpPr>
          <a:xfrm>
            <a:off x="8462420" y="736100"/>
            <a:ext cx="2804515" cy="1938742"/>
            <a:chOff x="2893934" y="630134"/>
            <a:chExt cx="3817938" cy="2475002"/>
          </a:xfrm>
        </p:grpSpPr>
        <p:graphicFrame>
          <p:nvGraphicFramePr>
            <p:cNvPr id="50" name="Chart 49">
              <a:extLst>
                <a:ext uri="{FF2B5EF4-FFF2-40B4-BE49-F238E27FC236}">
                  <a16:creationId xmlns:a16="http://schemas.microsoft.com/office/drawing/2014/main" id="{81F64697-7448-B741-45AD-C204670ECB9B}"/>
                </a:ext>
              </a:extLst>
            </p:cNvPr>
            <p:cNvGraphicFramePr/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2914713899"/>
                </p:ext>
              </p:extLst>
            </p:nvPr>
          </p:nvGraphicFramePr>
          <p:xfrm>
            <a:off x="2997122" y="878196"/>
            <a:ext cx="3714750" cy="15462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sp>
          <p:nvSpPr>
            <p:cNvPr id="52" name="Text Placeholder 2">
              <a:extLst>
                <a:ext uri="{FF2B5EF4-FFF2-40B4-BE49-F238E27FC236}">
                  <a16:creationId xmlns:a16="http://schemas.microsoft.com/office/drawing/2014/main" id="{40CD5E9F-256A-087A-358D-5992B3347749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893934" y="630134"/>
              <a:ext cx="3817938" cy="150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0" rIns="0" bIns="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SG" sz="1100" b="1">
                  <a:solidFill>
                    <a:srgbClr val="C00000"/>
                  </a:solidFill>
                </a:rPr>
                <a:t>Global Binge: Rise of Netflix’s Subscribers from 2015 to 2024</a:t>
              </a:r>
            </a:p>
          </p:txBody>
        </p:sp>
        <p:sp>
          <p:nvSpPr>
            <p:cNvPr id="54" name="Text Placeholder 2">
              <a:extLst>
                <a:ext uri="{FF2B5EF4-FFF2-40B4-BE49-F238E27FC236}">
                  <a16:creationId xmlns:a16="http://schemas.microsoft.com/office/drawing/2014/main" id="{F61FD60A-0E9E-E567-7523-5561DE58A2EB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175714" y="2444736"/>
              <a:ext cx="3357563" cy="660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SG" altLang="en-US" sz="1200"/>
                <a:t>Netflix maintained its paid subscriber growth through global expansion and utilizing the pandemic, gaining viewers from 70 millions to 270.7 millions from 2015 to 2024.</a:t>
              </a:r>
              <a:endParaRPr lang="en-SG" sz="1200"/>
            </a:p>
          </p:txBody>
        </p:sp>
      </p:grpSp>
      <p:pic>
        <p:nvPicPr>
          <p:cNvPr id="3" name="Graphic 2" descr="Earth globe: Americas with solid fill">
            <a:extLst>
              <a:ext uri="{FF2B5EF4-FFF2-40B4-BE49-F238E27FC236}">
                <a16:creationId xmlns:a16="http://schemas.microsoft.com/office/drawing/2014/main" id="{4947C7A5-A49A-18A9-A81C-22BB4D3362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3971" y="4651762"/>
            <a:ext cx="457200" cy="457200"/>
          </a:xfrm>
          <a:prstGeom prst="rect">
            <a:avLst/>
          </a:prstGeom>
        </p:spPr>
      </p:pic>
      <p:pic>
        <p:nvPicPr>
          <p:cNvPr id="9" name="Graphic 8" descr="Smart Phone with solid fill">
            <a:extLst>
              <a:ext uri="{FF2B5EF4-FFF2-40B4-BE49-F238E27FC236}">
                <a16:creationId xmlns:a16="http://schemas.microsoft.com/office/drawing/2014/main" id="{FAC2FD78-78C5-588D-5FA1-950C02CDFEC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0487" y="5213221"/>
            <a:ext cx="644167" cy="644167"/>
          </a:xfrm>
          <a:prstGeom prst="rect">
            <a:avLst/>
          </a:prstGeom>
        </p:spPr>
      </p:pic>
      <p:pic>
        <p:nvPicPr>
          <p:cNvPr id="11" name="Graphic 10" descr="Internet with solid fill">
            <a:extLst>
              <a:ext uri="{FF2B5EF4-FFF2-40B4-BE49-F238E27FC236}">
                <a16:creationId xmlns:a16="http://schemas.microsoft.com/office/drawing/2014/main" id="{C4C7E0B7-8C89-CF08-7D23-71E878EC5FA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4867" y="5912062"/>
            <a:ext cx="444381" cy="444381"/>
          </a:xfrm>
          <a:prstGeom prst="rect">
            <a:avLst/>
          </a:prstGeom>
        </p:spPr>
      </p:pic>
      <p:pic>
        <p:nvPicPr>
          <p:cNvPr id="15" name="Graphic 14" descr="Signal with solid fill">
            <a:extLst>
              <a:ext uri="{FF2B5EF4-FFF2-40B4-BE49-F238E27FC236}">
                <a16:creationId xmlns:a16="http://schemas.microsoft.com/office/drawing/2014/main" id="{CB2572D3-84ED-E3C5-824D-34E74E8DDFD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51329" y="1972543"/>
            <a:ext cx="636959" cy="636959"/>
          </a:xfrm>
          <a:prstGeom prst="rect">
            <a:avLst/>
          </a:prstGeom>
        </p:spPr>
      </p:pic>
      <p:pic>
        <p:nvPicPr>
          <p:cNvPr id="19" name="Graphic 18" descr="North America with solid fill">
            <a:extLst>
              <a:ext uri="{FF2B5EF4-FFF2-40B4-BE49-F238E27FC236}">
                <a16:creationId xmlns:a16="http://schemas.microsoft.com/office/drawing/2014/main" id="{87588563-71EE-BAFC-0677-E16509C4A27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7052" y="1078827"/>
            <a:ext cx="636959" cy="6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E5D71-08B1-A5DD-B8E5-6740575F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9141DD8-1157-B779-171A-BA8B1CD4A3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0985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141DD8-1157-B779-171A-BA8B1CD4A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B2CBE7-16F9-2899-FF38-5602FDA3FD51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D708D-FB11-90D3-628C-FB24DCC7A448}"/>
              </a:ext>
            </a:extLst>
          </p:cNvPr>
          <p:cNvSpPr txBox="1"/>
          <p:nvPr/>
        </p:nvSpPr>
        <p:spPr>
          <a:xfrm>
            <a:off x="374753" y="-19084"/>
            <a:ext cx="1053550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Executive</a:t>
            </a:r>
            <a:r>
              <a:rPr lang="en-US" sz="25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Summary</a:t>
            </a:r>
            <a:r>
              <a:rPr lang="en-US" sz="250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097" name="Text Placeholder 2">
            <a:extLst>
              <a:ext uri="{FF2B5EF4-FFF2-40B4-BE49-F238E27FC236}">
                <a16:creationId xmlns:a16="http://schemas.microsoft.com/office/drawing/2014/main" id="{EAD9F9B3-56DD-F8B9-C09B-FF1CCEDDFCD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0439544" y="5274068"/>
            <a:ext cx="2857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1000"/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BF28350A-99D5-3780-21B4-62DEB132D6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B46DD6E-00AE-490B-E5E2-1B198EF06858}"/>
              </a:ext>
            </a:extLst>
          </p:cNvPr>
          <p:cNvSpPr txBox="1"/>
          <p:nvPr/>
        </p:nvSpPr>
        <p:spPr>
          <a:xfrm>
            <a:off x="1446907" y="6289301"/>
            <a:ext cx="112236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/>
              <a:t>IMPACT</a:t>
            </a:r>
            <a:endParaRPr lang="en-US"/>
          </a:p>
        </p:txBody>
      </p:sp>
      <p:sp>
        <p:nvSpPr>
          <p:cNvPr id="19" name="TextBox 55">
            <a:extLst>
              <a:ext uri="{FF2B5EF4-FFF2-40B4-BE49-F238E27FC236}">
                <a16:creationId xmlns:a16="http://schemas.microsoft.com/office/drawing/2014/main" id="{CBB8AB6F-4416-9BE0-C146-0EB0250D7C2D}"/>
              </a:ext>
            </a:extLst>
          </p:cNvPr>
          <p:cNvSpPr txBox="1"/>
          <p:nvPr/>
        </p:nvSpPr>
        <p:spPr>
          <a:xfrm>
            <a:off x="2594255" y="2108553"/>
            <a:ext cx="3129986" cy="138499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How can Netflix </a:t>
            </a:r>
            <a:r>
              <a:rPr lang="en-US" sz="1400" b="1" dirty="0"/>
              <a:t>expand complementary revenue streams</a:t>
            </a:r>
            <a:r>
              <a:rPr lang="en-US" sz="1400" dirty="0"/>
              <a:t> to enhance </a:t>
            </a:r>
            <a:r>
              <a:rPr lang="en-US" sz="1400" b="1" dirty="0"/>
              <a:t>long-term</a:t>
            </a:r>
            <a:r>
              <a:rPr lang="en-US" sz="1400" dirty="0"/>
              <a:t> growth while staying </a:t>
            </a:r>
            <a:r>
              <a:rPr lang="en-US" sz="1400" b="1" dirty="0"/>
              <a:t>true to its entertainment ecosystem</a:t>
            </a:r>
            <a:r>
              <a:rPr lang="en-US" sz="1400" dirty="0"/>
              <a:t>?</a:t>
            </a:r>
            <a:endParaRPr lang="en-US" sz="1400"/>
          </a:p>
          <a:p>
            <a:pPr algn="ctr"/>
            <a:endParaRPr lang="en-US" sz="140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FD42119C-AA68-2474-6E44-808DEB0595E1}"/>
              </a:ext>
            </a:extLst>
          </p:cNvPr>
          <p:cNvSpPr txBox="1"/>
          <p:nvPr/>
        </p:nvSpPr>
        <p:spPr>
          <a:xfrm>
            <a:off x="2854333" y="5542174"/>
            <a:ext cx="2725209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>
                <a:solidFill>
                  <a:srgbClr val="C00000"/>
                </a:solidFill>
              </a:rPr>
              <a:t>10% - 15% </a:t>
            </a:r>
          </a:p>
          <a:p>
            <a:pPr algn="ctr"/>
            <a:r>
              <a:rPr lang="en-US" sz="1400"/>
              <a:t>increase in total annual revenue</a:t>
            </a:r>
            <a:endParaRPr lang="en-US"/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F5CD6C13-AAE2-690E-3400-12B215DCE78B}"/>
              </a:ext>
            </a:extLst>
          </p:cNvPr>
          <p:cNvSpPr txBox="1"/>
          <p:nvPr/>
        </p:nvSpPr>
        <p:spPr>
          <a:xfrm>
            <a:off x="1486982" y="1771783"/>
            <a:ext cx="69706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VISION</a:t>
            </a:r>
            <a:endParaRPr lang="en-US"/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A7EA79D2-4B0B-562F-2ED2-42F05B6EFBF0}"/>
              </a:ext>
            </a:extLst>
          </p:cNvPr>
          <p:cNvSpPr txBox="1"/>
          <p:nvPr/>
        </p:nvSpPr>
        <p:spPr>
          <a:xfrm>
            <a:off x="1532795" y="3276258"/>
            <a:ext cx="112236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QUESTION</a:t>
            </a:r>
          </a:p>
        </p:txBody>
      </p:sp>
      <p:sp>
        <p:nvSpPr>
          <p:cNvPr id="29" name="TextBox 39">
            <a:extLst>
              <a:ext uri="{FF2B5EF4-FFF2-40B4-BE49-F238E27FC236}">
                <a16:creationId xmlns:a16="http://schemas.microsoft.com/office/drawing/2014/main" id="{188B0758-BB82-4EF5-E2E4-F92C9CB1A8AD}"/>
              </a:ext>
            </a:extLst>
          </p:cNvPr>
          <p:cNvSpPr txBox="1"/>
          <p:nvPr/>
        </p:nvSpPr>
        <p:spPr>
          <a:xfrm>
            <a:off x="1486981" y="4778433"/>
            <a:ext cx="112236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SOLUTION</a:t>
            </a:r>
            <a:endParaRPr lang="en-US"/>
          </a:p>
        </p:txBody>
      </p:sp>
      <p:sp>
        <p:nvSpPr>
          <p:cNvPr id="31" name="TextBox 44">
            <a:extLst>
              <a:ext uri="{FF2B5EF4-FFF2-40B4-BE49-F238E27FC236}">
                <a16:creationId xmlns:a16="http://schemas.microsoft.com/office/drawing/2014/main" id="{B3156396-0E2D-B8F1-FBFC-B599737C29DE}"/>
              </a:ext>
            </a:extLst>
          </p:cNvPr>
          <p:cNvSpPr txBox="1"/>
          <p:nvPr/>
        </p:nvSpPr>
        <p:spPr>
          <a:xfrm>
            <a:off x="2565003" y="889750"/>
            <a:ext cx="9414844" cy="11387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b="1" i="1"/>
          </a:p>
          <a:p>
            <a:pPr algn="ctr"/>
            <a:r>
              <a:rPr lang="en-SG" sz="1600" b="1" i="1">
                <a:solidFill>
                  <a:schemeClr val="bg1"/>
                </a:solidFill>
                <a:ea typeface="+mn-lt"/>
                <a:cs typeface="+mn-lt"/>
              </a:rPr>
              <a:t>To grow Netflix’s user base by attracting new audiences, increase viewer engagement through interactive features, and create additional revenue streams beyond subscriptions</a:t>
            </a:r>
            <a:endParaRPr lang="en-SG" sz="1600" b="1" i="1">
              <a:solidFill>
                <a:schemeClr val="bg1"/>
              </a:solidFill>
            </a:endParaRPr>
          </a:p>
          <a:p>
            <a:pPr algn="ctr"/>
            <a:endParaRPr lang="en-SG" b="1" i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E6784D-FAC9-97AA-BE10-E9015D001A0B}"/>
              </a:ext>
            </a:extLst>
          </p:cNvPr>
          <p:cNvSpPr txBox="1"/>
          <p:nvPr/>
        </p:nvSpPr>
        <p:spPr>
          <a:xfrm>
            <a:off x="112238" y="3276095"/>
            <a:ext cx="152400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000" b="1" i="1">
                <a:latin typeface="Aptos"/>
              </a:rPr>
              <a:t>Netflix</a:t>
            </a:r>
            <a:endParaRPr lang="en-US" sz="2000" i="1"/>
          </a:p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8DCA17-AF7B-E1A6-33B7-91D428384DB4}"/>
              </a:ext>
            </a:extLst>
          </p:cNvPr>
          <p:cNvGrpSpPr/>
          <p:nvPr/>
        </p:nvGrpSpPr>
        <p:grpSpPr>
          <a:xfrm>
            <a:off x="1412997" y="880015"/>
            <a:ext cx="886046" cy="886046"/>
            <a:chOff x="1308115" y="880015"/>
            <a:chExt cx="886046" cy="886046"/>
          </a:xfrm>
        </p:grpSpPr>
        <p:pic>
          <p:nvPicPr>
            <p:cNvPr id="22" name="Graphic 24" descr="Bullseye with solid fill">
              <a:extLst>
                <a:ext uri="{FF2B5EF4-FFF2-40B4-BE49-F238E27FC236}">
                  <a16:creationId xmlns:a16="http://schemas.microsoft.com/office/drawing/2014/main" id="{BEC72EB6-9BF0-9FC9-B50E-7DD63F2D7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81687" y="955558"/>
              <a:ext cx="734961" cy="735642"/>
            </a:xfrm>
            <a:prstGeom prst="rect">
              <a:avLst/>
            </a:prstGeom>
          </p:spPr>
        </p:pic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5383E0B-FBC8-1437-3B3C-9BAD0A3C971E}"/>
                </a:ext>
              </a:extLst>
            </p:cNvPr>
            <p:cNvSpPr/>
            <p:nvPr/>
          </p:nvSpPr>
          <p:spPr>
            <a:xfrm>
              <a:off x="1308115" y="880015"/>
              <a:ext cx="886046" cy="88604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24722AB-6EE0-C879-80A1-00E3CF9942F3}"/>
              </a:ext>
            </a:extLst>
          </p:cNvPr>
          <p:cNvGrpSpPr/>
          <p:nvPr/>
        </p:nvGrpSpPr>
        <p:grpSpPr>
          <a:xfrm>
            <a:off x="1412997" y="2319514"/>
            <a:ext cx="886046" cy="886046"/>
            <a:chOff x="1412997" y="2319514"/>
            <a:chExt cx="886046" cy="886046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68CD680-8962-B698-5BEE-0CE060DE113F}"/>
                </a:ext>
              </a:extLst>
            </p:cNvPr>
            <p:cNvSpPr/>
            <p:nvPr/>
          </p:nvSpPr>
          <p:spPr>
            <a:xfrm>
              <a:off x="1412997" y="2319514"/>
              <a:ext cx="886046" cy="88604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Graphic 57" descr="Question Mark with solid fill">
              <a:extLst>
                <a:ext uri="{FF2B5EF4-FFF2-40B4-BE49-F238E27FC236}">
                  <a16:creationId xmlns:a16="http://schemas.microsoft.com/office/drawing/2014/main" id="{CDE11AA0-7BD9-E627-2648-BD976A422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26107" y="2457998"/>
              <a:ext cx="672360" cy="61566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1D0365-B5C3-A553-F6F8-1FA85BF55D6F}"/>
              </a:ext>
            </a:extLst>
          </p:cNvPr>
          <p:cNvGrpSpPr/>
          <p:nvPr/>
        </p:nvGrpSpPr>
        <p:grpSpPr>
          <a:xfrm>
            <a:off x="1412997" y="5278545"/>
            <a:ext cx="886046" cy="886046"/>
            <a:chOff x="1403008" y="5278545"/>
            <a:chExt cx="886046" cy="886046"/>
          </a:xfrm>
        </p:grpSpPr>
        <p:pic>
          <p:nvPicPr>
            <p:cNvPr id="28" name="Graphic 38" descr="Atom with solid fill">
              <a:extLst>
                <a:ext uri="{FF2B5EF4-FFF2-40B4-BE49-F238E27FC236}">
                  <a16:creationId xmlns:a16="http://schemas.microsoft.com/office/drawing/2014/main" id="{426CB660-6372-CE1B-C69A-B6596A986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0613" y="5354087"/>
              <a:ext cx="789483" cy="727023"/>
            </a:xfrm>
            <a:prstGeom prst="rect">
              <a:avLst/>
            </a:prstGeom>
          </p:spPr>
        </p:pic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F22EA16-DC60-22B0-98E1-0DE40E33F0C9}"/>
                </a:ext>
              </a:extLst>
            </p:cNvPr>
            <p:cNvSpPr/>
            <p:nvPr/>
          </p:nvSpPr>
          <p:spPr>
            <a:xfrm>
              <a:off x="1403008" y="5278545"/>
              <a:ext cx="886046" cy="88604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291176-50C6-3B3A-2FF3-3CD174963B5F}"/>
              </a:ext>
            </a:extLst>
          </p:cNvPr>
          <p:cNvGrpSpPr/>
          <p:nvPr/>
        </p:nvGrpSpPr>
        <p:grpSpPr>
          <a:xfrm>
            <a:off x="1412997" y="3827596"/>
            <a:ext cx="886046" cy="886046"/>
            <a:chOff x="1408532" y="3827596"/>
            <a:chExt cx="886046" cy="886046"/>
          </a:xfrm>
        </p:grpSpPr>
        <p:pic>
          <p:nvPicPr>
            <p:cNvPr id="27" name="Graphic 37" descr="Lightbulb with solid fill">
              <a:extLst>
                <a:ext uri="{FF2B5EF4-FFF2-40B4-BE49-F238E27FC236}">
                  <a16:creationId xmlns:a16="http://schemas.microsoft.com/office/drawing/2014/main" id="{942C6BE3-D59D-05A8-17E3-4959B6879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83980" y="3919225"/>
              <a:ext cx="727555" cy="720974"/>
            </a:xfrm>
            <a:prstGeom prst="rect">
              <a:avLst/>
            </a:prstGeom>
          </p:spPr>
        </p:pic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9A0A659-9DB7-83DD-F385-24889131E94B}"/>
                </a:ext>
              </a:extLst>
            </p:cNvPr>
            <p:cNvSpPr/>
            <p:nvPr/>
          </p:nvSpPr>
          <p:spPr>
            <a:xfrm>
              <a:off x="1408532" y="3827596"/>
              <a:ext cx="886046" cy="88604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55">
            <a:extLst>
              <a:ext uri="{FF2B5EF4-FFF2-40B4-BE49-F238E27FC236}">
                <a16:creationId xmlns:a16="http://schemas.microsoft.com/office/drawing/2014/main" id="{3889E329-9E90-5350-F2F0-B8DBE6C1B2B9}"/>
              </a:ext>
            </a:extLst>
          </p:cNvPr>
          <p:cNvSpPr txBox="1"/>
          <p:nvPr/>
        </p:nvSpPr>
        <p:spPr>
          <a:xfrm>
            <a:off x="5726372" y="2108422"/>
            <a:ext cx="3124417" cy="138499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b="1" dirty="0"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How can Netflix deepen engagement into </a:t>
            </a:r>
            <a:r>
              <a:rPr lang="en-US" sz="1400" b="1" dirty="0">
                <a:ea typeface="+mn-lt"/>
                <a:cs typeface="+mn-lt"/>
              </a:rPr>
              <a:t>an immersive, interactive, and emotionally resonant </a:t>
            </a:r>
            <a:r>
              <a:rPr lang="en-US" sz="1400" dirty="0">
                <a:ea typeface="+mn-lt"/>
                <a:cs typeface="+mn-lt"/>
              </a:rPr>
              <a:t>journey?</a:t>
            </a:r>
            <a:endParaRPr lang="en-US" dirty="0"/>
          </a:p>
          <a:p>
            <a:pPr algn="ctr"/>
            <a:endParaRPr lang="en-US" sz="1400" dirty="0"/>
          </a:p>
          <a:p>
            <a:pPr algn="ctr"/>
            <a:endParaRPr lang="en-US" sz="1400"/>
          </a:p>
        </p:txBody>
      </p:sp>
      <p:sp>
        <p:nvSpPr>
          <p:cNvPr id="4" name="TextBox 55">
            <a:extLst>
              <a:ext uri="{FF2B5EF4-FFF2-40B4-BE49-F238E27FC236}">
                <a16:creationId xmlns:a16="http://schemas.microsoft.com/office/drawing/2014/main" id="{F1ECF761-BBB9-DAF8-EA89-4068504B3858}"/>
              </a:ext>
            </a:extLst>
          </p:cNvPr>
          <p:cNvSpPr txBox="1"/>
          <p:nvPr/>
        </p:nvSpPr>
        <p:spPr>
          <a:xfrm>
            <a:off x="8849861" y="2107025"/>
            <a:ext cx="3129986" cy="138499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/>
          </a:p>
          <a:p>
            <a:pPr algn="ctr"/>
            <a:r>
              <a:rPr lang="en-US" sz="1400" dirty="0"/>
              <a:t>How can </a:t>
            </a:r>
            <a:r>
              <a:rPr lang="en-US" sz="1400" b="1" dirty="0"/>
              <a:t>cinematic sensory experiences</a:t>
            </a:r>
            <a:r>
              <a:rPr lang="en-US" sz="1400" dirty="0"/>
              <a:t> help Netflix stand out in a saturated market and retain more users?</a:t>
            </a:r>
            <a:endParaRPr lang="en-US"/>
          </a:p>
          <a:p>
            <a:pPr algn="ctr"/>
            <a:endParaRPr lang="en-US" sz="1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8397D4-D1E3-8B9B-0D46-8DBD26D69325}"/>
              </a:ext>
            </a:extLst>
          </p:cNvPr>
          <p:cNvSpPr/>
          <p:nvPr/>
        </p:nvSpPr>
        <p:spPr>
          <a:xfrm>
            <a:off x="-2882231" y="729153"/>
            <a:ext cx="4059114" cy="53959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CDD9F0-A4A1-FC97-B3C2-5B7CCA1AB1E7}"/>
              </a:ext>
            </a:extLst>
          </p:cNvPr>
          <p:cNvCxnSpPr>
            <a:cxnSpLocks/>
          </p:cNvCxnSpPr>
          <p:nvPr/>
        </p:nvCxnSpPr>
        <p:spPr>
          <a:xfrm flipV="1">
            <a:off x="462196" y="1377387"/>
            <a:ext cx="938341" cy="15448"/>
          </a:xfrm>
          <a:prstGeom prst="straightConnector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FBAC9B-6B75-5A2F-C517-7FB8992E467E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218606" y="5721568"/>
            <a:ext cx="1194391" cy="12166"/>
          </a:xfrm>
          <a:prstGeom prst="straightConnector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852062-89D9-DC4E-7079-F1DB859FF669}"/>
              </a:ext>
            </a:extLst>
          </p:cNvPr>
          <p:cNvCxnSpPr>
            <a:cxnSpLocks/>
          </p:cNvCxnSpPr>
          <p:nvPr/>
        </p:nvCxnSpPr>
        <p:spPr>
          <a:xfrm flipV="1">
            <a:off x="1116107" y="2813277"/>
            <a:ext cx="299804" cy="6245"/>
          </a:xfrm>
          <a:prstGeom prst="straightConnector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3E51F43-D51A-353D-1480-C5F2E7082943}"/>
              </a:ext>
            </a:extLst>
          </p:cNvPr>
          <p:cNvCxnSpPr>
            <a:cxnSpLocks/>
          </p:cNvCxnSpPr>
          <p:nvPr/>
        </p:nvCxnSpPr>
        <p:spPr>
          <a:xfrm flipV="1">
            <a:off x="1030573" y="4272195"/>
            <a:ext cx="368508" cy="6246"/>
          </a:xfrm>
          <a:prstGeom prst="straightConnector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DB8B60-D503-6F90-F71C-D7FBA5288C5A}"/>
              </a:ext>
            </a:extLst>
          </p:cNvPr>
          <p:cNvSpPr/>
          <p:nvPr/>
        </p:nvSpPr>
        <p:spPr>
          <a:xfrm>
            <a:off x="374753" y="1305393"/>
            <a:ext cx="174885" cy="17488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D3D534-342E-8528-7130-896E59509569}"/>
              </a:ext>
            </a:extLst>
          </p:cNvPr>
          <p:cNvSpPr/>
          <p:nvPr/>
        </p:nvSpPr>
        <p:spPr>
          <a:xfrm>
            <a:off x="1027139" y="2761163"/>
            <a:ext cx="174885" cy="17488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E35EA6-4FF5-9303-80A1-49539BA0CA02}"/>
              </a:ext>
            </a:extLst>
          </p:cNvPr>
          <p:cNvSpPr/>
          <p:nvPr/>
        </p:nvSpPr>
        <p:spPr>
          <a:xfrm>
            <a:off x="980605" y="4184753"/>
            <a:ext cx="174885" cy="17488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EA8871-26DE-396A-46EE-B1817F7208E6}"/>
              </a:ext>
            </a:extLst>
          </p:cNvPr>
          <p:cNvSpPr/>
          <p:nvPr/>
        </p:nvSpPr>
        <p:spPr>
          <a:xfrm>
            <a:off x="112425" y="5627557"/>
            <a:ext cx="174885" cy="17488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141A53-FEBB-2A9A-0DF7-E50C8104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13285"/>
              </p:ext>
            </p:extLst>
          </p:nvPr>
        </p:nvGraphicFramePr>
        <p:xfrm>
          <a:off x="3279598" y="3826589"/>
          <a:ext cx="805620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403">
                  <a:extLst>
                    <a:ext uri="{9D8B030D-6E8A-4147-A177-3AD203B41FA5}">
                      <a16:colId xmlns:a16="http://schemas.microsoft.com/office/drawing/2014/main" val="2512189878"/>
                    </a:ext>
                  </a:extLst>
                </a:gridCol>
                <a:gridCol w="2685403">
                  <a:extLst>
                    <a:ext uri="{9D8B030D-6E8A-4147-A177-3AD203B41FA5}">
                      <a16:colId xmlns:a16="http://schemas.microsoft.com/office/drawing/2014/main" val="306376623"/>
                    </a:ext>
                  </a:extLst>
                </a:gridCol>
                <a:gridCol w="2685403">
                  <a:extLst>
                    <a:ext uri="{9D8B030D-6E8A-4147-A177-3AD203B41FA5}">
                      <a16:colId xmlns:a16="http://schemas.microsoft.com/office/drawing/2014/main" val="1348784472"/>
                    </a:ext>
                  </a:extLst>
                </a:gridCol>
              </a:tblGrid>
              <a:tr h="3196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73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The "SIS" Strategy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730D0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73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85549"/>
                  </a:ext>
                </a:extLst>
              </a:tr>
              <a:tr h="892931">
                <a:tc>
                  <a:txBody>
                    <a:bodyPr/>
                    <a:lstStyle/>
                    <a:p>
                      <a:pPr algn="ctr"/>
                      <a:r>
                        <a:rPr lang="en-US" b="1" i="1"/>
                        <a:t>Shoppable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latin typeface="Aptos"/>
                        </a:rPr>
                        <a:t>Seamless in-app purchasing of featured products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/>
                        <a:t>Integration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latin typeface="Aptos"/>
                        </a:rPr>
                        <a:t>Connecting services for enhanced user experience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/>
                        <a:t>Smart</a:t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Aptos"/>
                        </a:rPr>
                        <a:t>Intelligent tech powering personalized interactions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98778"/>
                  </a:ext>
                </a:extLst>
              </a:tr>
            </a:tbl>
          </a:graphicData>
        </a:graphic>
      </p:graphicFrame>
      <p:sp>
        <p:nvSpPr>
          <p:cNvPr id="16" name="TextBox 6">
            <a:extLst>
              <a:ext uri="{FF2B5EF4-FFF2-40B4-BE49-F238E27FC236}">
                <a16:creationId xmlns:a16="http://schemas.microsoft.com/office/drawing/2014/main" id="{B33FA80A-8CC2-09A7-B81F-E1DB4F5FBEAB}"/>
              </a:ext>
            </a:extLst>
          </p:cNvPr>
          <p:cNvSpPr txBox="1"/>
          <p:nvPr/>
        </p:nvSpPr>
        <p:spPr>
          <a:xfrm>
            <a:off x="5579540" y="5542173"/>
            <a:ext cx="3741208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>
                <a:solidFill>
                  <a:srgbClr val="C00000"/>
                </a:solidFill>
              </a:rPr>
              <a:t>20% - 25% </a:t>
            </a:r>
          </a:p>
          <a:p>
            <a:pPr algn="ctr"/>
            <a:r>
              <a:rPr lang="en-US" sz="1400"/>
              <a:t>increase in average user engagement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2206527D-BFC1-5E9F-D044-99BE2B6D32B6}"/>
              </a:ext>
            </a:extLst>
          </p:cNvPr>
          <p:cNvSpPr txBox="1"/>
          <p:nvPr/>
        </p:nvSpPr>
        <p:spPr>
          <a:xfrm>
            <a:off x="9193748" y="5505130"/>
            <a:ext cx="2492375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>
                <a:solidFill>
                  <a:srgbClr val="C00000"/>
                </a:solidFill>
              </a:rPr>
              <a:t>12%</a:t>
            </a:r>
            <a:endParaRPr lang="en-US" sz="2000" i="1">
              <a:solidFill>
                <a:srgbClr val="C00000"/>
              </a:solidFill>
            </a:endParaRPr>
          </a:p>
          <a:p>
            <a:pPr algn="ctr"/>
            <a:r>
              <a:rPr lang="en-US" sz="1400"/>
              <a:t>decrease in Churn Rates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1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B6BF-F37D-12A3-19D5-9A15EDE6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06D014D-F4D0-B0A5-D3FB-011323810F6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69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6D014D-F4D0-B0A5-D3FB-011323810F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DC55B4E0-9FEF-E92A-4C2A-4F45E8D5D439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 descr="Netflix | Brand Assets | Logos">
            <a:extLst>
              <a:ext uri="{FF2B5EF4-FFF2-40B4-BE49-F238E27FC236}">
                <a16:creationId xmlns:a16="http://schemas.microsoft.com/office/drawing/2014/main" id="{2CE80A5F-919D-7CD2-A412-A1D3156E5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53DF67-6A63-1B4A-CF47-24DF11CDF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69" y="893323"/>
            <a:ext cx="4796915" cy="3693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1600" b="1"/>
              <a:t>Strategic Misalignment with Core Identity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60BCD8-992B-8D32-D1D3-9B34970C1245}"/>
              </a:ext>
            </a:extLst>
          </p:cNvPr>
          <p:cNvCxnSpPr>
            <a:cxnSpLocks/>
          </p:cNvCxnSpPr>
          <p:nvPr/>
        </p:nvCxnSpPr>
        <p:spPr>
          <a:xfrm>
            <a:off x="1034022" y="1246096"/>
            <a:ext cx="420820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8FFAFF5-409F-ECA7-EB46-3672755CCD47}"/>
              </a:ext>
            </a:extLst>
          </p:cNvPr>
          <p:cNvSpPr txBox="1">
            <a:spLocks/>
          </p:cNvSpPr>
          <p:nvPr/>
        </p:nvSpPr>
        <p:spPr>
          <a:xfrm>
            <a:off x="706688" y="2649648"/>
            <a:ext cx="4796915" cy="33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/>
              <a:t>High Financial Risk and Low Profitability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014C53-4FD5-DF2F-F1FD-1E6849C2AA8B}"/>
              </a:ext>
            </a:extLst>
          </p:cNvPr>
          <p:cNvCxnSpPr>
            <a:cxnSpLocks/>
          </p:cNvCxnSpPr>
          <p:nvPr/>
        </p:nvCxnSpPr>
        <p:spPr>
          <a:xfrm>
            <a:off x="1034022" y="3016881"/>
            <a:ext cx="420820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614ECFC9-2BE0-EB69-55CC-854769E4CC07}"/>
              </a:ext>
            </a:extLst>
          </p:cNvPr>
          <p:cNvSpPr txBox="1">
            <a:spLocks/>
          </p:cNvSpPr>
          <p:nvPr/>
        </p:nvSpPr>
        <p:spPr>
          <a:xfrm>
            <a:off x="640055" y="4005788"/>
            <a:ext cx="4996139" cy="370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/>
              <a:t>Operational and Market Challenges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B4CA70-4E01-2B9A-392C-2CF5352476BE}"/>
              </a:ext>
            </a:extLst>
          </p:cNvPr>
          <p:cNvCxnSpPr>
            <a:cxnSpLocks/>
          </p:cNvCxnSpPr>
          <p:nvPr/>
        </p:nvCxnSpPr>
        <p:spPr>
          <a:xfrm>
            <a:off x="1034022" y="4348952"/>
            <a:ext cx="420820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590438-785E-371F-C5B8-EACDB810A7EB}"/>
              </a:ext>
            </a:extLst>
          </p:cNvPr>
          <p:cNvSpPr txBox="1"/>
          <p:nvPr/>
        </p:nvSpPr>
        <p:spPr>
          <a:xfrm>
            <a:off x="353522" y="1306159"/>
            <a:ext cx="5404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/>
              <a:t>Sports broadcasting conflicts with Netflix’s </a:t>
            </a:r>
            <a:r>
              <a:rPr lang="en-SG" sz="1200" b="1"/>
              <a:t>on-demand, storytelling-driven model</a:t>
            </a:r>
            <a:r>
              <a:rPr lang="en-SG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/>
              <a:t>Shifts focus away from </a:t>
            </a:r>
            <a:r>
              <a:rPr lang="en-SG" sz="1200" b="1"/>
              <a:t>original, owned IP</a:t>
            </a:r>
            <a:r>
              <a:rPr lang="en-SG" sz="1200"/>
              <a:t> toward </a:t>
            </a:r>
            <a:r>
              <a:rPr lang="en-SG" sz="1200" b="1"/>
              <a:t>expensive, time-limited rights</a:t>
            </a:r>
            <a:r>
              <a:rPr lang="en-SG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Netflix Originals make up 55% of its content library, reinforcing its brand as a </a:t>
            </a:r>
            <a:r>
              <a:rPr lang="en-US" sz="1200" b="1"/>
              <a:t>creative entertainment innovator rather than a live broadcaster</a:t>
            </a:r>
            <a:r>
              <a:rPr lang="en-US" sz="1200"/>
              <a:t>.</a:t>
            </a:r>
            <a:endParaRPr lang="en-SG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D0465-E173-E668-7B42-C4C22C3187C3}"/>
              </a:ext>
            </a:extLst>
          </p:cNvPr>
          <p:cNvSpPr txBox="1"/>
          <p:nvPr/>
        </p:nvSpPr>
        <p:spPr>
          <a:xfrm>
            <a:off x="371475" y="3069831"/>
            <a:ext cx="564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Sports rights are extremely costly</a:t>
            </a:r>
            <a:r>
              <a:rPr lang="en-US" sz="1200"/>
              <a:t> and must be renewed frequently.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Profit margins are thin</a:t>
            </a:r>
            <a:r>
              <a:rPr lang="en-US" sz="1200"/>
              <a:t> due to unpredictable viewership and high licensing fees.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Investing in sports diverts resources from </a:t>
            </a:r>
            <a:r>
              <a:rPr lang="en-US" sz="1200" b="1"/>
              <a:t>higher-ROI opportunities</a:t>
            </a:r>
            <a:r>
              <a:rPr lang="en-US" sz="1200"/>
              <a:t> like </a:t>
            </a:r>
            <a:r>
              <a:rPr lang="en-US" sz="1200" b="1"/>
              <a:t>global</a:t>
            </a:r>
            <a:r>
              <a:rPr lang="en-US" sz="1200"/>
              <a:t> </a:t>
            </a:r>
            <a:r>
              <a:rPr lang="en-US" sz="1200" b="1"/>
              <a:t>content creation and AI innovation</a:t>
            </a:r>
            <a:r>
              <a:rPr lang="en-US" sz="120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728A60-CF68-123D-A614-1B0B9B8183E1}"/>
              </a:ext>
            </a:extLst>
          </p:cNvPr>
          <p:cNvSpPr txBox="1"/>
          <p:nvPr/>
        </p:nvSpPr>
        <p:spPr>
          <a:xfrm>
            <a:off x="386497" y="4407672"/>
            <a:ext cx="5730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Requires </a:t>
            </a:r>
            <a:r>
              <a:rPr lang="en-US" sz="1200" b="1"/>
              <a:t>new live-streaming infrastructure</a:t>
            </a:r>
            <a:r>
              <a:rPr lang="en-US" sz="1200"/>
              <a:t> and real-time production capabilities.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Faces </a:t>
            </a:r>
            <a:r>
              <a:rPr lang="en-US" sz="1200" b="1"/>
              <a:t>strong competition</a:t>
            </a:r>
            <a:r>
              <a:rPr lang="en-US" sz="1200"/>
              <a:t> from established players like ESPN, Amazon, and Apple.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Limited global scalability</a:t>
            </a:r>
            <a:r>
              <a:rPr lang="en-US" sz="1200"/>
              <a:t> due to most sports rights being </a:t>
            </a:r>
            <a:r>
              <a:rPr lang="en-US" sz="1200" b="1"/>
              <a:t>region-specific</a:t>
            </a:r>
            <a:r>
              <a:rPr lang="en-US" sz="1200"/>
              <a:t>, reducing Netflix’s global advantage.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0BB35D-60C2-17C4-C672-A95263261EC5}"/>
              </a:ext>
            </a:extLst>
          </p:cNvPr>
          <p:cNvSpPr txBox="1"/>
          <p:nvPr/>
        </p:nvSpPr>
        <p:spPr>
          <a:xfrm>
            <a:off x="1034616" y="5703887"/>
            <a:ext cx="10144434" cy="58477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/>
              <a:t>Sports dilutes Netflix’s creative brand</a:t>
            </a:r>
            <a:r>
              <a:rPr lang="en-US" sz="1600"/>
              <a:t> built around storytelling, originality, and cinematic quality.</a:t>
            </a:r>
          </a:p>
          <a:p>
            <a:pPr algn="ctr"/>
            <a:r>
              <a:rPr lang="en-US" sz="1600"/>
              <a:t>Our </a:t>
            </a:r>
            <a:r>
              <a:rPr lang="en-US" sz="1600" b="1"/>
              <a:t>“SIS” strategy </a:t>
            </a:r>
            <a:r>
              <a:rPr lang="en-US" sz="1600"/>
              <a:t>will preserve the Netflix creative brand.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E83FA9C1-B4A8-879D-B016-DB4F1DF96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3522" y="56416"/>
            <a:ext cx="81291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1800" b="1" dirty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Prioritizing Core Strengths: Entertainment Innovation Over Sports Expansion</a:t>
            </a:r>
            <a:endParaRPr lang="en-US" altLang="en-US" sz="1800" b="1" dirty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5" name="Content Placeholder 4">
            <a:extLst>
              <a:ext uri="{FF2B5EF4-FFF2-40B4-BE49-F238E27FC236}">
                <a16:creationId xmlns:a16="http://schemas.microsoft.com/office/drawing/2014/main" id="{C327E0CB-1156-9B9B-6BA6-58682DE834C2}"/>
              </a:ext>
            </a:extLst>
          </p:cNvPr>
          <p:cNvSpPr txBox="1">
            <a:spLocks/>
          </p:cNvSpPr>
          <p:nvPr/>
        </p:nvSpPr>
        <p:spPr>
          <a:xfrm>
            <a:off x="324587" y="6382477"/>
            <a:ext cx="4796915" cy="369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000" b="1"/>
              <a:t>Source: </a:t>
            </a:r>
            <a:r>
              <a:rPr lang="en-SG" sz="1000" b="1">
                <a:hlinkClick r:id="rId13"/>
              </a:rPr>
              <a:t>Fortune</a:t>
            </a:r>
            <a:endParaRPr lang="en-SG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2A4741-19D8-5066-0121-7FB0936E6AEC}"/>
              </a:ext>
            </a:extLst>
          </p:cNvPr>
          <p:cNvCxnSpPr>
            <a:cxnSpLocks/>
          </p:cNvCxnSpPr>
          <p:nvPr/>
        </p:nvCxnSpPr>
        <p:spPr>
          <a:xfrm>
            <a:off x="6106274" y="818649"/>
            <a:ext cx="0" cy="186163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43D8E5-F9D0-B21F-7EC0-C9AC53AB4F33}"/>
              </a:ext>
            </a:extLst>
          </p:cNvPr>
          <p:cNvCxnSpPr>
            <a:cxnSpLocks/>
          </p:cNvCxnSpPr>
          <p:nvPr/>
        </p:nvCxnSpPr>
        <p:spPr>
          <a:xfrm>
            <a:off x="6116637" y="3453012"/>
            <a:ext cx="0" cy="186163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3676CCAC-5C1A-8D72-B9C7-5196687E809E}"/>
              </a:ext>
            </a:extLst>
          </p:cNvPr>
          <p:cNvSpPr/>
          <p:nvPr/>
        </p:nvSpPr>
        <p:spPr>
          <a:xfrm>
            <a:off x="6000110" y="2787040"/>
            <a:ext cx="323110" cy="424400"/>
          </a:xfrm>
          <a:prstGeom prst="chevron">
            <a:avLst>
              <a:gd name="adj" fmla="val 527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221D8376-8EBB-C2A3-8EE1-026901757406}"/>
              </a:ext>
            </a:extLst>
          </p:cNvPr>
          <p:cNvSpPr txBox="1">
            <a:spLocks/>
          </p:cNvSpPr>
          <p:nvPr/>
        </p:nvSpPr>
        <p:spPr>
          <a:xfrm>
            <a:off x="6779052" y="888008"/>
            <a:ext cx="4796915" cy="3693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SG" sz="2600" b="1"/>
              <a:t>While Netflix Can Win Big with the Right Framework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A8F537-7C03-29C4-AD2D-C88408418369}"/>
              </a:ext>
            </a:extLst>
          </p:cNvPr>
          <p:cNvCxnSpPr>
            <a:cxnSpLocks/>
          </p:cNvCxnSpPr>
          <p:nvPr/>
        </p:nvCxnSpPr>
        <p:spPr>
          <a:xfrm>
            <a:off x="7073405" y="1224452"/>
            <a:ext cx="420820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38B54B9-B605-DD03-4DFA-3E42BEBA0E9A}"/>
              </a:ext>
            </a:extLst>
          </p:cNvPr>
          <p:cNvSpPr txBox="1"/>
          <p:nvPr/>
        </p:nvSpPr>
        <p:spPr>
          <a:xfrm>
            <a:off x="7263379" y="1445725"/>
            <a:ext cx="440633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1200"/>
              <a:t>Leveraging </a:t>
            </a:r>
            <a:r>
              <a:rPr lang="en-SG" sz="1200" b="1">
                <a:solidFill>
                  <a:srgbClr val="FF0000"/>
                </a:solidFill>
              </a:rPr>
              <a:t>Storytelling Dominance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Sports games are </a:t>
            </a:r>
            <a:r>
              <a:rPr lang="en-US" sz="1200" b="1"/>
              <a:t>single-occurrence events, whereas </a:t>
            </a:r>
            <a:r>
              <a:rPr lang="en-US" sz="1200"/>
              <a:t>storytelling allows </a:t>
            </a:r>
            <a:r>
              <a:rPr lang="en-US" sz="1200" b="1"/>
              <a:t>content to be rewatched, shared, and merchandised</a:t>
            </a:r>
            <a:r>
              <a:rPr lang="en-US" sz="1200"/>
              <a:t>, maximizing lifetime value per viewer</a:t>
            </a:r>
            <a:endParaRPr lang="en-SG" sz="1200" b="1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Use </a:t>
            </a:r>
            <a:r>
              <a:rPr lang="en-US" sz="1200" b="1"/>
              <a:t>existing production pipelines</a:t>
            </a:r>
            <a:r>
              <a:rPr lang="en-US" sz="1200"/>
              <a:t> and technical capabilities for consistent high-quality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Netflix originals create </a:t>
            </a:r>
            <a:r>
              <a:rPr lang="en-US" sz="1200" b="1"/>
              <a:t>emotional attachment to characters and stories</a:t>
            </a:r>
            <a:r>
              <a:rPr lang="en-US" sz="1200"/>
              <a:t>, fostering global fandoms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AED1CE-0A35-8DDE-4CC8-DFB969A2201F}"/>
              </a:ext>
            </a:extLst>
          </p:cNvPr>
          <p:cNvSpPr txBox="1"/>
          <p:nvPr/>
        </p:nvSpPr>
        <p:spPr>
          <a:xfrm>
            <a:off x="7263379" y="3114470"/>
            <a:ext cx="433123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1200"/>
              <a:t>Creating Long-Term, </a:t>
            </a:r>
            <a:r>
              <a:rPr lang="en-SG" sz="1200" b="1">
                <a:solidFill>
                  <a:srgbClr val="FF0000"/>
                </a:solidFill>
              </a:rPr>
              <a:t>Low-Risk Monetization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/>
              <a:t>To </a:t>
            </a:r>
            <a:r>
              <a:rPr lang="en-SG" sz="1200" b="1"/>
              <a:t>avoid volatile ad-driven </a:t>
            </a:r>
            <a:r>
              <a:rPr lang="en-SG" sz="1200"/>
              <a:t>sports economics</a:t>
            </a:r>
            <a:endParaRPr lang="en-SG" sz="1200" b="1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Launch </a:t>
            </a:r>
            <a:r>
              <a:rPr lang="en-US" sz="1200" b="1"/>
              <a:t>shoppable ecosystems </a:t>
            </a:r>
            <a:r>
              <a:rPr lang="en-US" sz="1200"/>
              <a:t>tied to shows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Strengthen brand partnerships </a:t>
            </a:r>
            <a:r>
              <a:rPr lang="en-US" sz="1200"/>
              <a:t>for co-created campaigns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636A7B-90FF-4D87-321D-18D58FB51194}"/>
              </a:ext>
            </a:extLst>
          </p:cNvPr>
          <p:cNvSpPr txBox="1"/>
          <p:nvPr/>
        </p:nvSpPr>
        <p:spPr>
          <a:xfrm>
            <a:off x="7263379" y="4044552"/>
            <a:ext cx="462549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Immersive Storytelling </a:t>
            </a:r>
            <a:r>
              <a:rPr lang="en-US" sz="1200"/>
              <a:t>Beyond the Screen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Integrate Netflix with </a:t>
            </a:r>
            <a:r>
              <a:rPr lang="en-US" sz="1200" b="1"/>
              <a:t>smart home devices </a:t>
            </a:r>
            <a:r>
              <a:rPr lang="en-US" sz="1200"/>
              <a:t>for personalized, </a:t>
            </a:r>
            <a:r>
              <a:rPr lang="en-US" sz="1200" b="1"/>
              <a:t>seamless cinematic experiences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Offer AR experiences that make viewers </a:t>
            </a:r>
            <a:r>
              <a:rPr lang="en-US" sz="1200" b="1"/>
              <a:t>feel the characters’ journey firsthand</a:t>
            </a:r>
            <a:endParaRPr lang="en-US" sz="1200"/>
          </a:p>
        </p:txBody>
      </p:sp>
      <p:pic>
        <p:nvPicPr>
          <p:cNvPr id="38" name="Pic">
            <a:extLst>
              <a:ext uri="{FF2B5EF4-FFF2-40B4-BE49-F238E27FC236}">
                <a16:creationId xmlns:a16="http://schemas.microsoft.com/office/drawing/2014/main" id="{F23663E6-4497-52CA-A009-86DC4E750CC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6651625" y="4310063"/>
            <a:ext cx="479425" cy="4794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1" name="Pic">
            <a:extLst>
              <a:ext uri="{FF2B5EF4-FFF2-40B4-BE49-F238E27FC236}">
                <a16:creationId xmlns:a16="http://schemas.microsoft.com/office/drawing/2014/main" id="{D598F227-58D9-57A1-A395-E37C44212A53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6567488" y="1609725"/>
            <a:ext cx="514350" cy="5143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3" name="Pic">
            <a:extLst>
              <a:ext uri="{FF2B5EF4-FFF2-40B4-BE49-F238E27FC236}">
                <a16:creationId xmlns:a16="http://schemas.microsoft.com/office/drawing/2014/main" id="{FAE5649A-143F-B891-F013-8691F32C99D1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6618288" y="3135313"/>
            <a:ext cx="504825" cy="5048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5" name="Pic">
            <a:extLst>
              <a:ext uri="{FF2B5EF4-FFF2-40B4-BE49-F238E27FC236}">
                <a16:creationId xmlns:a16="http://schemas.microsoft.com/office/drawing/2014/main" id="{432CD9E8-608F-158C-9565-2A32BBC2F38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22288" y="2603500"/>
            <a:ext cx="361950" cy="3619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6" name="Content Placeholder 4">
            <a:extLst>
              <a:ext uri="{FF2B5EF4-FFF2-40B4-BE49-F238E27FC236}">
                <a16:creationId xmlns:a16="http://schemas.microsoft.com/office/drawing/2014/main" id="{97BB3820-445E-4B58-5EFC-40F82F1ED765}"/>
              </a:ext>
            </a:extLst>
          </p:cNvPr>
          <p:cNvSpPr txBox="1">
            <a:spLocks/>
          </p:cNvSpPr>
          <p:nvPr/>
        </p:nvSpPr>
        <p:spPr>
          <a:xfrm>
            <a:off x="616033" y="562510"/>
            <a:ext cx="4796915" cy="369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0000"/>
                </a:solidFill>
              </a:rPr>
              <a:t>Not Every Game Is Worth Playing</a:t>
            </a:r>
            <a:endParaRPr lang="en-SG" sz="1600" b="1">
              <a:solidFill>
                <a:srgbClr val="FF0000"/>
              </a:solidFill>
            </a:endParaRPr>
          </a:p>
        </p:txBody>
      </p:sp>
      <p:pic>
        <p:nvPicPr>
          <p:cNvPr id="48" name="Pic">
            <a:extLst>
              <a:ext uri="{FF2B5EF4-FFF2-40B4-BE49-F238E27FC236}">
                <a16:creationId xmlns:a16="http://schemas.microsoft.com/office/drawing/2014/main" id="{2B790F88-653D-8594-BC8E-1F858E66DD22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68325" y="3937000"/>
            <a:ext cx="317500" cy="317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0" name="Pic">
            <a:extLst>
              <a:ext uri="{FF2B5EF4-FFF2-40B4-BE49-F238E27FC236}">
                <a16:creationId xmlns:a16="http://schemas.microsoft.com/office/drawing/2014/main" id="{26BA67B1-8102-D4CE-1D70-4493F23FEFCD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01650" y="700088"/>
            <a:ext cx="434975" cy="43497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7474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7978-737A-37F4-394E-DA7EB5A8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4F5535D-214C-2804-76BA-88C6137C5C4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2895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F5535D-214C-2804-76BA-88C6137C5C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E5762C5-EF03-DBDF-4A9B-E4578B3CF4DE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Netflix | Brand Assets | Logos">
            <a:extLst>
              <a:ext uri="{FF2B5EF4-FFF2-40B4-BE49-F238E27FC236}">
                <a16:creationId xmlns:a16="http://schemas.microsoft.com/office/drawing/2014/main" id="{92B24461-D472-F153-558D-F94C9E3E3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10" descr="A red logo on a black background&#10;&#10;AI-generated content may be incorrect.">
            <a:extLst>
              <a:ext uri="{FF2B5EF4-FFF2-40B4-BE49-F238E27FC236}">
                <a16:creationId xmlns:a16="http://schemas.microsoft.com/office/drawing/2014/main" id="{F5016FFF-ED35-8FC8-44E4-1CD2B26B4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31" y="3784625"/>
            <a:ext cx="548431" cy="548431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0B448-8960-B2EF-BE88-4606C5DA7659}"/>
              </a:ext>
            </a:extLst>
          </p:cNvPr>
          <p:cNvCxnSpPr>
            <a:cxnSpLocks/>
          </p:cNvCxnSpPr>
          <p:nvPr/>
        </p:nvCxnSpPr>
        <p:spPr>
          <a:xfrm>
            <a:off x="8570478" y="4298977"/>
            <a:ext cx="21455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DEB209-EF88-054E-7871-AED62F335B19}"/>
              </a:ext>
            </a:extLst>
          </p:cNvPr>
          <p:cNvSpPr txBox="1"/>
          <p:nvPr/>
        </p:nvSpPr>
        <p:spPr>
          <a:xfrm>
            <a:off x="10650507" y="4058841"/>
            <a:ext cx="11961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100" dirty="0"/>
              <a:t>High Production </a:t>
            </a:r>
          </a:p>
          <a:p>
            <a:pPr algn="ctr"/>
            <a:r>
              <a:rPr lang="en-SG" sz="1100" dirty="0"/>
              <a:t>Excellence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2E6D8-3F06-A007-3F38-ADED6C42831B}"/>
              </a:ext>
            </a:extLst>
          </p:cNvPr>
          <p:cNvSpPr txBox="1"/>
          <p:nvPr/>
        </p:nvSpPr>
        <p:spPr>
          <a:xfrm>
            <a:off x="8882489" y="3022309"/>
            <a:ext cx="12394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100" dirty="0"/>
              <a:t>High Community </a:t>
            </a:r>
          </a:p>
          <a:p>
            <a:pPr algn="ctr"/>
            <a:r>
              <a:rPr lang="en-SG" sz="1100" dirty="0"/>
              <a:t>Engagement</a:t>
            </a:r>
          </a:p>
        </p:txBody>
      </p:sp>
      <p:pic>
        <p:nvPicPr>
          <p:cNvPr id="1028" name="Picture 4" descr="Logo for the Disney+ service">
            <a:extLst>
              <a:ext uri="{FF2B5EF4-FFF2-40B4-BE49-F238E27FC236}">
                <a16:creationId xmlns:a16="http://schemas.microsoft.com/office/drawing/2014/main" id="{E401506B-1EBE-A101-3964-741265308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569" y="3962436"/>
            <a:ext cx="442452" cy="24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00A08A1-9FC7-27E4-8BEA-C4642DB3C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44483" y="3875144"/>
            <a:ext cx="622749" cy="13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317B14-294E-E881-8510-9E8E60471663}"/>
              </a:ext>
            </a:extLst>
          </p:cNvPr>
          <p:cNvSpPr txBox="1"/>
          <p:nvPr/>
        </p:nvSpPr>
        <p:spPr>
          <a:xfrm>
            <a:off x="7510020" y="4053632"/>
            <a:ext cx="11657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100" dirty="0"/>
              <a:t>Low Production </a:t>
            </a:r>
          </a:p>
          <a:p>
            <a:pPr algn="ctr"/>
            <a:r>
              <a:rPr lang="en-SG" sz="1100" dirty="0"/>
              <a:t>Excellence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B785FE-4FFE-0401-2DDD-72EF27143100}"/>
              </a:ext>
            </a:extLst>
          </p:cNvPr>
          <p:cNvCxnSpPr>
            <a:cxnSpLocks/>
          </p:cNvCxnSpPr>
          <p:nvPr/>
        </p:nvCxnSpPr>
        <p:spPr>
          <a:xfrm>
            <a:off x="9536344" y="3493508"/>
            <a:ext cx="0" cy="158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Prime Video: Help">
            <a:extLst>
              <a:ext uri="{FF2B5EF4-FFF2-40B4-BE49-F238E27FC236}">
                <a16:creationId xmlns:a16="http://schemas.microsoft.com/office/drawing/2014/main" id="{9A861B90-BD07-859A-0BAE-EBC7E633F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926" y="4631371"/>
            <a:ext cx="961306" cy="54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DC984B2-E23E-4C69-5F95-54994599D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910" y="3495181"/>
            <a:ext cx="505050" cy="31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7124042-D3E9-CC05-9F5C-A82BD0C06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333" y="4354199"/>
            <a:ext cx="529052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7E010E-BBB5-C388-2263-F9ACFCF85D3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344" y="4377215"/>
            <a:ext cx="622055" cy="6220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B06D35-A96B-8639-2585-BBB2AE1B936B}"/>
              </a:ext>
            </a:extLst>
          </p:cNvPr>
          <p:cNvSpPr txBox="1"/>
          <p:nvPr/>
        </p:nvSpPr>
        <p:spPr>
          <a:xfrm>
            <a:off x="8939143" y="5041254"/>
            <a:ext cx="12089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100" dirty="0"/>
              <a:t>Low Community </a:t>
            </a:r>
          </a:p>
          <a:p>
            <a:pPr algn="ctr"/>
            <a:r>
              <a:rPr lang="en-SG" sz="1100" dirty="0"/>
              <a:t>Engagement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0DA15-4424-6387-E60F-23AE1E19D855}"/>
              </a:ext>
            </a:extLst>
          </p:cNvPr>
          <p:cNvSpPr txBox="1"/>
          <p:nvPr/>
        </p:nvSpPr>
        <p:spPr>
          <a:xfrm>
            <a:off x="6919541" y="2589245"/>
            <a:ext cx="5082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Netflix Demonstrates Leading Content Quality </a:t>
            </a:r>
          </a:p>
          <a:p>
            <a:pPr algn="ctr"/>
            <a:r>
              <a:rPr lang="en-US" sz="1200" b="1" dirty="0"/>
              <a:t>with Moderate Levels of Audience Engagement Relative to Competitors</a:t>
            </a:r>
            <a:endParaRPr lang="en-SG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2B9C24-F3CD-DBF7-8138-5AC9FF0281CD}"/>
              </a:ext>
            </a:extLst>
          </p:cNvPr>
          <p:cNvSpPr txBox="1"/>
          <p:nvPr/>
        </p:nvSpPr>
        <p:spPr>
          <a:xfrm>
            <a:off x="322263" y="6373602"/>
            <a:ext cx="419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/>
              <a:t>Source: </a:t>
            </a:r>
            <a:r>
              <a:rPr lang="en-SG" sz="1000" b="1" dirty="0">
                <a:hlinkClick r:id="rId18"/>
              </a:rPr>
              <a:t>UCLA study</a:t>
            </a:r>
            <a:r>
              <a:rPr lang="en-SG" sz="1000" b="1" dirty="0"/>
              <a:t>, </a:t>
            </a:r>
            <a:r>
              <a:rPr lang="fr-FR" sz="1000" b="1" dirty="0" err="1">
                <a:hlinkClick r:id="rId19"/>
              </a:rPr>
              <a:t>Mordor</a:t>
            </a:r>
            <a:r>
              <a:rPr lang="fr-FR" sz="1000" b="1" dirty="0">
                <a:hlinkClick r:id="rId19"/>
              </a:rPr>
              <a:t> Intelligence, </a:t>
            </a:r>
            <a:r>
              <a:rPr lang="fr-FR" sz="1000" b="1" dirty="0"/>
              <a:t> </a:t>
            </a:r>
            <a:r>
              <a:rPr lang="fr-FR" sz="1000" b="1" dirty="0">
                <a:hlinkClick r:id="rId20"/>
              </a:rPr>
              <a:t>EMARKETER</a:t>
            </a:r>
            <a:br>
              <a:rPr lang="fr-FR" sz="1000" b="1" dirty="0">
                <a:hlinkClick r:id="rId20"/>
              </a:rPr>
            </a:br>
            <a:endParaRPr lang="en-SG" sz="1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58151-0C7C-C288-A8F2-42DAFEAC174B}"/>
              </a:ext>
            </a:extLst>
          </p:cNvPr>
          <p:cNvSpPr txBox="1"/>
          <p:nvPr/>
        </p:nvSpPr>
        <p:spPr>
          <a:xfrm>
            <a:off x="7629585" y="2044400"/>
            <a:ext cx="3842682" cy="276999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TV, movies, and games </a:t>
            </a:r>
            <a:r>
              <a:rPr lang="en-US" sz="1200" b="1" dirty="0"/>
              <a:t>strengthen peer connections.</a:t>
            </a:r>
            <a:endParaRPr lang="en-SG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BBB35-07B7-5471-040B-6CBD9AFF40EB}"/>
              </a:ext>
            </a:extLst>
          </p:cNvPr>
          <p:cNvSpPr txBox="1"/>
          <p:nvPr/>
        </p:nvSpPr>
        <p:spPr>
          <a:xfrm>
            <a:off x="500423" y="1540202"/>
            <a:ext cx="259379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Searched online to consider purchasing what you saw on TV</a:t>
            </a:r>
            <a:endParaRPr lang="en-SG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6728D-D5A7-CDB2-2E46-31628FCCE42A}"/>
              </a:ext>
            </a:extLst>
          </p:cNvPr>
          <p:cNvSpPr txBox="1"/>
          <p:nvPr/>
        </p:nvSpPr>
        <p:spPr>
          <a:xfrm>
            <a:off x="7510020" y="711509"/>
            <a:ext cx="390193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Connectivity in Interactive Entertainment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3579E-6EA3-1C6A-E71F-F5F20DF673AB}"/>
              </a:ext>
            </a:extLst>
          </p:cNvPr>
          <p:cNvSpPr txBox="1"/>
          <p:nvPr/>
        </p:nvSpPr>
        <p:spPr>
          <a:xfrm>
            <a:off x="1256011" y="704301"/>
            <a:ext cx="390193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Own a Piece of the Show</a:t>
            </a:r>
            <a:endParaRPr lang="en-SG" sz="1400" b="1" dirty="0"/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75F62100-32C0-BF9F-2354-4B34DFC2E03A}"/>
              </a:ext>
            </a:extLst>
          </p:cNvPr>
          <p:cNvSpPr txBox="1"/>
          <p:nvPr/>
        </p:nvSpPr>
        <p:spPr>
          <a:xfrm>
            <a:off x="3065113" y="4578724"/>
            <a:ext cx="3480628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Smart home technology </a:t>
            </a:r>
            <a:r>
              <a:rPr lang="en-US" sz="1200" dirty="0"/>
              <a:t>is gaining </a:t>
            </a:r>
            <a:r>
              <a:rPr lang="en-US" sz="1200" b="1" dirty="0">
                <a:solidFill>
                  <a:srgbClr val="FF0000"/>
                </a:solidFill>
              </a:rPr>
              <a:t>strong adoption </a:t>
            </a:r>
            <a:r>
              <a:rPr lang="en-US" sz="1200" dirty="0"/>
              <a:t>in US, with </a:t>
            </a:r>
            <a:r>
              <a:rPr lang="en-US" sz="1200" b="1" dirty="0"/>
              <a:t>70% of households </a:t>
            </a:r>
            <a:r>
              <a:rPr lang="en-US" sz="1200" dirty="0"/>
              <a:t>owning at least one </a:t>
            </a:r>
            <a:r>
              <a:rPr lang="en-US" sz="1200" b="1" dirty="0"/>
              <a:t>smart device</a:t>
            </a:r>
            <a:r>
              <a:rPr lang="en-US" sz="1200" dirty="0"/>
              <a:t>. Among home theatre users, </a:t>
            </a:r>
            <a:r>
              <a:rPr lang="en-US" sz="1200" b="1" dirty="0"/>
              <a:t>68%</a:t>
            </a:r>
            <a:r>
              <a:rPr lang="en-US" sz="1200" dirty="0"/>
              <a:t> express interest in </a:t>
            </a:r>
            <a:r>
              <a:rPr lang="en-US" sz="1200" b="1" dirty="0"/>
              <a:t>smart lighting.</a:t>
            </a:r>
            <a:endParaRPr lang="en-SG" sz="1200" dirty="0"/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6376B72E-6863-2A8E-3128-8D011ABBF7E4}"/>
              </a:ext>
            </a:extLst>
          </p:cNvPr>
          <p:cNvSpPr txBox="1"/>
          <p:nvPr/>
        </p:nvSpPr>
        <p:spPr>
          <a:xfrm>
            <a:off x="1400769" y="3769166"/>
            <a:ext cx="390193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Immersive Cinematic Experience At Home</a:t>
            </a:r>
            <a:endParaRPr lang="en-SG" sz="1400" b="1" dirty="0"/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16851F75-2729-F1B0-2FDF-2816D05EA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09" y="-23577"/>
            <a:ext cx="492198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500" b="1" dirty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Insights to Entertainment Trends</a:t>
            </a:r>
            <a:endParaRPr lang="en-US" altLang="en-US" sz="2500" b="1" dirty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042C0A-B6FD-5C87-92B6-B7E470BAF52D}"/>
              </a:ext>
            </a:extLst>
          </p:cNvPr>
          <p:cNvSpPr/>
          <p:nvPr/>
        </p:nvSpPr>
        <p:spPr>
          <a:xfrm>
            <a:off x="422363" y="4601623"/>
            <a:ext cx="1461369" cy="1443422"/>
          </a:xfrm>
          <a:prstGeom prst="ellipse">
            <a:avLst/>
          </a:prstGeom>
          <a:solidFill>
            <a:srgbClr val="730D0D"/>
          </a:solidFill>
          <a:ln>
            <a:solidFill>
              <a:srgbClr val="73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FDE936D-AE15-EE21-CA95-2AA973C3CAF6}"/>
              </a:ext>
            </a:extLst>
          </p:cNvPr>
          <p:cNvSpPr/>
          <p:nvPr/>
        </p:nvSpPr>
        <p:spPr>
          <a:xfrm>
            <a:off x="704010" y="5206098"/>
            <a:ext cx="925861" cy="83894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2C105FEE-706A-EA89-32FF-CB73DEC60D1F}"/>
              </a:ext>
            </a:extLst>
          </p:cNvPr>
          <p:cNvSpPr/>
          <p:nvPr/>
        </p:nvSpPr>
        <p:spPr>
          <a:xfrm>
            <a:off x="1127295" y="5111332"/>
            <a:ext cx="60757" cy="197154"/>
          </a:xfrm>
          <a:prstGeom prst="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859285-7013-73CF-90C5-62670FB4DBF0}"/>
              </a:ext>
            </a:extLst>
          </p:cNvPr>
          <p:cNvSpPr txBox="1"/>
          <p:nvPr/>
        </p:nvSpPr>
        <p:spPr>
          <a:xfrm>
            <a:off x="654219" y="4690912"/>
            <a:ext cx="990519" cy="35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b="1" dirty="0">
                <a:solidFill>
                  <a:schemeClr val="bg1"/>
                </a:solidFill>
              </a:rPr>
              <a:t>2030: USD 16.40B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BFC7A1-79B8-4CAE-B672-93E1128610BB}"/>
              </a:ext>
            </a:extLst>
          </p:cNvPr>
          <p:cNvSpPr txBox="1"/>
          <p:nvPr/>
        </p:nvSpPr>
        <p:spPr>
          <a:xfrm>
            <a:off x="678185" y="5380660"/>
            <a:ext cx="925860" cy="35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b="1" dirty="0">
                <a:solidFill>
                  <a:schemeClr val="bg1"/>
                </a:solidFill>
              </a:rPr>
              <a:t>2025: USD 10.45B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7B75A5-87FC-D1C9-363A-16E2902392D3}"/>
              </a:ext>
            </a:extLst>
          </p:cNvPr>
          <p:cNvCxnSpPr>
            <a:cxnSpLocks/>
          </p:cNvCxnSpPr>
          <p:nvPr/>
        </p:nvCxnSpPr>
        <p:spPr>
          <a:xfrm flipV="1">
            <a:off x="1547333" y="4668207"/>
            <a:ext cx="290207" cy="290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E5D4820-73B5-8927-7EBE-BE309660C9F8}"/>
              </a:ext>
            </a:extLst>
          </p:cNvPr>
          <p:cNvSpPr txBox="1"/>
          <p:nvPr/>
        </p:nvSpPr>
        <p:spPr>
          <a:xfrm>
            <a:off x="1844939" y="4382113"/>
            <a:ext cx="125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rgbClr val="FF0000"/>
                </a:solidFill>
              </a:rPr>
              <a:t>1.57x</a:t>
            </a:r>
          </a:p>
          <a:p>
            <a:r>
              <a:rPr lang="en-SG" sz="1400" b="1" dirty="0">
                <a:solidFill>
                  <a:srgbClr val="FF0000"/>
                </a:solidFill>
              </a:rPr>
              <a:t>CAGR: 9.44%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12CE66-83F7-5429-7972-F3B2C6249489}"/>
              </a:ext>
            </a:extLst>
          </p:cNvPr>
          <p:cNvSpPr txBox="1"/>
          <p:nvPr/>
        </p:nvSpPr>
        <p:spPr>
          <a:xfrm>
            <a:off x="351109" y="4139228"/>
            <a:ext cx="2192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u="sng" dirty="0"/>
              <a:t>Home Theatre System Market Size (in USD Billion)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10C529-FE1D-6FE0-9FBE-7A65A9160996}"/>
              </a:ext>
            </a:extLst>
          </p:cNvPr>
          <p:cNvCxnSpPr>
            <a:cxnSpLocks/>
          </p:cNvCxnSpPr>
          <p:nvPr/>
        </p:nvCxnSpPr>
        <p:spPr>
          <a:xfrm flipV="1">
            <a:off x="853533" y="4066140"/>
            <a:ext cx="49629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0F7EC5-BBC8-4424-49F3-113E49778C7C}"/>
              </a:ext>
            </a:extLst>
          </p:cNvPr>
          <p:cNvCxnSpPr>
            <a:cxnSpLocks/>
          </p:cNvCxnSpPr>
          <p:nvPr/>
        </p:nvCxnSpPr>
        <p:spPr>
          <a:xfrm>
            <a:off x="775717" y="1024364"/>
            <a:ext cx="501028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BED4A555-E040-768A-F6F5-D4092E4D0E1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9965278"/>
              </p:ext>
            </p:extLst>
          </p:nvPr>
        </p:nvGraphicFramePr>
        <p:xfrm>
          <a:off x="458788" y="1751013"/>
          <a:ext cx="2786062" cy="1179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091" name="Text Placeholder 2">
            <a:extLst>
              <a:ext uri="{FF2B5EF4-FFF2-40B4-BE49-F238E27FC236}">
                <a16:creationId xmlns:a16="http://schemas.microsoft.com/office/drawing/2014/main" id="{321755EB-9E22-8A5E-EDB3-1F43A37BFB3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187700" y="1905000"/>
            <a:ext cx="3063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29E7302-D6B5-4631-BB39-76A11209055D}" type="datetime'3''8''''''''''''''''''''''''''''''''''''''''.''''''''''''7%'">
              <a:rPr lang="en-SG" altLang="en-US" sz="800" b="1" smtClean="0"/>
              <a:pPr/>
              <a:t>38.7%</a:t>
            </a:fld>
            <a:endParaRPr lang="en-SG" sz="800" b="1"/>
          </a:p>
        </p:txBody>
      </p:sp>
      <p:sp>
        <p:nvSpPr>
          <p:cNvPr id="1092" name="Text Placeholder 2">
            <a:extLst>
              <a:ext uri="{FF2B5EF4-FFF2-40B4-BE49-F238E27FC236}">
                <a16:creationId xmlns:a16="http://schemas.microsoft.com/office/drawing/2014/main" id="{79629209-FF22-383B-8CE7-35BAB3F643C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779588" y="2159000"/>
            <a:ext cx="3063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16A6C5F-B866-42BC-8C57-7B2A75C468EB}" type="datetime'''''''1''''''''''''''''''''''''''''''''7''.9''''''''''''''%'">
              <a:rPr lang="en-SG" altLang="en-US" sz="800" b="1" smtClean="0"/>
              <a:pPr/>
              <a:t>17.9%</a:t>
            </a:fld>
            <a:endParaRPr lang="en-SG" sz="800" b="1"/>
          </a:p>
        </p:txBody>
      </p:sp>
      <p:sp>
        <p:nvSpPr>
          <p:cNvPr id="1093" name="Text Placeholder 2">
            <a:extLst>
              <a:ext uri="{FF2B5EF4-FFF2-40B4-BE49-F238E27FC236}">
                <a16:creationId xmlns:a16="http://schemas.microsoft.com/office/drawing/2014/main" id="{37AB0EA6-1B36-4F9E-8BAC-0F83A8E8B64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582738" y="2413000"/>
            <a:ext cx="3063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F236D09-D46C-4134-A31F-85E5F7F99A64}" type="datetime'''''''''''''''''''''1''''''''''''''''''5''''''.''''0''''%'">
              <a:rPr lang="en-SG" altLang="en-US" sz="800" b="1" smtClean="0"/>
              <a:pPr/>
              <a:t>15.0%</a:t>
            </a:fld>
            <a:endParaRPr lang="en-SG" sz="800" b="1"/>
          </a:p>
        </p:txBody>
      </p:sp>
      <p:sp>
        <p:nvSpPr>
          <p:cNvPr id="1095" name="Text Placeholder 2">
            <a:extLst>
              <a:ext uri="{FF2B5EF4-FFF2-40B4-BE49-F238E27FC236}">
                <a16:creationId xmlns:a16="http://schemas.microsoft.com/office/drawing/2014/main" id="{80E966DE-0F36-E56B-5D7E-98D0341A3DD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497138" y="2665413"/>
            <a:ext cx="3063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CC5A4DA-633B-4FB3-BFBA-00337E1A0040}" type="datetime'''2''''''''8''''''''''''''''''''''.''''''''''''5''%'''''''">
              <a:rPr lang="en-SG" altLang="en-US" sz="800" b="1" smtClean="0"/>
              <a:pPr/>
              <a:t>28.5%</a:t>
            </a:fld>
            <a:endParaRPr lang="en-SG" sz="800" b="1"/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C4F97CA0-5440-F988-FC2E-E29846A72F14}"/>
              </a:ext>
            </a:extLst>
          </p:cNvPr>
          <p:cNvSpPr txBox="1"/>
          <p:nvPr/>
        </p:nvSpPr>
        <p:spPr>
          <a:xfrm>
            <a:off x="460735" y="1981527"/>
            <a:ext cx="3120231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/>
              <a:t>Made an online purchase on what you saw on TV</a:t>
            </a:r>
            <a:endParaRPr lang="en-SG" sz="1100"/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35BEF1EB-B05A-CD01-C19A-7F45973323DB}"/>
              </a:ext>
            </a:extLst>
          </p:cNvPr>
          <p:cNvSpPr txBox="1"/>
          <p:nvPr/>
        </p:nvSpPr>
        <p:spPr>
          <a:xfrm>
            <a:off x="470260" y="2211715"/>
            <a:ext cx="3379559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/>
              <a:t>All of the above</a:t>
            </a:r>
            <a:endParaRPr lang="en-SG" sz="1100"/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BE710BCE-C070-F315-973D-286123C8ED6F}"/>
              </a:ext>
            </a:extLst>
          </p:cNvPr>
          <p:cNvSpPr txBox="1"/>
          <p:nvPr/>
        </p:nvSpPr>
        <p:spPr>
          <a:xfrm>
            <a:off x="470260" y="2511752"/>
            <a:ext cx="304938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/>
              <a:t>None of the above</a:t>
            </a:r>
            <a:endParaRPr lang="en-SG" sz="1100"/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61FB2DCB-4ECB-4F0B-5FE1-6CDE24EE6C7E}"/>
              </a:ext>
            </a:extLst>
          </p:cNvPr>
          <p:cNvSpPr txBox="1"/>
          <p:nvPr/>
        </p:nvSpPr>
        <p:spPr>
          <a:xfrm>
            <a:off x="449263" y="1156064"/>
            <a:ext cx="585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Around 7 in 10 Respondents Looked Online to Purchase Products Seen on TV in US</a:t>
            </a:r>
            <a:endParaRPr lang="en-SG" sz="1200" b="1" dirty="0"/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9EEA234-BF9A-6610-461F-EFBD42CFF2E3}"/>
              </a:ext>
            </a:extLst>
          </p:cNvPr>
          <p:cNvSpPr txBox="1"/>
          <p:nvPr/>
        </p:nvSpPr>
        <p:spPr>
          <a:xfrm>
            <a:off x="3570115" y="1562438"/>
            <a:ext cx="2889996" cy="1384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average consumer is already </a:t>
            </a:r>
            <a:r>
              <a:rPr lang="en-US" sz="1200" b="1" dirty="0">
                <a:solidFill>
                  <a:srgbClr val="FF0000"/>
                </a:solidFill>
              </a:rPr>
              <a:t>spending $290 a year</a:t>
            </a:r>
            <a:r>
              <a:rPr lang="en-US" sz="1200" dirty="0"/>
              <a:t>, totaling an estimated $144.9 billion in US retail sales, on products they see while consuming TV content. </a:t>
            </a:r>
            <a:r>
              <a:rPr lang="en-US" sz="1200" b="1" dirty="0"/>
              <a:t>108.7 million</a:t>
            </a:r>
            <a:r>
              <a:rPr lang="en-US" sz="1200" dirty="0"/>
              <a:t> </a:t>
            </a:r>
            <a:r>
              <a:rPr lang="en-US" sz="1200" b="1" dirty="0"/>
              <a:t>shoppable media buyers </a:t>
            </a:r>
            <a:r>
              <a:rPr lang="en-US" sz="1200" dirty="0"/>
              <a:t>to be projected in US </a:t>
            </a:r>
            <a:r>
              <a:rPr lang="en-US" sz="1200" b="1" dirty="0"/>
              <a:t>by 2027</a:t>
            </a:r>
            <a:r>
              <a:rPr lang="en-US" sz="1200" dirty="0"/>
              <a:t>.</a:t>
            </a:r>
            <a:endParaRPr lang="en-SG" sz="1200" dirty="0"/>
          </a:p>
        </p:txBody>
      </p:sp>
      <p:cxnSp>
        <p:nvCxnSpPr>
          <p:cNvPr id="2052" name="Straight Connector 2051">
            <a:extLst>
              <a:ext uri="{FF2B5EF4-FFF2-40B4-BE49-F238E27FC236}">
                <a16:creationId xmlns:a16="http://schemas.microsoft.com/office/drawing/2014/main" id="{3BEB6A45-0012-5A6A-8136-FCDD8C8C40AF}"/>
              </a:ext>
            </a:extLst>
          </p:cNvPr>
          <p:cNvCxnSpPr>
            <a:cxnSpLocks/>
          </p:cNvCxnSpPr>
          <p:nvPr/>
        </p:nvCxnSpPr>
        <p:spPr>
          <a:xfrm>
            <a:off x="6955843" y="1042809"/>
            <a:ext cx="501028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9E86515-5C18-3E95-0DEB-25F23298CC99}"/>
              </a:ext>
            </a:extLst>
          </p:cNvPr>
          <p:cNvSpPr txBox="1"/>
          <p:nvPr/>
        </p:nvSpPr>
        <p:spPr>
          <a:xfrm>
            <a:off x="7622076" y="5641191"/>
            <a:ext cx="4042374" cy="4616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US" sz="1200" b="0" dirty="0"/>
              <a:t>Strong entertainment market influence but a </a:t>
            </a:r>
            <a:r>
              <a:rPr lang="en-US" sz="1200" dirty="0"/>
              <a:t>higher community engagement is needed for longer retention. </a:t>
            </a:r>
            <a:endParaRPr lang="en-S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1FB9CF-9771-4218-7BB0-CF3C9AF8B5E0}"/>
              </a:ext>
            </a:extLst>
          </p:cNvPr>
          <p:cNvSpPr txBox="1"/>
          <p:nvPr/>
        </p:nvSpPr>
        <p:spPr>
          <a:xfrm>
            <a:off x="572896" y="3099981"/>
            <a:ext cx="5608018" cy="4616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US" sz="1200" b="0" dirty="0"/>
              <a:t>Rising consumer </a:t>
            </a:r>
            <a:r>
              <a:rPr lang="en-US" sz="1200" dirty="0"/>
              <a:t>demand for items featured on shows </a:t>
            </a:r>
            <a:r>
              <a:rPr lang="en-US" sz="1200" b="0" dirty="0"/>
              <a:t>underscores the value of </a:t>
            </a:r>
            <a:r>
              <a:rPr lang="en-US" sz="1200" dirty="0"/>
              <a:t>integrating shoppable experiences into content.</a:t>
            </a:r>
            <a:endParaRPr lang="en-SG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AF83E8-3EE8-BF35-A1CB-96C23DB5364D}"/>
              </a:ext>
            </a:extLst>
          </p:cNvPr>
          <p:cNvSpPr txBox="1"/>
          <p:nvPr/>
        </p:nvSpPr>
        <p:spPr>
          <a:xfrm>
            <a:off x="1971400" y="5641192"/>
            <a:ext cx="4473145" cy="4616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US" sz="1200" b="0" dirty="0"/>
              <a:t>Growing interest in </a:t>
            </a:r>
            <a:r>
              <a:rPr lang="en-US" sz="1200" dirty="0"/>
              <a:t>connected home devices and smart lighting </a:t>
            </a:r>
            <a:r>
              <a:rPr lang="en-US" sz="1200" b="0" dirty="0"/>
              <a:t>to transform </a:t>
            </a:r>
            <a:r>
              <a:rPr lang="en-US" sz="1200" dirty="0"/>
              <a:t>passive viewing into immersive experience.</a:t>
            </a:r>
            <a:endParaRPr lang="en-SG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6BE7D6-64E0-93A5-151F-067F00F37F27}"/>
              </a:ext>
            </a:extLst>
          </p:cNvPr>
          <p:cNvCxnSpPr>
            <a:cxnSpLocks/>
          </p:cNvCxnSpPr>
          <p:nvPr/>
        </p:nvCxnSpPr>
        <p:spPr>
          <a:xfrm>
            <a:off x="6780034" y="1294610"/>
            <a:ext cx="0" cy="186163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A0FA85-6DD0-2473-B07D-3D5BBC65584F}"/>
              </a:ext>
            </a:extLst>
          </p:cNvPr>
          <p:cNvCxnSpPr>
            <a:cxnSpLocks/>
          </p:cNvCxnSpPr>
          <p:nvPr/>
        </p:nvCxnSpPr>
        <p:spPr>
          <a:xfrm>
            <a:off x="6790397" y="3928973"/>
            <a:ext cx="0" cy="186163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A2A2E41C-3A0C-743A-EF45-901658701BA4}"/>
              </a:ext>
            </a:extLst>
          </p:cNvPr>
          <p:cNvSpPr/>
          <p:nvPr/>
        </p:nvSpPr>
        <p:spPr>
          <a:xfrm>
            <a:off x="6673870" y="3263001"/>
            <a:ext cx="323110" cy="424400"/>
          </a:xfrm>
          <a:prstGeom prst="chevron">
            <a:avLst>
              <a:gd name="adj" fmla="val 527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56E7F3-3203-214C-C77C-1544796E1DE9}"/>
              </a:ext>
            </a:extLst>
          </p:cNvPr>
          <p:cNvSpPr txBox="1"/>
          <p:nvPr/>
        </p:nvSpPr>
        <p:spPr>
          <a:xfrm>
            <a:off x="7040706" y="1240898"/>
            <a:ext cx="2571115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More than half of teens (53%)</a:t>
            </a:r>
          </a:p>
          <a:p>
            <a:pPr algn="ctr"/>
            <a:r>
              <a:rPr lang="en-US" sz="1200" dirty="0"/>
              <a:t>discuss shows with friends</a:t>
            </a:r>
            <a:endParaRPr lang="en-SG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653930-EE39-5CCF-BD28-5D9A86839ED2}"/>
              </a:ext>
            </a:extLst>
          </p:cNvPr>
          <p:cNvSpPr txBox="1"/>
          <p:nvPr/>
        </p:nvSpPr>
        <p:spPr>
          <a:xfrm>
            <a:off x="9472960" y="1240620"/>
            <a:ext cx="25711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Nearly 9 in 10 youths</a:t>
            </a:r>
          </a:p>
          <a:p>
            <a:pPr algn="ctr"/>
            <a:r>
              <a:rPr lang="en-US" sz="1200" dirty="0">
                <a:solidFill>
                  <a:schemeClr val="dk1"/>
                </a:solidFill>
              </a:rPr>
              <a:t> found community through gaming</a:t>
            </a:r>
            <a:endParaRPr lang="en-SG"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51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6177A-800D-843A-2714-D4FF88B7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E4AD6A-4A0E-AAEF-6D60-4DCA3D7B49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AD6A-4A0E-AAEF-6D60-4DCA3D7B49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1A3846-A9C2-AAD6-85EB-7CB0D9802770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65960-2EC3-4143-D4FF-21CBC79E5147}"/>
              </a:ext>
            </a:extLst>
          </p:cNvPr>
          <p:cNvSpPr txBox="1"/>
          <p:nvPr/>
        </p:nvSpPr>
        <p:spPr>
          <a:xfrm>
            <a:off x="371475" y="5758"/>
            <a:ext cx="1053550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1 Journey 2 Breakpoints : From Curiosity to Craving</a:t>
            </a:r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F4483343-0256-25AB-108A-F511EFB4D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A790C5-2228-CC69-3A61-EAEEDBA2C249}"/>
              </a:ext>
            </a:extLst>
          </p:cNvPr>
          <p:cNvSpPr txBox="1"/>
          <p:nvPr/>
        </p:nvSpPr>
        <p:spPr>
          <a:xfrm>
            <a:off x="281698" y="497772"/>
            <a:ext cx="8536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  <a:ea typeface="+mn-lt"/>
                <a:cs typeface="+mn-lt"/>
              </a:rPr>
              <a:t>Customer Journey Map of Jerald – Gen Z Movie Enthusiast</a:t>
            </a:r>
            <a:endParaRPr lang="en-US" sz="1600" i="1" dirty="0">
              <a:solidFill>
                <a:srgbClr val="C00000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74F8E0A-597E-161D-C438-143AFD2ACBCC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0627138" y="5895571"/>
            <a:ext cx="260846" cy="11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10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DF5A07D-6D0C-57EA-FC54-886598D9CF19}"/>
              </a:ext>
            </a:extLst>
          </p:cNvPr>
          <p:cNvSpPr/>
          <p:nvPr/>
        </p:nvSpPr>
        <p:spPr>
          <a:xfrm>
            <a:off x="554183" y="3282212"/>
            <a:ext cx="10072956" cy="1971775"/>
          </a:xfrm>
          <a:custGeom>
            <a:avLst/>
            <a:gdLst>
              <a:gd name="connsiteX0" fmla="*/ 0 w 7949902"/>
              <a:gd name="connsiteY0" fmla="*/ 95558 h 2031934"/>
              <a:gd name="connsiteX1" fmla="*/ 4615031 w 7949902"/>
              <a:gd name="connsiteY1" fmla="*/ 170861 h 2031934"/>
              <a:gd name="connsiteX2" fmla="*/ 2743200 w 7949902"/>
              <a:gd name="connsiteY2" fmla="*/ 1666174 h 2031934"/>
              <a:gd name="connsiteX3" fmla="*/ 7917629 w 7949902"/>
              <a:gd name="connsiteY3" fmla="*/ 2021177 h 2031934"/>
              <a:gd name="connsiteX4" fmla="*/ 7917629 w 7949902"/>
              <a:gd name="connsiteY4" fmla="*/ 2021177 h 2031934"/>
              <a:gd name="connsiteX5" fmla="*/ 7949902 w 7949902"/>
              <a:gd name="connsiteY5" fmla="*/ 2031934 h 203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9902" h="2031934">
                <a:moveTo>
                  <a:pt x="0" y="95558"/>
                </a:moveTo>
                <a:cubicBezTo>
                  <a:pt x="2078915" y="2325"/>
                  <a:pt x="4157831" y="-90908"/>
                  <a:pt x="4615031" y="170861"/>
                </a:cubicBezTo>
                <a:cubicBezTo>
                  <a:pt x="5072231" y="432630"/>
                  <a:pt x="2192767" y="1357788"/>
                  <a:pt x="2743200" y="1666174"/>
                </a:cubicBezTo>
                <a:cubicBezTo>
                  <a:pt x="3293633" y="1974560"/>
                  <a:pt x="7917629" y="2021177"/>
                  <a:pt x="7917629" y="2021177"/>
                </a:cubicBezTo>
                <a:lnTo>
                  <a:pt x="7917629" y="2021177"/>
                </a:lnTo>
                <a:lnTo>
                  <a:pt x="7949902" y="2031934"/>
                </a:lnTo>
              </a:path>
            </a:pathLst>
          </a:custGeom>
          <a:noFill/>
          <a:ln w="101600">
            <a:solidFill>
              <a:srgbClr val="1010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5888E9-44A1-A70F-1114-C97AFA1F33AF}"/>
              </a:ext>
            </a:extLst>
          </p:cNvPr>
          <p:cNvSpPr/>
          <p:nvPr/>
        </p:nvSpPr>
        <p:spPr>
          <a:xfrm>
            <a:off x="9837127" y="4957723"/>
            <a:ext cx="486914" cy="463257"/>
          </a:xfrm>
          <a:prstGeom prst="ellipse">
            <a:avLst/>
          </a:prstGeom>
          <a:solidFill>
            <a:srgbClr val="E409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55">
            <a:extLst>
              <a:ext uri="{FF2B5EF4-FFF2-40B4-BE49-F238E27FC236}">
                <a16:creationId xmlns:a16="http://schemas.microsoft.com/office/drawing/2014/main" id="{FF586EA8-3ABF-AF03-4DB8-778D746E10A7}"/>
              </a:ext>
            </a:extLst>
          </p:cNvPr>
          <p:cNvSpPr txBox="1"/>
          <p:nvPr/>
        </p:nvSpPr>
        <p:spPr>
          <a:xfrm>
            <a:off x="600172" y="2255039"/>
            <a:ext cx="2416292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u="sng">
                <a:solidFill>
                  <a:srgbClr val="21201C"/>
                </a:solidFill>
              </a:rPr>
              <a:t>1. Discovery</a:t>
            </a:r>
          </a:p>
          <a:p>
            <a:pPr algn="ctr"/>
            <a:r>
              <a:rPr lang="en-US" sz="1000" b="1" dirty="0">
                <a:solidFill>
                  <a:srgbClr val="21201C"/>
                </a:solidFill>
              </a:rPr>
              <a:t>Needs</a:t>
            </a:r>
            <a:r>
              <a:rPr lang="en-US" sz="1000" dirty="0">
                <a:solidFill>
                  <a:srgbClr val="21201C"/>
                </a:solidFill>
              </a:rPr>
              <a:t>:  </a:t>
            </a:r>
            <a:r>
              <a:rPr lang="en-SG" sz="1000" dirty="0">
                <a:solidFill>
                  <a:srgbClr val="21201C"/>
                </a:solidFill>
              </a:rPr>
              <a:t>Unique &amp; creator-led snippets</a:t>
            </a:r>
            <a:endParaRPr lang="en-US" sz="1000" dirty="0">
              <a:solidFill>
                <a:srgbClr val="21201C"/>
              </a:solidFill>
            </a:endParaRPr>
          </a:p>
          <a:p>
            <a:pPr algn="ctr"/>
            <a:r>
              <a:rPr lang="en-US" sz="1000" b="1" dirty="0">
                <a:solidFill>
                  <a:srgbClr val="21201C"/>
                </a:solidFill>
              </a:rPr>
              <a:t>Impacts</a:t>
            </a:r>
            <a:r>
              <a:rPr lang="en-US" sz="1000" dirty="0">
                <a:solidFill>
                  <a:srgbClr val="21201C"/>
                </a:solidFill>
              </a:rPr>
              <a:t>: Boosts awareness and recall</a:t>
            </a:r>
          </a:p>
          <a:p>
            <a:pPr algn="ctr"/>
            <a:r>
              <a:rPr lang="en-US" sz="1000" b="1" dirty="0">
                <a:solidFill>
                  <a:srgbClr val="21201C"/>
                </a:solidFill>
              </a:rPr>
              <a:t>Emotions</a:t>
            </a:r>
            <a:r>
              <a:rPr lang="en-US" sz="1000" dirty="0">
                <a:solidFill>
                  <a:srgbClr val="21201C"/>
                </a:solidFill>
              </a:rPr>
              <a:t>: </a:t>
            </a:r>
            <a:r>
              <a:rPr lang="en-SG" sz="1000" dirty="0">
                <a:solidFill>
                  <a:srgbClr val="21201C"/>
                </a:solidFill>
              </a:rPr>
              <a:t>Curious → </a:t>
            </a:r>
            <a:r>
              <a:rPr lang="en-SG" sz="1000">
                <a:solidFill>
                  <a:srgbClr val="21201C"/>
                </a:solidFill>
              </a:rPr>
              <a:t>Excited</a:t>
            </a:r>
            <a:endParaRPr lang="en-US" sz="1000" dirty="0">
              <a:solidFill>
                <a:srgbClr val="21201C"/>
              </a:solidFill>
            </a:endParaRPr>
          </a:p>
        </p:txBody>
      </p:sp>
      <p:sp>
        <p:nvSpPr>
          <p:cNvPr id="29" name="TextBox 55">
            <a:extLst>
              <a:ext uri="{FF2B5EF4-FFF2-40B4-BE49-F238E27FC236}">
                <a16:creationId xmlns:a16="http://schemas.microsoft.com/office/drawing/2014/main" id="{6FAB50FF-6FE5-B810-8C0C-8931CA2B8E35}"/>
              </a:ext>
            </a:extLst>
          </p:cNvPr>
          <p:cNvSpPr txBox="1"/>
          <p:nvPr/>
        </p:nvSpPr>
        <p:spPr>
          <a:xfrm>
            <a:off x="4393441" y="2255039"/>
            <a:ext cx="2626867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u="sng" dirty="0"/>
              <a:t>2. Joining &amp; Set-up</a:t>
            </a:r>
          </a:p>
          <a:p>
            <a:r>
              <a:rPr lang="en-US" sz="1000" b="1" dirty="0"/>
              <a:t>Needs</a:t>
            </a:r>
            <a:r>
              <a:rPr lang="en-US" sz="1000" dirty="0"/>
              <a:t>: </a:t>
            </a:r>
            <a:r>
              <a:rPr lang="en-SG" sz="1000" dirty="0"/>
              <a:t>Instant Signups &amp; One-Tap Payment</a:t>
            </a:r>
          </a:p>
          <a:p>
            <a:r>
              <a:rPr lang="en-US" sz="1000" b="1" dirty="0"/>
              <a:t>Impacts: </a:t>
            </a:r>
            <a:r>
              <a:rPr lang="en-SG" sz="1000" dirty="0"/>
              <a:t>↑ </a:t>
            </a:r>
            <a:r>
              <a:rPr lang="en-SG" sz="1000"/>
              <a:t>Conversion</a:t>
            </a:r>
            <a:r>
              <a:rPr lang="en-SG" sz="1000" dirty="0"/>
              <a:t> &amp;  </a:t>
            </a:r>
            <a:r>
              <a:rPr lang="en-SG" sz="1000"/>
              <a:t>Activations</a:t>
            </a:r>
            <a:endParaRPr lang="en-US" sz="1000" b="1" dirty="0"/>
          </a:p>
          <a:p>
            <a:r>
              <a:rPr lang="en-US" sz="1000" b="1" dirty="0"/>
              <a:t>Emotions</a:t>
            </a:r>
            <a:r>
              <a:rPr lang="en-US" sz="1000" dirty="0"/>
              <a:t>: </a:t>
            </a:r>
            <a:r>
              <a:rPr lang="en-SG" sz="1000" dirty="0"/>
              <a:t>Reassured → Confident</a:t>
            </a:r>
            <a:endParaRPr lang="en-US" sz="1000" dirty="0"/>
          </a:p>
        </p:txBody>
      </p:sp>
      <p:sp>
        <p:nvSpPr>
          <p:cNvPr id="31" name="TextBox 55">
            <a:extLst>
              <a:ext uri="{FF2B5EF4-FFF2-40B4-BE49-F238E27FC236}">
                <a16:creationId xmlns:a16="http://schemas.microsoft.com/office/drawing/2014/main" id="{DCE3F7B2-07C1-1CA9-0806-CB2659A9F76D}"/>
              </a:ext>
            </a:extLst>
          </p:cNvPr>
          <p:cNvSpPr txBox="1"/>
          <p:nvPr/>
        </p:nvSpPr>
        <p:spPr>
          <a:xfrm>
            <a:off x="884494" y="4064383"/>
            <a:ext cx="2884261" cy="86177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u="sng" dirty="0"/>
              <a:t>3. </a:t>
            </a:r>
            <a:r>
              <a:rPr lang="en-US" sz="1000" b="1" u="sng"/>
              <a:t>Ready to Watch</a:t>
            </a:r>
            <a:endParaRPr lang="en-US" sz="1000" b="1" u="sng" dirty="0"/>
          </a:p>
          <a:p>
            <a:pPr algn="ctr"/>
            <a:r>
              <a:rPr lang="en-US" sz="1000" b="1" dirty="0"/>
              <a:t>Needs: </a:t>
            </a:r>
            <a:r>
              <a:rPr lang="en-US" sz="1000" dirty="0"/>
              <a:t>Smart Recs, Quick Previews &amp; Seamless </a:t>
            </a:r>
            <a:r>
              <a:rPr lang="en-US" sz="1000"/>
              <a:t>Searches</a:t>
            </a:r>
            <a:r>
              <a:rPr lang="en-US" sz="1000" dirty="0"/>
              <a:t> </a:t>
            </a:r>
          </a:p>
          <a:p>
            <a:pPr algn="ctr"/>
            <a:r>
              <a:rPr lang="en-US" sz="1000" b="1" dirty="0"/>
              <a:t>Impacts: </a:t>
            </a:r>
            <a:r>
              <a:rPr lang="en-US" sz="1000" dirty="0"/>
              <a:t>Faster Selection, ↑ </a:t>
            </a:r>
            <a:r>
              <a:rPr lang="en-US" sz="1000"/>
              <a:t>Trailer</a:t>
            </a:r>
            <a:r>
              <a:rPr lang="en-US" sz="1000" dirty="0"/>
              <a:t> to  play rates</a:t>
            </a:r>
          </a:p>
          <a:p>
            <a:pPr algn="ctr"/>
            <a:r>
              <a:rPr lang="en-US" sz="1000" b="1" dirty="0"/>
              <a:t>Emotions: </a:t>
            </a:r>
            <a:r>
              <a:rPr lang="en-US" sz="1000" dirty="0"/>
              <a:t>Decisive → Satisfied</a:t>
            </a:r>
          </a:p>
        </p:txBody>
      </p:sp>
      <p:sp>
        <p:nvSpPr>
          <p:cNvPr id="32" name="TextBox 55">
            <a:extLst>
              <a:ext uri="{FF2B5EF4-FFF2-40B4-BE49-F238E27FC236}">
                <a16:creationId xmlns:a16="http://schemas.microsoft.com/office/drawing/2014/main" id="{6717444C-91C8-EC22-1DCB-E4A0082B5250}"/>
              </a:ext>
            </a:extLst>
          </p:cNvPr>
          <p:cNvSpPr txBox="1"/>
          <p:nvPr/>
        </p:nvSpPr>
        <p:spPr>
          <a:xfrm>
            <a:off x="4865198" y="5439434"/>
            <a:ext cx="4080698" cy="86177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4. Watch</a:t>
            </a:r>
          </a:p>
          <a:p>
            <a:pPr algn="ctr"/>
            <a:r>
              <a:rPr lang="en-US" sz="1000" b="1" dirty="0"/>
              <a:t>Needs</a:t>
            </a:r>
            <a:r>
              <a:rPr lang="en-US" sz="1000" dirty="0"/>
              <a:t>: </a:t>
            </a:r>
            <a:r>
              <a:rPr lang="en-US" sz="1000"/>
              <a:t>Uninterrupted &amp; Immersive Experience</a:t>
            </a:r>
            <a:endParaRPr lang="en-SG" sz="1000" dirty="0"/>
          </a:p>
          <a:p>
            <a:pPr algn="ctr"/>
            <a:r>
              <a:rPr lang="en-US" sz="1000" b="1" dirty="0"/>
              <a:t>Pain points</a:t>
            </a:r>
            <a:r>
              <a:rPr lang="en-US" sz="1000" dirty="0"/>
              <a:t>: </a:t>
            </a:r>
            <a:r>
              <a:rPr lang="en-SG" sz="1000"/>
              <a:t>App Hopping, Second-Screen Switch During Key Moments </a:t>
            </a:r>
            <a:endParaRPr lang="en-SG" sz="1000" dirty="0"/>
          </a:p>
          <a:p>
            <a:pPr algn="ctr"/>
            <a:r>
              <a:rPr lang="en-US" sz="1000" b="1" dirty="0"/>
              <a:t>Impacts: </a:t>
            </a:r>
            <a:r>
              <a:rPr lang="en-SG" sz="1000" dirty="0"/>
              <a:t>↓ </a:t>
            </a:r>
            <a:r>
              <a:rPr lang="en-SG" sz="1000"/>
              <a:t>Completion</a:t>
            </a:r>
            <a:r>
              <a:rPr lang="en-SG" sz="1000" dirty="0"/>
              <a:t> rate, </a:t>
            </a:r>
            <a:r>
              <a:rPr lang="en-SG" sz="1000"/>
              <a:t>Mid-Stream exits ↑</a:t>
            </a:r>
          </a:p>
          <a:p>
            <a:pPr algn="ctr"/>
            <a:r>
              <a:rPr lang="en-US" sz="1000" b="1" dirty="0"/>
              <a:t>Emotions: </a:t>
            </a:r>
            <a:r>
              <a:rPr lang="en-SG" sz="1000"/>
              <a:t>Absorbed </a:t>
            </a:r>
            <a:r>
              <a:rPr lang="en-SG" sz="1000" dirty="0"/>
              <a:t>→ </a:t>
            </a:r>
            <a:r>
              <a:rPr lang="en-SG" sz="1000"/>
              <a:t>Frustrated</a:t>
            </a:r>
          </a:p>
        </p:txBody>
      </p:sp>
      <p:sp>
        <p:nvSpPr>
          <p:cNvPr id="33" name="TextBox 55">
            <a:extLst>
              <a:ext uri="{FF2B5EF4-FFF2-40B4-BE49-F238E27FC236}">
                <a16:creationId xmlns:a16="http://schemas.microsoft.com/office/drawing/2014/main" id="{5C168129-FB28-D058-5D4E-C1DCEE4FF7F5}"/>
              </a:ext>
            </a:extLst>
          </p:cNvPr>
          <p:cNvSpPr txBox="1"/>
          <p:nvPr/>
        </p:nvSpPr>
        <p:spPr>
          <a:xfrm>
            <a:off x="8290647" y="3966657"/>
            <a:ext cx="3553547" cy="86177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5. Retain</a:t>
            </a:r>
          </a:p>
          <a:p>
            <a:pPr algn="ctr"/>
            <a:r>
              <a:rPr lang="en-US" sz="1000" b="1" dirty="0"/>
              <a:t>Needs</a:t>
            </a:r>
            <a:r>
              <a:rPr lang="en-US" sz="1000" dirty="0"/>
              <a:t>: </a:t>
            </a:r>
            <a:r>
              <a:rPr lang="en-US" sz="1000"/>
              <a:t>New Content </a:t>
            </a:r>
            <a:r>
              <a:rPr lang="en-US" sz="1000" dirty="0"/>
              <a:t>and </a:t>
            </a:r>
            <a:r>
              <a:rPr lang="en-US" sz="1000"/>
              <a:t>Quick Access </a:t>
            </a:r>
            <a:r>
              <a:rPr lang="en-US" sz="1000" dirty="0"/>
              <a:t>to  </a:t>
            </a:r>
            <a:r>
              <a:rPr lang="en-US" sz="1000"/>
              <a:t>Merch </a:t>
            </a:r>
            <a:r>
              <a:rPr lang="en-US" sz="1000" dirty="0"/>
              <a:t>or </a:t>
            </a:r>
            <a:r>
              <a:rPr lang="en-US" sz="1000"/>
              <a:t>Games</a:t>
            </a:r>
            <a:endParaRPr lang="en-US" sz="1000" dirty="0"/>
          </a:p>
          <a:p>
            <a:pPr algn="ctr"/>
            <a:r>
              <a:rPr lang="en-US" sz="1000" b="1" dirty="0"/>
              <a:t>Pain points</a:t>
            </a:r>
            <a:r>
              <a:rPr lang="en-US" sz="1000" dirty="0"/>
              <a:t>: </a:t>
            </a:r>
            <a:r>
              <a:rPr lang="en-SG" sz="1000" dirty="0"/>
              <a:t>Content </a:t>
            </a:r>
            <a:r>
              <a:rPr lang="en-SG" sz="1000"/>
              <a:t>Fatigue</a:t>
            </a:r>
            <a:r>
              <a:rPr lang="en-SG" sz="1000" dirty="0"/>
              <a:t>, </a:t>
            </a:r>
            <a:r>
              <a:rPr lang="en-SG" sz="1000"/>
              <a:t>Missed</a:t>
            </a:r>
            <a:r>
              <a:rPr lang="en-SG" sz="1000" dirty="0"/>
              <a:t> </a:t>
            </a:r>
            <a:r>
              <a:rPr lang="en-SG" sz="1000"/>
              <a:t>Post</a:t>
            </a:r>
            <a:r>
              <a:rPr lang="en-SG" sz="1000" dirty="0"/>
              <a:t> </a:t>
            </a:r>
            <a:r>
              <a:rPr lang="en-SG" sz="1000"/>
              <a:t>Hype</a:t>
            </a:r>
            <a:r>
              <a:rPr lang="en-SG" sz="1000" dirty="0"/>
              <a:t> </a:t>
            </a:r>
            <a:r>
              <a:rPr lang="en-SG" sz="1000"/>
              <a:t>Engagement</a:t>
            </a:r>
            <a:endParaRPr lang="en-SG" sz="1000" dirty="0"/>
          </a:p>
          <a:p>
            <a:pPr algn="ctr"/>
            <a:r>
              <a:rPr lang="en-US" sz="1000" b="1" dirty="0"/>
              <a:t>Impacts: </a:t>
            </a:r>
            <a:r>
              <a:rPr lang="en-SG" sz="1000" dirty="0"/>
              <a:t>↑ </a:t>
            </a:r>
            <a:r>
              <a:rPr lang="en-SG" sz="1000"/>
              <a:t>Churn</a:t>
            </a:r>
            <a:r>
              <a:rPr lang="en-SG" sz="1000" dirty="0"/>
              <a:t> &amp;  </a:t>
            </a:r>
            <a:r>
              <a:rPr lang="en-SG" sz="1000"/>
              <a:t>Weak</a:t>
            </a:r>
            <a:r>
              <a:rPr lang="en-SG" sz="1000" dirty="0"/>
              <a:t> </a:t>
            </a:r>
            <a:r>
              <a:rPr lang="en-SG" sz="1000"/>
              <a:t>Lifetime</a:t>
            </a:r>
            <a:r>
              <a:rPr lang="en-SG" sz="1000" dirty="0"/>
              <a:t> </a:t>
            </a:r>
            <a:r>
              <a:rPr lang="en-SG" sz="1000"/>
              <a:t>Value</a:t>
            </a:r>
            <a:endParaRPr lang="en-SG" sz="1000" dirty="0"/>
          </a:p>
          <a:p>
            <a:pPr algn="ctr"/>
            <a:r>
              <a:rPr lang="en-US" sz="1000" b="1" dirty="0"/>
              <a:t>Emotions: </a:t>
            </a:r>
            <a:r>
              <a:rPr lang="en-SG" sz="1000" dirty="0"/>
              <a:t>Hyped → Disappointed</a:t>
            </a:r>
            <a:endParaRPr lang="en-US" sz="1000" b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F9CD285-32AC-970A-EABA-66AB701858A8}"/>
              </a:ext>
            </a:extLst>
          </p:cNvPr>
          <p:cNvGrpSpPr/>
          <p:nvPr/>
        </p:nvGrpSpPr>
        <p:grpSpPr>
          <a:xfrm>
            <a:off x="1564861" y="3044820"/>
            <a:ext cx="486914" cy="463257"/>
            <a:chOff x="8211469" y="1123834"/>
            <a:chExt cx="486914" cy="46325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3964B4F-CC8E-E825-E3E1-804140FF2A41}"/>
                </a:ext>
              </a:extLst>
            </p:cNvPr>
            <p:cNvSpPr/>
            <p:nvPr/>
          </p:nvSpPr>
          <p:spPr>
            <a:xfrm>
              <a:off x="8211469" y="1123834"/>
              <a:ext cx="486914" cy="46325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Graphic 35" descr="Magnifying glass with solid fill">
              <a:extLst>
                <a:ext uri="{FF2B5EF4-FFF2-40B4-BE49-F238E27FC236}">
                  <a16:creationId xmlns:a16="http://schemas.microsoft.com/office/drawing/2014/main" id="{FC5C86C5-5C95-FE24-2416-5BCD86512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71400" y="1171937"/>
              <a:ext cx="367053" cy="367053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582AB3-765E-1DE6-95BF-09C842D18448}"/>
              </a:ext>
            </a:extLst>
          </p:cNvPr>
          <p:cNvGrpSpPr/>
          <p:nvPr/>
        </p:nvGrpSpPr>
        <p:grpSpPr>
          <a:xfrm>
            <a:off x="5463418" y="3046421"/>
            <a:ext cx="486914" cy="463257"/>
            <a:chOff x="9593670" y="1147728"/>
            <a:chExt cx="486914" cy="46325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410C150-C981-AB98-48CA-28AFEC6F6E86}"/>
                </a:ext>
              </a:extLst>
            </p:cNvPr>
            <p:cNvSpPr/>
            <p:nvPr/>
          </p:nvSpPr>
          <p:spPr>
            <a:xfrm>
              <a:off x="9593670" y="1147728"/>
              <a:ext cx="486914" cy="46325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0" name="Graphic 39" descr="Cheers with solid fill">
              <a:extLst>
                <a:ext uri="{FF2B5EF4-FFF2-40B4-BE49-F238E27FC236}">
                  <a16:creationId xmlns:a16="http://schemas.microsoft.com/office/drawing/2014/main" id="{7107A379-73E3-3DBF-7EC5-231AD5013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640194" y="1198072"/>
              <a:ext cx="393866" cy="393866"/>
            </a:xfrm>
            <a:prstGeom prst="rect">
              <a:avLst/>
            </a:prstGeom>
          </p:spPr>
        </p:pic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FB045506-B5F1-BAB1-9B81-8E64343DA995}"/>
              </a:ext>
            </a:extLst>
          </p:cNvPr>
          <p:cNvSpPr/>
          <p:nvPr/>
        </p:nvSpPr>
        <p:spPr>
          <a:xfrm>
            <a:off x="6662091" y="4862047"/>
            <a:ext cx="486914" cy="463257"/>
          </a:xfrm>
          <a:prstGeom prst="ellipse">
            <a:avLst/>
          </a:prstGeom>
          <a:solidFill>
            <a:srgbClr val="E409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Graphic 46" descr="Clapper board with solid fill">
            <a:extLst>
              <a:ext uri="{FF2B5EF4-FFF2-40B4-BE49-F238E27FC236}">
                <a16:creationId xmlns:a16="http://schemas.microsoft.com/office/drawing/2014/main" id="{0CB8CA48-DD8D-2C81-C2C0-B2A15DBA7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3472" y="4911599"/>
            <a:ext cx="364151" cy="364151"/>
          </a:xfrm>
          <a:prstGeom prst="rect">
            <a:avLst/>
          </a:prstGeom>
        </p:spPr>
      </p:pic>
      <p:grpSp>
        <p:nvGrpSpPr>
          <p:cNvPr id="8064" name="Group 8063">
            <a:extLst>
              <a:ext uri="{FF2B5EF4-FFF2-40B4-BE49-F238E27FC236}">
                <a16:creationId xmlns:a16="http://schemas.microsoft.com/office/drawing/2014/main" id="{FE1F0D52-0BD4-BA76-8C74-D7A0C4E127B0}"/>
              </a:ext>
            </a:extLst>
          </p:cNvPr>
          <p:cNvGrpSpPr/>
          <p:nvPr/>
        </p:nvGrpSpPr>
        <p:grpSpPr>
          <a:xfrm>
            <a:off x="4109405" y="4258341"/>
            <a:ext cx="486913" cy="463257"/>
            <a:chOff x="4869943" y="4295117"/>
            <a:chExt cx="486913" cy="46325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A07119-0F53-3413-D54E-2FE05049C42A}"/>
                </a:ext>
              </a:extLst>
            </p:cNvPr>
            <p:cNvSpPr/>
            <p:nvPr/>
          </p:nvSpPr>
          <p:spPr>
            <a:xfrm>
              <a:off x="4869943" y="4295117"/>
              <a:ext cx="486913" cy="46325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9" name="Graphic 48" descr="Head with gears with solid fill">
              <a:extLst>
                <a:ext uri="{FF2B5EF4-FFF2-40B4-BE49-F238E27FC236}">
                  <a16:creationId xmlns:a16="http://schemas.microsoft.com/office/drawing/2014/main" id="{8B41A970-03BB-729B-BDD5-1E4C11324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916466" y="4322232"/>
              <a:ext cx="393866" cy="393866"/>
            </a:xfrm>
            <a:prstGeom prst="rect">
              <a:avLst/>
            </a:prstGeom>
          </p:spPr>
        </p:pic>
      </p:grpSp>
      <p:pic>
        <p:nvPicPr>
          <p:cNvPr id="58" name="Graphic 57" descr="Stars with solid fill">
            <a:extLst>
              <a:ext uri="{FF2B5EF4-FFF2-40B4-BE49-F238E27FC236}">
                <a16:creationId xmlns:a16="http://schemas.microsoft.com/office/drawing/2014/main" id="{D6AA1E93-E14F-7F25-E4E5-546CA0A9A8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44632" y="4974442"/>
            <a:ext cx="457200" cy="4572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8180661-69E3-E333-A42C-C7B7B50E353D}"/>
              </a:ext>
            </a:extLst>
          </p:cNvPr>
          <p:cNvSpPr txBox="1"/>
          <p:nvPr/>
        </p:nvSpPr>
        <p:spPr>
          <a:xfrm>
            <a:off x="1344867" y="1102586"/>
            <a:ext cx="5583037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Name: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 Jerald (Gen Z, Movie Enthusiast)</a:t>
            </a:r>
            <a:br>
              <a:rPr lang="en-US" altLang="en-US" sz="1400" b="0" i="0" u="none" strike="noStrike" cap="none" normalizeH="0" baseline="0" dirty="0">
                <a:ln>
                  <a:noFill/>
                </a:ln>
                <a:effectLst/>
                <a:latin typeface="Aptos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Age: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 20</a:t>
            </a:r>
            <a:br>
              <a:rPr lang="en-US" altLang="en-US" sz="1400" b="0" i="0" u="none" strike="noStrike" cap="none" normalizeH="0" baseline="0" dirty="0">
                <a:ln>
                  <a:noFill/>
                </a:ln>
                <a:effectLst/>
                <a:latin typeface="Aptos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Devices: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 iPhone (primary), </a:t>
            </a:r>
            <a:r>
              <a:rPr lang="en-US" altLang="en-US" sz="1400">
                <a:solidFill>
                  <a:srgbClr val="000000"/>
                </a:solidFill>
                <a:latin typeface="Aptos"/>
              </a:rPr>
              <a:t>Shared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TV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&amp;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</a:t>
            </a:r>
            <a:r>
              <a:rPr lang="en-US" altLang="en-US" sz="1400">
                <a:solidFill>
                  <a:srgbClr val="000000"/>
                </a:solidFill>
                <a:latin typeface="Aptos"/>
              </a:rPr>
              <a:t>Smart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</a:t>
            </a:r>
            <a:r>
              <a:rPr lang="en-US" altLang="en-US" sz="1400">
                <a:solidFill>
                  <a:srgbClr val="000000"/>
                </a:solidFill>
                <a:latin typeface="Aptos"/>
              </a:rPr>
              <a:t>Lights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in </a:t>
            </a:r>
            <a:r>
              <a:rPr lang="en-US" altLang="en-US" sz="1400">
                <a:solidFill>
                  <a:srgbClr val="000000"/>
                </a:solidFill>
                <a:latin typeface="Aptos"/>
              </a:rPr>
              <a:t>Living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/>
              </a:rPr>
              <a:t> </a:t>
            </a:r>
            <a:r>
              <a:rPr lang="en-US" altLang="en-US" sz="1400">
                <a:solidFill>
                  <a:srgbClr val="000000"/>
                </a:solidFill>
                <a:latin typeface="Aptos"/>
              </a:rPr>
              <a:t>Room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  <a:latin typeface="Aptos"/>
            </a:endParaRPr>
          </a:p>
        </p:txBody>
      </p:sp>
      <p:sp>
        <p:nvSpPr>
          <p:cNvPr id="8065" name="Rectangle 8064">
            <a:extLst>
              <a:ext uri="{FF2B5EF4-FFF2-40B4-BE49-F238E27FC236}">
                <a16:creationId xmlns:a16="http://schemas.microsoft.com/office/drawing/2014/main" id="{5EEAA30C-888D-3276-5778-4CF9AA1B3502}"/>
              </a:ext>
            </a:extLst>
          </p:cNvPr>
          <p:cNvSpPr/>
          <p:nvPr/>
        </p:nvSpPr>
        <p:spPr>
          <a:xfrm>
            <a:off x="554183" y="6433432"/>
            <a:ext cx="11012773" cy="35246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6" name="Rectangle 4">
            <a:extLst>
              <a:ext uri="{FF2B5EF4-FFF2-40B4-BE49-F238E27FC236}">
                <a16:creationId xmlns:a16="http://schemas.microsoft.com/office/drawing/2014/main" id="{11A39973-541E-BFF8-4CD8-A34A2507D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546" y="6471071"/>
            <a:ext cx="1115564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latin typeface="Aptos Display"/>
              </a:rPr>
              <a:t>What </a:t>
            </a:r>
            <a:r>
              <a:rPr kumimoji="0" lang="en-US" sz="1200">
                <a:latin typeface="Aptos Display"/>
              </a:rPr>
              <a:t>starts with excitement for Jerald ends in disappointment which highlights  Netflix’s need to deliver consistency and build lasting trust across every touchpoint.</a:t>
            </a:r>
            <a:endParaRPr lang="en-US" sz="1200">
              <a:latin typeface="Aptos Display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C7EF4B-B359-6757-6FD4-895D94BC8C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3350" y="839234"/>
            <a:ext cx="1115532" cy="1062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A0EFB2-990E-007C-D5E6-3A8E1D4BF28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1681" y="1105402"/>
            <a:ext cx="4496230" cy="2458595"/>
          </a:xfrm>
          <a:prstGeom prst="rect">
            <a:avLst/>
          </a:prstGeom>
        </p:spPr>
      </p:pic>
      <p:pic>
        <p:nvPicPr>
          <p:cNvPr id="4" name="Graphic 3" descr="Game controller with solid fill">
            <a:extLst>
              <a:ext uri="{FF2B5EF4-FFF2-40B4-BE49-F238E27FC236}">
                <a16:creationId xmlns:a16="http://schemas.microsoft.com/office/drawing/2014/main" id="{7ACD52FB-2A6C-B7B8-1B68-E2A2E1E902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86859" y="1241544"/>
            <a:ext cx="415949" cy="370115"/>
          </a:xfrm>
          <a:prstGeom prst="rect">
            <a:avLst/>
          </a:prstGeom>
        </p:spPr>
      </p:pic>
      <p:pic>
        <p:nvPicPr>
          <p:cNvPr id="7" name="Graphic 6" descr="Shopping bag with solid fill">
            <a:extLst>
              <a:ext uri="{FF2B5EF4-FFF2-40B4-BE49-F238E27FC236}">
                <a16:creationId xmlns:a16="http://schemas.microsoft.com/office/drawing/2014/main" id="{C0553054-8393-C6C3-D5EA-C8618BAF33C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373852" y="1189980"/>
            <a:ext cx="484701" cy="46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9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67A4D-28A0-006D-47DF-30FCCE74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DD23C16-432D-1C2E-EA50-D1DB2693C4F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6489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D23C16-432D-1C2E-EA50-D1DB2693C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BB62DBD-417D-1109-F2EC-735C39F9D6C6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F3BBE-6229-B227-DDEA-946B57955946}"/>
              </a:ext>
            </a:extLst>
          </p:cNvPr>
          <p:cNvSpPr txBox="1"/>
          <p:nvPr/>
        </p:nvSpPr>
        <p:spPr>
          <a:xfrm>
            <a:off x="367295" y="-7991"/>
            <a:ext cx="1053550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Shoppable Ecosystem at Your Fingertips: </a:t>
            </a:r>
            <a:r>
              <a:rPr lang="en-US" sz="2500" b="1" i="1" dirty="0" err="1">
                <a:solidFill>
                  <a:schemeClr val="bg1"/>
                </a:solidFill>
                <a:ea typeface="+mn-lt"/>
                <a:cs typeface="+mn-lt"/>
              </a:rPr>
              <a:t>Stream&amp;Shop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79BC61B0-D550-9A08-BC45-77481DD29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F69A8F-3A55-B692-F505-75C827D7512B}"/>
              </a:ext>
            </a:extLst>
          </p:cNvPr>
          <p:cNvSpPr txBox="1"/>
          <p:nvPr/>
        </p:nvSpPr>
        <p:spPr>
          <a:xfrm>
            <a:off x="108428" y="546988"/>
            <a:ext cx="1201657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  <a:ea typeface="+mn-lt"/>
                <a:cs typeface="+mn-lt"/>
              </a:rPr>
              <a:t>A </a:t>
            </a:r>
            <a:r>
              <a:rPr lang="en-US" sz="1400" b="1" dirty="0">
                <a:solidFill>
                  <a:srgbClr val="C00000"/>
                </a:solidFill>
                <a:ea typeface="+mn-lt"/>
                <a:cs typeface="+mn-lt"/>
              </a:rPr>
              <a:t>shoppable ecosystem </a:t>
            </a:r>
            <a:r>
              <a:rPr lang="en-US" sz="1400" dirty="0">
                <a:solidFill>
                  <a:srgbClr val="C00000"/>
                </a:solidFill>
                <a:ea typeface="+mn-lt"/>
                <a:cs typeface="+mn-lt"/>
              </a:rPr>
              <a:t>allows viewers to directly </a:t>
            </a:r>
            <a:r>
              <a:rPr lang="en-US" sz="1400" b="1" dirty="0">
                <a:solidFill>
                  <a:srgbClr val="C00000"/>
                </a:solidFill>
                <a:ea typeface="+mn-lt"/>
                <a:cs typeface="+mn-lt"/>
              </a:rPr>
              <a:t>browse and purchase products </a:t>
            </a:r>
            <a:r>
              <a:rPr lang="en-US" sz="1400" dirty="0">
                <a:solidFill>
                  <a:srgbClr val="C00000"/>
                </a:solidFill>
                <a:ea typeface="+mn-lt"/>
                <a:cs typeface="+mn-lt"/>
              </a:rPr>
              <a:t>featured within a show without disrupting the viewing experience.</a:t>
            </a:r>
          </a:p>
          <a:p>
            <a:pPr algn="ctr"/>
            <a:endParaRPr lang="en-US" sz="1400" dirty="0">
              <a:solidFill>
                <a:srgbClr val="C00000"/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It connects </a:t>
            </a:r>
            <a:r>
              <a:rPr lang="en-US" sz="1400" b="1" dirty="0">
                <a:ea typeface="+mn-lt"/>
                <a:cs typeface="+mn-lt"/>
              </a:rPr>
              <a:t>content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b="1" dirty="0">
                <a:ea typeface="+mn-lt"/>
                <a:cs typeface="+mn-lt"/>
              </a:rPr>
              <a:t>commerce</a:t>
            </a:r>
            <a:r>
              <a:rPr lang="en-US" sz="1400" dirty="0">
                <a:ea typeface="+mn-lt"/>
                <a:cs typeface="+mn-lt"/>
              </a:rPr>
              <a:t>, and </a:t>
            </a:r>
            <a:r>
              <a:rPr lang="en-US" sz="1400" b="1" dirty="0">
                <a:ea typeface="+mn-lt"/>
                <a:cs typeface="+mn-lt"/>
              </a:rPr>
              <a:t>technology</a:t>
            </a:r>
            <a:r>
              <a:rPr lang="en-US" sz="1400" dirty="0">
                <a:ea typeface="+mn-lt"/>
                <a:cs typeface="+mn-lt"/>
              </a:rPr>
              <a:t> into one seamless experience.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You see an item you like on screen → click/tap it → learn more → buy it instantly — all inside Netflix</a:t>
            </a:r>
            <a:endParaRPr lang="en-US" dirty="0"/>
          </a:p>
          <a:p>
            <a:endParaRPr lang="en-US" sz="1400" b="1" dirty="0"/>
          </a:p>
        </p:txBody>
      </p:sp>
      <p:pic>
        <p:nvPicPr>
          <p:cNvPr id="11" name="Picture 10" descr="Emily in Paris still">
            <a:extLst>
              <a:ext uri="{FF2B5EF4-FFF2-40B4-BE49-F238E27FC236}">
                <a16:creationId xmlns:a16="http://schemas.microsoft.com/office/drawing/2014/main" id="{DB756BB2-FFF0-E929-57C0-CD6B1CBED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219" y="2569828"/>
            <a:ext cx="2964871" cy="1946582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B40BDD58-4BA4-821B-0533-AFBAD86FD7E9}"/>
              </a:ext>
            </a:extLst>
          </p:cNvPr>
          <p:cNvSpPr txBox="1"/>
          <p:nvPr/>
        </p:nvSpPr>
        <p:spPr>
          <a:xfrm>
            <a:off x="5493340" y="2004155"/>
            <a:ext cx="1763635" cy="1338828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  <a:prstDash val="sysDot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chemeClr val="bg1"/>
                </a:solidFill>
              </a:rPr>
              <a:t>Product Name:</a:t>
            </a:r>
            <a:r>
              <a:rPr lang="en-US" sz="900">
                <a:solidFill>
                  <a:schemeClr val="bg1"/>
                </a:solidFill>
              </a:rPr>
              <a:t> “Button up top and skirt”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Brand:</a:t>
            </a:r>
            <a:r>
              <a:rPr lang="en-US" sz="900">
                <a:solidFill>
                  <a:schemeClr val="bg1"/>
                </a:solidFill>
              </a:rPr>
              <a:t> Zara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Price:</a:t>
            </a:r>
            <a:r>
              <a:rPr lang="en-US" sz="900">
                <a:solidFill>
                  <a:schemeClr val="bg1"/>
                </a:solidFill>
              </a:rPr>
              <a:t> $199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⭐ </a:t>
            </a:r>
            <a:r>
              <a:rPr lang="en-US" sz="900" b="1">
                <a:solidFill>
                  <a:schemeClr val="bg1"/>
                </a:solidFill>
              </a:rPr>
              <a:t>Rating:</a:t>
            </a:r>
            <a:r>
              <a:rPr lang="en-US" sz="900">
                <a:solidFill>
                  <a:schemeClr val="bg1"/>
                </a:solidFill>
              </a:rPr>
              <a:t> ★★★★☆ (4.6/5)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Available Sizes:</a:t>
            </a:r>
            <a:r>
              <a:rPr lang="en-US" sz="900">
                <a:solidFill>
                  <a:schemeClr val="bg1"/>
                </a:solidFill>
              </a:rPr>
              <a:t> S, M, L, XL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🔘 </a:t>
            </a:r>
            <a:r>
              <a:rPr lang="en-US" sz="900" b="1">
                <a:solidFill>
                  <a:schemeClr val="bg1"/>
                </a:solidFill>
              </a:rPr>
              <a:t>Add to Cart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🔘 </a:t>
            </a:r>
            <a:r>
              <a:rPr lang="en-US" sz="900" b="1">
                <a:solidFill>
                  <a:schemeClr val="bg1"/>
                </a:solidFill>
              </a:rPr>
              <a:t>View Details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🔘 </a:t>
            </a:r>
            <a:r>
              <a:rPr lang="en-US" sz="900" b="1">
                <a:solidFill>
                  <a:schemeClr val="bg1"/>
                </a:solidFill>
              </a:rPr>
              <a:t>Save for Later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EFDC5-66F1-6AF9-56F9-4FF78F5F8E7A}"/>
              </a:ext>
            </a:extLst>
          </p:cNvPr>
          <p:cNvSpPr txBox="1"/>
          <p:nvPr/>
        </p:nvSpPr>
        <p:spPr>
          <a:xfrm>
            <a:off x="1983019" y="4513436"/>
            <a:ext cx="609600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b="1"/>
              <a:t>Example: A scene from </a:t>
            </a:r>
            <a:r>
              <a:rPr lang="en-US" sz="1050" b="1" i="1"/>
              <a:t>Emily in Paris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919E004-11E5-A520-054C-AF6A5CD5A19E}"/>
              </a:ext>
            </a:extLst>
          </p:cNvPr>
          <p:cNvSpPr/>
          <p:nvPr/>
        </p:nvSpPr>
        <p:spPr>
          <a:xfrm rot="7740000">
            <a:off x="5034515" y="3407013"/>
            <a:ext cx="495300" cy="24765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EF920-DE2A-67D2-F38C-B8F60CC2D5A8}"/>
              </a:ext>
            </a:extLst>
          </p:cNvPr>
          <p:cNvSpPr txBox="1"/>
          <p:nvPr/>
        </p:nvSpPr>
        <p:spPr>
          <a:xfrm>
            <a:off x="9659309" y="1493849"/>
            <a:ext cx="10141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>
                <a:solidFill>
                  <a:srgbClr val="C00000"/>
                </a:solidFill>
                <a:latin typeface="Aptos"/>
              </a:rPr>
              <a:t>Format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05A1AB-679E-460C-9C36-9C402F9401F8}"/>
              </a:ext>
            </a:extLst>
          </p:cNvPr>
          <p:cNvSpPr/>
          <p:nvPr/>
        </p:nvSpPr>
        <p:spPr>
          <a:xfrm>
            <a:off x="94543" y="2023075"/>
            <a:ext cx="3218447" cy="810454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latin typeface="Aptos"/>
                <a:ea typeface="Arial"/>
                <a:cs typeface="Arial"/>
              </a:rPr>
              <a:t>        </a:t>
            </a:r>
            <a:r>
              <a:rPr lang="en-US" sz="1200" b="1" baseline="0" dirty="0">
                <a:solidFill>
                  <a:srgbClr val="FF0000"/>
                </a:solidFill>
                <a:latin typeface="Aptos"/>
                <a:ea typeface="Arial"/>
                <a:cs typeface="Arial"/>
              </a:rPr>
              <a:t>Interactive Product Tagging</a:t>
            </a:r>
            <a:r>
              <a:rPr lang="en-US" sz="1200" b="1" dirty="0">
                <a:solidFill>
                  <a:srgbClr val="FF0000"/>
                </a:solidFill>
                <a:latin typeface="Aptos"/>
                <a:ea typeface="Arial"/>
                <a:cs typeface="Arial"/>
              </a:rPr>
              <a:t>​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100" dirty="0">
                <a:latin typeface="Aptos"/>
                <a:ea typeface="Arial"/>
                <a:cs typeface="Arial"/>
              </a:rPr>
              <a:t> </a:t>
            </a:r>
            <a:r>
              <a:rPr lang="en-US" sz="1100" baseline="0" dirty="0">
                <a:latin typeface="Aptos"/>
                <a:ea typeface="Arial"/>
                <a:cs typeface="Arial"/>
              </a:rPr>
              <a:t>Viewers </a:t>
            </a:r>
            <a:r>
              <a:rPr lang="en-US" sz="1100" dirty="0">
                <a:latin typeface="Aptos"/>
                <a:ea typeface="Arial"/>
                <a:cs typeface="Arial"/>
              </a:rPr>
              <a:t>can click or tap on items </a:t>
            </a:r>
            <a:r>
              <a:rPr lang="en-US" sz="1100" baseline="0" dirty="0">
                <a:latin typeface="Aptos"/>
                <a:ea typeface="Arial"/>
                <a:cs typeface="Arial"/>
              </a:rPr>
              <a:t>(clothing, gadgets, décor, etc.)</a:t>
            </a:r>
            <a:r>
              <a:rPr lang="en-US" sz="1100" dirty="0">
                <a:latin typeface="Aptos"/>
                <a:ea typeface="Arial"/>
                <a:cs typeface="Arial"/>
              </a:rPr>
              <a:t> </a:t>
            </a:r>
            <a:r>
              <a:rPr lang="en-US" sz="1100" baseline="0" dirty="0">
                <a:latin typeface="Aptos"/>
                <a:ea typeface="Arial"/>
                <a:cs typeface="Arial"/>
              </a:rPr>
              <a:t>featured in a scene</a:t>
            </a:r>
            <a:endParaRPr lang="en-US" sz="9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F634DF-91A7-B1CF-35D9-B5A3790F003A}"/>
              </a:ext>
            </a:extLst>
          </p:cNvPr>
          <p:cNvSpPr/>
          <p:nvPr/>
        </p:nvSpPr>
        <p:spPr>
          <a:xfrm>
            <a:off x="89060" y="3026283"/>
            <a:ext cx="3218448" cy="837864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FF0000"/>
                </a:solidFill>
                <a:latin typeface="Aptos"/>
                <a:ea typeface="Arial"/>
                <a:cs typeface="Arial"/>
              </a:rPr>
              <a:t>Wishlist &amp; Checkout Integration</a:t>
            </a:r>
            <a:endParaRPr lang="en-US">
              <a:solidFill>
                <a:srgbClr val="FF0000"/>
              </a:solidFill>
            </a:endParaRPr>
          </a:p>
          <a:p>
            <a:pPr marL="228600" indent="-22860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Aptos"/>
                <a:ea typeface="Arial"/>
                <a:cs typeface="Arial"/>
              </a:rPr>
              <a:t>A</a:t>
            </a:r>
            <a:r>
              <a:rPr lang="en-US" sz="1100">
                <a:solidFill>
                  <a:schemeClr val="bg1"/>
                </a:solidFill>
                <a:latin typeface="Aptos"/>
                <a:ea typeface="Arial"/>
                <a:cs typeface="Arial"/>
              </a:rPr>
              <a:t>dd </a:t>
            </a:r>
            <a:r>
              <a:rPr lang="en-US" sz="11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items</a:t>
            </a:r>
            <a:r>
              <a:rPr lang="en-US" sz="1100">
                <a:solidFill>
                  <a:schemeClr val="bg1"/>
                </a:solidFill>
                <a:latin typeface="Aptos"/>
                <a:ea typeface="Arial"/>
                <a:cs typeface="Arial"/>
              </a:rPr>
              <a:t> to </a:t>
            </a:r>
            <a:r>
              <a:rPr lang="en-US" sz="11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a </a:t>
            </a:r>
            <a:r>
              <a:rPr lang="en-US" sz="1100">
                <a:solidFill>
                  <a:schemeClr val="bg1"/>
                </a:solidFill>
                <a:latin typeface="Aptos"/>
                <a:ea typeface="Arial"/>
                <a:cs typeface="Arial"/>
              </a:rPr>
              <a:t>Netflix “Wishlist” for later</a:t>
            </a:r>
          </a:p>
          <a:p>
            <a:pPr marL="228600" indent="-22860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latin typeface="Aptos"/>
                <a:ea typeface="Arial"/>
                <a:cs typeface="Arial"/>
              </a:rPr>
              <a:t>Unified checkout through Netflix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5C30F9-3AA2-982D-EDB0-F105DE2CF888}"/>
              </a:ext>
            </a:extLst>
          </p:cNvPr>
          <p:cNvSpPr/>
          <p:nvPr/>
        </p:nvSpPr>
        <p:spPr>
          <a:xfrm>
            <a:off x="100025" y="4078829"/>
            <a:ext cx="3212966" cy="870756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latin typeface="Aptos"/>
                <a:ea typeface="Segoe UI"/>
                <a:cs typeface="Segoe UI"/>
              </a:rPr>
              <a:t>   </a:t>
            </a:r>
            <a:r>
              <a:rPr lang="en-US" sz="1200" b="1" baseline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Non-Intrusive Design</a:t>
            </a:r>
            <a:r>
              <a:rPr lang="en-US" sz="120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>
              <a:solidFill>
                <a:srgbClr val="FF0000"/>
              </a:solidFill>
            </a:endParaRPr>
          </a:p>
          <a:p>
            <a:pPr marL="228600" indent="-228600">
              <a:buFont typeface=""/>
              <a:buChar char="•"/>
            </a:pPr>
            <a:r>
              <a:rPr lang="en-US" sz="1100" baseline="0">
                <a:latin typeface="Aptos"/>
                <a:ea typeface="Arial"/>
                <a:cs typeface="Arial"/>
              </a:rPr>
              <a:t>Shopping features appear only when </a:t>
            </a:r>
            <a:r>
              <a:rPr lang="en-US" sz="1100">
                <a:latin typeface="Aptos"/>
                <a:ea typeface="Arial"/>
                <a:cs typeface="Arial"/>
              </a:rPr>
              <a:t>users engage</a:t>
            </a:r>
            <a:r>
              <a:rPr lang="en-US" sz="1100" baseline="0">
                <a:latin typeface="Aptos"/>
                <a:ea typeface="Arial"/>
                <a:cs typeface="Arial"/>
              </a:rPr>
              <a:t>, keeping the core viewing </a:t>
            </a:r>
            <a:r>
              <a:rPr lang="en-US" sz="1100">
                <a:latin typeface="Aptos"/>
                <a:ea typeface="Arial"/>
                <a:cs typeface="Arial"/>
              </a:rPr>
              <a:t>experience immersive</a:t>
            </a:r>
            <a:r>
              <a:rPr lang="en-US" sz="1100" baseline="0">
                <a:latin typeface="Aptos"/>
                <a:ea typeface="Arial"/>
                <a:cs typeface="Arial"/>
              </a:rPr>
              <a:t> and distraction-free</a:t>
            </a:r>
            <a:r>
              <a:rPr lang="en-US" sz="1100">
                <a:latin typeface="Aptos"/>
                <a:ea typeface="Arial"/>
                <a:cs typeface="Arial"/>
              </a:rPr>
              <a:t>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0911BC-62DC-AC67-9CDF-7A9CC21FAD62}"/>
              </a:ext>
            </a:extLst>
          </p:cNvPr>
          <p:cNvSpPr txBox="1"/>
          <p:nvPr/>
        </p:nvSpPr>
        <p:spPr>
          <a:xfrm>
            <a:off x="3163122" y="6335501"/>
            <a:ext cx="6424920" cy="46166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i="1" baseline="0">
                <a:latin typeface="Aptos"/>
              </a:rPr>
              <a:t>The Shoppable Ecosystem blurs the line between content and commerce — evolving Netflix from a streaming service into a lifestyle platform that entertains, engages, and sells.</a:t>
            </a:r>
            <a:r>
              <a:rPr sz="1200">
                <a:latin typeface="Aptos"/>
                <a:ea typeface="Aptos"/>
                <a:cs typeface="Aptos"/>
              </a:rPr>
              <a:t>​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C68F59-79E3-EE8C-CCDB-92B71F34BDB8}"/>
              </a:ext>
            </a:extLst>
          </p:cNvPr>
          <p:cNvSpPr txBox="1"/>
          <p:nvPr/>
        </p:nvSpPr>
        <p:spPr>
          <a:xfrm>
            <a:off x="8217539" y="1921446"/>
            <a:ext cx="3804519" cy="7848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200" b="1" baseline="0">
                <a:latin typeface="Aptos"/>
                <a:ea typeface="Segoe UI"/>
                <a:cs typeface="Segoe UI"/>
              </a:rPr>
              <a:t>  Integrated E-Commerce Partnerships</a:t>
            </a:r>
            <a:r>
              <a:rPr lang="en-US" sz="1200" baseline="0">
                <a:latin typeface="Aptos"/>
                <a:ea typeface="Segoe UI"/>
                <a:cs typeface="Segoe UI"/>
              </a:rPr>
              <a:t>​</a:t>
            </a:r>
            <a:r>
              <a:rPr lang="en-US" sz="1200">
                <a:latin typeface="Aptos"/>
                <a:ea typeface="Segoe UI"/>
                <a:cs typeface="Segoe UI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1100" baseline="0">
                <a:latin typeface="Aptos"/>
                <a:ea typeface="Arial"/>
                <a:cs typeface="Arial"/>
              </a:rPr>
              <a:t>Collaboration with major retailers (e.g., Zara,</a:t>
            </a:r>
            <a:r>
              <a:rPr lang="en-US" sz="1100">
                <a:latin typeface="Aptos"/>
                <a:ea typeface="Arial"/>
                <a:cs typeface="Arial"/>
              </a:rPr>
              <a:t> </a:t>
            </a:r>
            <a:r>
              <a:rPr lang="en-US" sz="1100" baseline="0">
                <a:latin typeface="Aptos"/>
                <a:ea typeface="Arial"/>
                <a:cs typeface="Arial"/>
              </a:rPr>
              <a:t>Ikea, H&amp;M)</a:t>
            </a:r>
            <a:r>
              <a:rPr lang="en-US" sz="1100"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1100" baseline="0">
                <a:latin typeface="Aptos"/>
                <a:ea typeface="Arial"/>
                <a:cs typeface="Arial"/>
              </a:rPr>
              <a:t>Enables direct purchasing or </a:t>
            </a:r>
            <a:r>
              <a:rPr lang="en-US" sz="1100">
                <a:latin typeface="Aptos"/>
                <a:ea typeface="Arial"/>
                <a:cs typeface="Arial"/>
              </a:rPr>
              <a:t>wish-listing from</a:t>
            </a:r>
            <a:r>
              <a:rPr lang="en-US" sz="1100" baseline="0">
                <a:latin typeface="Aptos"/>
                <a:ea typeface="Arial"/>
                <a:cs typeface="Arial"/>
              </a:rPr>
              <a:t> within Netflix​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C96D77-7547-AA8E-15B6-C20782D6F0E7}"/>
              </a:ext>
            </a:extLst>
          </p:cNvPr>
          <p:cNvSpPr txBox="1"/>
          <p:nvPr/>
        </p:nvSpPr>
        <p:spPr>
          <a:xfrm>
            <a:off x="8217540" y="2923920"/>
            <a:ext cx="3810001" cy="6639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125"/>
              </a:lnSpc>
            </a:pPr>
            <a:r>
              <a:rPr lang="en-US" sz="1200" b="1">
                <a:latin typeface="Aptos"/>
                <a:cs typeface="Segoe UI"/>
              </a:rPr>
              <a:t>"Behind-the-Scenes Shop"</a:t>
            </a:r>
            <a:endParaRPr lang="en-US"/>
          </a:p>
          <a:p>
            <a:pPr marL="171450" indent="-171450">
              <a:lnSpc>
                <a:spcPts val="1125"/>
              </a:lnSpc>
              <a:buFont typeface="Arial"/>
              <a:buChar char="•"/>
            </a:pPr>
            <a:r>
              <a:rPr lang="en-US" sz="1200">
                <a:latin typeface="Aptos"/>
                <a:ea typeface="Arial"/>
                <a:cs typeface="Segoe UI"/>
              </a:rPr>
              <a:t>Add a short behind-the-scenes video after an episode, showing featured fashion or equipment with each item linked to stores</a:t>
            </a:r>
          </a:p>
        </p:txBody>
      </p:sp>
      <p:pic>
        <p:nvPicPr>
          <p:cNvPr id="32" name="Picture 31" descr="A screenshot of a shop&#10;&#10;AI-generated content may be incorrect.">
            <a:extLst>
              <a:ext uri="{FF2B5EF4-FFF2-40B4-BE49-F238E27FC236}">
                <a16:creationId xmlns:a16="http://schemas.microsoft.com/office/drawing/2014/main" id="{FDCE5A27-A9B2-8AE7-34F4-68A45EC34F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4"/>
          <a:stretch>
            <a:fillRect/>
          </a:stretch>
        </p:blipFill>
        <p:spPr>
          <a:xfrm>
            <a:off x="8745251" y="4418894"/>
            <a:ext cx="2845348" cy="17419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CB81B8C-676B-FAA9-A184-5BF5F97714E3}"/>
              </a:ext>
            </a:extLst>
          </p:cNvPr>
          <p:cNvSpPr txBox="1"/>
          <p:nvPr/>
        </p:nvSpPr>
        <p:spPr>
          <a:xfrm>
            <a:off x="8212057" y="3802951"/>
            <a:ext cx="3810001" cy="5228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125"/>
              </a:lnSpc>
            </a:pPr>
            <a:r>
              <a:rPr lang="en-US" sz="1200" b="1">
                <a:latin typeface="Aptos"/>
                <a:cs typeface="Segoe UI"/>
              </a:rPr>
              <a:t>"Mini Shopping Tab" in Profiles</a:t>
            </a:r>
            <a:endParaRPr lang="en-US"/>
          </a:p>
          <a:p>
            <a:pPr marL="171450" indent="-171450">
              <a:lnSpc>
                <a:spcPts val="1125"/>
              </a:lnSpc>
              <a:buFont typeface="Arial"/>
              <a:buChar char="•"/>
            </a:pPr>
            <a:r>
              <a:rPr lang="en-US" sz="1200">
                <a:latin typeface="Aptos"/>
                <a:ea typeface="Arial"/>
                <a:cs typeface="Segoe UI"/>
              </a:rPr>
              <a:t>A static tab next to "My List" where users can see products from shows they recently watched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36547D-F5B6-5F62-C196-25C7C4CE2C92}"/>
              </a:ext>
            </a:extLst>
          </p:cNvPr>
          <p:cNvCxnSpPr>
            <a:cxnSpLocks/>
          </p:cNvCxnSpPr>
          <p:nvPr/>
        </p:nvCxnSpPr>
        <p:spPr>
          <a:xfrm flipV="1">
            <a:off x="8073406" y="1770462"/>
            <a:ext cx="4058441" cy="6852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723240E-3466-B095-6A3F-AE27A854C98E}"/>
              </a:ext>
            </a:extLst>
          </p:cNvPr>
          <p:cNvCxnSpPr>
            <a:cxnSpLocks/>
          </p:cNvCxnSpPr>
          <p:nvPr/>
        </p:nvCxnSpPr>
        <p:spPr>
          <a:xfrm>
            <a:off x="75149" y="5273521"/>
            <a:ext cx="7632712" cy="15076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ABAF4F-F87C-187F-B66F-FBCF7CEE03B7}"/>
              </a:ext>
            </a:extLst>
          </p:cNvPr>
          <p:cNvCxnSpPr>
            <a:cxnSpLocks/>
          </p:cNvCxnSpPr>
          <p:nvPr/>
        </p:nvCxnSpPr>
        <p:spPr>
          <a:xfrm flipV="1">
            <a:off x="80629" y="1770462"/>
            <a:ext cx="7627232" cy="6852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02E0F4-A6A1-5E74-867C-7711E55241FF}"/>
              </a:ext>
            </a:extLst>
          </p:cNvPr>
          <p:cNvSpPr txBox="1"/>
          <p:nvPr/>
        </p:nvSpPr>
        <p:spPr>
          <a:xfrm>
            <a:off x="3305655" y="1510295"/>
            <a:ext cx="172135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 baseline="0">
                <a:solidFill>
                  <a:srgbClr val="C00000"/>
                </a:solidFill>
                <a:latin typeface="Aptos"/>
              </a:rPr>
              <a:t>Key Features</a:t>
            </a:r>
            <a:r>
              <a:rPr lang="en-US" sz="1400">
                <a:solidFill>
                  <a:srgbClr val="C00000"/>
                </a:solidFill>
                <a:latin typeface="Aptos"/>
                <a:ea typeface="Aptos"/>
                <a:cs typeface="Aptos"/>
              </a:rPr>
              <a:t>​</a:t>
            </a:r>
            <a:endParaRPr lang="en-US">
              <a:solidFill>
                <a:srgbClr val="C00000"/>
              </a:solidFill>
            </a:endParaRPr>
          </a:p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C55EAA-B0F9-D063-A685-E09F8641C7FE}"/>
              </a:ext>
            </a:extLst>
          </p:cNvPr>
          <p:cNvSpPr txBox="1"/>
          <p:nvPr/>
        </p:nvSpPr>
        <p:spPr>
          <a:xfrm>
            <a:off x="2938361" y="4968128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>
                <a:solidFill>
                  <a:srgbClr val="C00000"/>
                </a:solidFill>
                <a:latin typeface="Aptos"/>
              </a:rPr>
              <a:t>Why it matters now?</a:t>
            </a:r>
            <a:endParaRPr lang="en-US">
              <a:solidFill>
                <a:srgbClr val="C00000"/>
              </a:solidFill>
            </a:endParaRPr>
          </a:p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0EF362-9AE6-9435-EE70-5952150EF872}"/>
              </a:ext>
            </a:extLst>
          </p:cNvPr>
          <p:cNvSpPr txBox="1"/>
          <p:nvPr/>
        </p:nvSpPr>
        <p:spPr>
          <a:xfrm>
            <a:off x="367295" y="5286085"/>
            <a:ext cx="7603553" cy="979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200" b="1" baseline="0" dirty="0">
                <a:latin typeface="Aptos"/>
                <a:ea typeface="Arial"/>
                <a:cs typeface="Arial"/>
              </a:rPr>
              <a:t>70% </a:t>
            </a:r>
            <a:r>
              <a:rPr lang="en-US" sz="1200" baseline="0" dirty="0">
                <a:latin typeface="Aptos"/>
                <a:ea typeface="Arial"/>
                <a:cs typeface="Arial"/>
              </a:rPr>
              <a:t>of viewers say they’ve searched online for a product after seeing it in </a:t>
            </a:r>
            <a:r>
              <a:rPr lang="en-US" sz="1200" dirty="0">
                <a:latin typeface="Aptos"/>
                <a:ea typeface="Arial"/>
                <a:cs typeface="Arial"/>
              </a:rPr>
              <a:t>a show</a:t>
            </a:r>
            <a:r>
              <a:rPr lang="en-US" sz="1200" baseline="0" dirty="0">
                <a:latin typeface="Aptos"/>
                <a:ea typeface="Arial"/>
                <a:cs typeface="Arial"/>
              </a:rPr>
              <a:t> or movie</a:t>
            </a:r>
            <a:endParaRPr lang="en-US" sz="1200" dirty="0">
              <a:latin typeface="Aptos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1200" dirty="0">
                <a:latin typeface="Aptos"/>
                <a:cs typeface="Arial"/>
              </a:rPr>
              <a:t>Consumers are </a:t>
            </a:r>
            <a:r>
              <a:rPr lang="en-US" sz="1200" b="1" dirty="0">
                <a:latin typeface="Aptos"/>
                <a:cs typeface="Arial"/>
              </a:rPr>
              <a:t>60% more likely to buy</a:t>
            </a:r>
            <a:r>
              <a:rPr lang="en-US" sz="1200" dirty="0">
                <a:latin typeface="Aptos"/>
                <a:cs typeface="Arial"/>
              </a:rPr>
              <a:t> when emotionally engaged with storytelling</a:t>
            </a:r>
          </a:p>
          <a:p>
            <a:pPr marL="342900" indent="-342900">
              <a:buFont typeface="Arial"/>
              <a:buChar char="•"/>
            </a:pPr>
            <a:r>
              <a:rPr lang="en-US" sz="1200" b="1" dirty="0">
                <a:latin typeface="Aptos"/>
                <a:cs typeface="Arial"/>
              </a:rPr>
              <a:t>76%</a:t>
            </a:r>
            <a:r>
              <a:rPr lang="en-US" sz="1200" dirty="0">
                <a:latin typeface="Aptos"/>
                <a:cs typeface="Arial"/>
              </a:rPr>
              <a:t> of Gen Z say they want to “own something from their favorite shows.”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dirty="0">
                <a:latin typeface="Aptos"/>
                <a:cs typeface="Arial"/>
              </a:rPr>
              <a:t>Netflix viewers already exhibit strong parasocial attachment and emotional engagement — integrating clickable merch links would capture existing purchase intent rather than create new behavior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C468CB-013A-C8FA-8D5B-77F7634D71FD}"/>
              </a:ext>
            </a:extLst>
          </p:cNvPr>
          <p:cNvCxnSpPr>
            <a:cxnSpLocks/>
          </p:cNvCxnSpPr>
          <p:nvPr/>
        </p:nvCxnSpPr>
        <p:spPr>
          <a:xfrm flipH="1">
            <a:off x="7909573" y="1491530"/>
            <a:ext cx="16446" cy="4100692"/>
          </a:xfrm>
          <a:prstGeom prst="line">
            <a:avLst/>
          </a:prstGeom>
          <a:ln>
            <a:solidFill>
              <a:srgbClr val="10101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388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6C50E-7A7A-9C6C-75E4-511516756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5D823B-49BE-49F3-56B5-9D132791ED7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8835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5D823B-49BE-49F3-56B5-9D132791ED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21D879D-8356-8954-B746-E391F9DD0EEB}"/>
              </a:ext>
            </a:extLst>
          </p:cNvPr>
          <p:cNvSpPr/>
          <p:nvPr/>
        </p:nvSpPr>
        <p:spPr>
          <a:xfrm>
            <a:off x="-30167" y="23130"/>
            <a:ext cx="12210350" cy="531324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DF8B5-7114-2199-40E0-61B808533203}"/>
              </a:ext>
            </a:extLst>
          </p:cNvPr>
          <p:cNvSpPr txBox="1"/>
          <p:nvPr/>
        </p:nvSpPr>
        <p:spPr>
          <a:xfrm>
            <a:off x="268140" y="54005"/>
            <a:ext cx="1010479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2500" b="1" dirty="0" err="1">
                <a:solidFill>
                  <a:schemeClr val="bg1"/>
                </a:solidFill>
                <a:ea typeface="+mn-lt"/>
                <a:cs typeface="+mn-lt"/>
              </a:rPr>
              <a:t>SceneSync</a:t>
            </a:r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 : Cinema at Home</a:t>
            </a:r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8097" name="Text Placeholder 2">
            <a:extLst>
              <a:ext uri="{FF2B5EF4-FFF2-40B4-BE49-F238E27FC236}">
                <a16:creationId xmlns:a16="http://schemas.microsoft.com/office/drawing/2014/main" id="{64028E65-0CA2-61F8-9CAF-142C637399F3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1510963" y="5238750"/>
            <a:ext cx="2857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1000"/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82BFAF7C-76EF-9D4F-1CB9-639AD76D5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C40D0AA-E88B-5174-3356-A9C0B4F97C06}"/>
              </a:ext>
            </a:extLst>
          </p:cNvPr>
          <p:cNvSpPr txBox="1"/>
          <p:nvPr/>
        </p:nvSpPr>
        <p:spPr>
          <a:xfrm>
            <a:off x="496481" y="1139542"/>
            <a:ext cx="43601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1. Partnership with </a:t>
            </a:r>
            <a:r>
              <a:rPr lang="en-SG" sz="1400" b="1" dirty="0">
                <a:solidFill>
                  <a:srgbClr val="C00000"/>
                </a:solidFill>
              </a:rPr>
              <a:t>Philips</a:t>
            </a:r>
            <a:r>
              <a:rPr lang="en-US" sz="1400" b="1" dirty="0">
                <a:solidFill>
                  <a:srgbClr val="C00000"/>
                </a:solidFill>
              </a:rPr>
              <a:t> &amp; Sony – A/V Enthusiasts</a:t>
            </a:r>
          </a:p>
          <a:p>
            <a:pPr algn="ctr"/>
            <a:r>
              <a:rPr lang="en-US" sz="1200" i="1" dirty="0">
                <a:solidFill>
                  <a:schemeClr val="accent2">
                    <a:lumMod val="76000"/>
                  </a:schemeClr>
                </a:solidFill>
              </a:rPr>
              <a:t>· Movie Night” with cinema-like experience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9F5670-4F24-123D-8288-BF67E7A8E195}"/>
              </a:ext>
            </a:extLst>
          </p:cNvPr>
          <p:cNvSpPr txBox="1"/>
          <p:nvPr/>
        </p:nvSpPr>
        <p:spPr>
          <a:xfrm>
            <a:off x="5111943" y="1164545"/>
            <a:ext cx="3862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C00000"/>
                </a:solidFill>
              </a:rPr>
              <a:t>2. Pocket Theatre Mode – Everyday Streamers</a:t>
            </a:r>
          </a:p>
          <a:p>
            <a:pPr algn="ctr"/>
            <a:r>
              <a:rPr lang="en-US" sz="1200" i="1">
                <a:solidFill>
                  <a:schemeClr val="accent2">
                    <a:lumMod val="76000"/>
                  </a:schemeClr>
                </a:solidFill>
              </a:rPr>
              <a:t>· Instant “Movie Night” without new gear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85C350-8D68-E59D-FB53-BDDB9884B4C3}"/>
              </a:ext>
            </a:extLst>
          </p:cNvPr>
          <p:cNvSpPr txBox="1"/>
          <p:nvPr/>
        </p:nvSpPr>
        <p:spPr>
          <a:xfrm>
            <a:off x="5148976" y="1609926"/>
            <a:ext cx="46479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Implementation:</a:t>
            </a:r>
            <a:endParaRPr lang="en-SG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Subtle </a:t>
            </a:r>
            <a:r>
              <a:rPr lang="en-SG" sz="1100" b="1" dirty="0"/>
              <a:t>on-screen ambience</a:t>
            </a:r>
            <a:r>
              <a:rPr lang="en-SG" sz="1100" dirty="0"/>
              <a:t>  (no smart lights needed)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Optional : Auto-detect devices (earbuds)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Partnership : 1</a:t>
            </a:r>
            <a:r>
              <a:rPr lang="en-SG" sz="1100" baseline="30000" dirty="0"/>
              <a:t>st</a:t>
            </a:r>
            <a:r>
              <a:rPr lang="en-SG" sz="1100" dirty="0"/>
              <a:t> Sony (WF Series) then Expand to Apple/Google/JBL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27241-E259-636C-D36C-719892D704AC}"/>
              </a:ext>
            </a:extLst>
          </p:cNvPr>
          <p:cNvSpPr txBox="1"/>
          <p:nvPr/>
        </p:nvSpPr>
        <p:spPr>
          <a:xfrm>
            <a:off x="496481" y="608361"/>
            <a:ext cx="644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ea typeface="+mn-lt"/>
                <a:cs typeface="+mn-lt"/>
              </a:rPr>
              <a:t>Immersion for All : Connecting Smart Streaming, Smart Homes and Smartphones</a:t>
            </a:r>
          </a:p>
        </p:txBody>
      </p:sp>
      <p:pic>
        <p:nvPicPr>
          <p:cNvPr id="14" name="Picture 13" descr="A tv in a dark room&#10;&#10;AI-generated content may be incorrect.">
            <a:extLst>
              <a:ext uri="{FF2B5EF4-FFF2-40B4-BE49-F238E27FC236}">
                <a16:creationId xmlns:a16="http://schemas.microsoft.com/office/drawing/2014/main" id="{BA3CB202-56FD-CEED-1C40-232484A34B8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57" y="953107"/>
            <a:ext cx="1766862" cy="11779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2B006F5-A5FD-C010-E3BA-D94F43825889}"/>
              </a:ext>
            </a:extLst>
          </p:cNvPr>
          <p:cNvSpPr txBox="1"/>
          <p:nvPr/>
        </p:nvSpPr>
        <p:spPr>
          <a:xfrm>
            <a:off x="570806" y="1605342"/>
            <a:ext cx="435577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100" b="1" dirty="0"/>
              <a:t>Implementation:</a:t>
            </a:r>
            <a:endParaRPr lang="en-SG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Partner with </a:t>
            </a:r>
            <a:r>
              <a:rPr lang="en-SG" sz="1100" b="1" dirty="0"/>
              <a:t>Philips &amp; Sony </a:t>
            </a:r>
            <a:r>
              <a:rPr lang="en-SG" sz="1100" dirty="0"/>
              <a:t>to launch a </a:t>
            </a:r>
            <a:r>
              <a:rPr lang="en-SG" sz="1100" b="1" dirty="0"/>
              <a:t>Netflix Mode</a:t>
            </a:r>
            <a:endParaRPr lang="en-SG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Auto Sync Lights + Audio based on scene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100" dirty="0"/>
              <a:t>Control : Netflix app or voice commands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77EA2-E991-0587-1F00-33DBBD3CCEDA}"/>
              </a:ext>
            </a:extLst>
          </p:cNvPr>
          <p:cNvSpPr txBox="1"/>
          <p:nvPr/>
        </p:nvSpPr>
        <p:spPr>
          <a:xfrm>
            <a:off x="8367270" y="3105496"/>
            <a:ext cx="315700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C00000"/>
                </a:solidFill>
              </a:rPr>
              <a:t>Why Partnerships &amp; Why It Matters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DBFB97-ADBA-0AA2-392F-EB9174F11E46}"/>
              </a:ext>
            </a:extLst>
          </p:cNvPr>
          <p:cNvCxnSpPr>
            <a:cxnSpLocks/>
          </p:cNvCxnSpPr>
          <p:nvPr/>
        </p:nvCxnSpPr>
        <p:spPr>
          <a:xfrm>
            <a:off x="8430972" y="3380832"/>
            <a:ext cx="2961670" cy="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131501-9064-86E0-D3D9-B03D7137BDC2}"/>
              </a:ext>
            </a:extLst>
          </p:cNvPr>
          <p:cNvSpPr txBox="1"/>
          <p:nvPr/>
        </p:nvSpPr>
        <p:spPr>
          <a:xfrm>
            <a:off x="8350719" y="3852363"/>
            <a:ext cx="33619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b="1"/>
              <a:t>Leverage Sony &amp; Philips Expertise &amp; Accelerate Entry into Smart-Sensing Tech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53F79B-4F9F-7DDA-8BBD-B31F78647D09}"/>
              </a:ext>
            </a:extLst>
          </p:cNvPr>
          <p:cNvSpPr txBox="1"/>
          <p:nvPr/>
        </p:nvSpPr>
        <p:spPr>
          <a:xfrm>
            <a:off x="8367270" y="4296985"/>
            <a:ext cx="2858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b="1"/>
              <a:t>Lower Capital Needs → Greater Scalability</a:t>
            </a:r>
            <a:endParaRPr lang="en-US" altLang="en-US" sz="11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64DF5E-F1B7-2D3A-F630-ADBEC231FB54}"/>
              </a:ext>
            </a:extLst>
          </p:cNvPr>
          <p:cNvSpPr txBox="1"/>
          <p:nvPr/>
        </p:nvSpPr>
        <p:spPr>
          <a:xfrm>
            <a:off x="8367270" y="3491692"/>
            <a:ext cx="374822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 dirty="0"/>
              <a:t>Record of Successful Partnerships with Philips &amp; Sony </a:t>
            </a:r>
            <a:r>
              <a:rPr lang="en-US" sz="1000" dirty="0"/>
              <a:t>(Netflix Calibrated &amp; Hue Sync TV App)</a:t>
            </a:r>
            <a:endParaRPr lang="en-US" sz="1100" dirty="0"/>
          </a:p>
        </p:txBody>
      </p:sp>
      <p:pic>
        <p:nvPicPr>
          <p:cNvPr id="31" name="Graphic 30" descr="Handshake with solid fill">
            <a:extLst>
              <a:ext uri="{FF2B5EF4-FFF2-40B4-BE49-F238E27FC236}">
                <a16:creationId xmlns:a16="http://schemas.microsoft.com/office/drawing/2014/main" id="{32867899-3A35-B39D-9C7A-8FF2C2A0DF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16" y="3517624"/>
            <a:ext cx="366439" cy="372735"/>
          </a:xfrm>
          <a:prstGeom prst="rect">
            <a:avLst/>
          </a:prstGeom>
        </p:spPr>
      </p:pic>
      <p:pic>
        <p:nvPicPr>
          <p:cNvPr id="33" name="Graphic 32" descr="Lightbulb and gear with solid fill">
            <a:extLst>
              <a:ext uri="{FF2B5EF4-FFF2-40B4-BE49-F238E27FC236}">
                <a16:creationId xmlns:a16="http://schemas.microsoft.com/office/drawing/2014/main" id="{09FE0267-28E4-7C46-41E7-3059B7D2FD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33216" y="3861339"/>
            <a:ext cx="366439" cy="372735"/>
          </a:xfrm>
          <a:prstGeom prst="rect">
            <a:avLst/>
          </a:prstGeom>
        </p:spPr>
      </p:pic>
      <p:pic>
        <p:nvPicPr>
          <p:cNvPr id="35" name="Graphic 34" descr="Coins with solid fill">
            <a:extLst>
              <a:ext uri="{FF2B5EF4-FFF2-40B4-BE49-F238E27FC236}">
                <a16:creationId xmlns:a16="http://schemas.microsoft.com/office/drawing/2014/main" id="{B5427160-AC8F-8B19-ED9E-C4D0584B29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34889" y="4278806"/>
            <a:ext cx="363093" cy="369332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537A6F9-833C-DD0E-000F-15B5C3EBA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183139"/>
              </p:ext>
            </p:extLst>
          </p:nvPr>
        </p:nvGraphicFramePr>
        <p:xfrm>
          <a:off x="231250" y="3501223"/>
          <a:ext cx="7224870" cy="20720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24870">
                  <a:extLst>
                    <a:ext uri="{9D8B030D-6E8A-4147-A177-3AD203B41FA5}">
                      <a16:colId xmlns:a16="http://schemas.microsoft.com/office/drawing/2014/main" val="1929060692"/>
                    </a:ext>
                  </a:extLst>
                </a:gridCol>
              </a:tblGrid>
              <a:tr h="3794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Partnership Business Model</a:t>
                      </a:r>
                    </a:p>
                  </a:txBody>
                  <a:tcPr marL="100394" marR="100394" marT="50197" marB="50197" anchor="ctr">
                    <a:lnB w="38100" cmpd="sng">
                      <a:noFill/>
                    </a:lnB>
                    <a:solidFill>
                      <a:srgbClr val="73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15046"/>
                  </a:ext>
                </a:extLst>
              </a:tr>
              <a:tr h="5298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Model : Certification + Co-marketing (Netflix Mode Ready)</a:t>
                      </a:r>
                    </a:p>
                    <a:p>
                      <a:pPr lvl="1" algn="ctr"/>
                      <a:r>
                        <a:rPr lang="en-SG" sz="1000" dirty="0"/>
                        <a:t>Sony soundbars and Philips Hue lights works with Netflix to create a theatre-like “Movie Night”</a:t>
                      </a:r>
                    </a:p>
                  </a:txBody>
                  <a:tcPr marL="100394" marR="100394" marT="50197" marB="501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6306989"/>
                  </a:ext>
                </a:extLst>
              </a:tr>
              <a:tr h="493038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Exchange : Netflix (toggle + timed cues) &amp; Sony/Hue (firmware/app + retail demo)</a:t>
                      </a:r>
                    </a:p>
                    <a:p>
                      <a:pPr algn="ctr"/>
                      <a:r>
                        <a:rPr lang="en-US" sz="1000"/>
                        <a:t>Netflix to add presets &amp; Sony to develop app &amp; provide retail support</a:t>
                      </a:r>
                    </a:p>
                  </a:txBody>
                  <a:tcPr marL="100394" marR="100394" marT="50197" marB="501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6479468"/>
                  </a:ext>
                </a:extLst>
              </a:tr>
              <a:tr h="6697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 Revenue Share on viewing</a:t>
                      </a:r>
                    </a:p>
                    <a:p>
                      <a:pPr algn="ctr"/>
                      <a:r>
                        <a:rPr lang="en-SG" sz="1000" dirty="0"/>
                        <a:t>Netflix Returns : More Premium Upgrades, Higher Viewing &amp; Retention</a:t>
                      </a:r>
                      <a:endParaRPr lang="en-US" sz="1000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Sony/Phillips Returns : Device Differentiation, Retail Lift</a:t>
                      </a:r>
                    </a:p>
                  </a:txBody>
                  <a:tcPr marL="100394" marR="100394" marT="50197" marB="501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1664003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FE7D0F87-7720-CAED-3B0D-0C8014D09AD2}"/>
              </a:ext>
            </a:extLst>
          </p:cNvPr>
          <p:cNvSpPr txBox="1"/>
          <p:nvPr/>
        </p:nvSpPr>
        <p:spPr>
          <a:xfrm>
            <a:off x="8013091" y="5124845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b="1">
                <a:solidFill>
                  <a:srgbClr val="C00000"/>
                </a:solidFill>
              </a:rPr>
              <a:t>$537B (2030)</a:t>
            </a:r>
            <a:endParaRPr lang="en-US" sz="160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752BE7-ECD7-00EF-B5EA-AFDD6C80D1D3}"/>
              </a:ext>
            </a:extLst>
          </p:cNvPr>
          <p:cNvSpPr txBox="1"/>
          <p:nvPr/>
        </p:nvSpPr>
        <p:spPr>
          <a:xfrm>
            <a:off x="10352830" y="5122954"/>
            <a:ext cx="1039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>
                <a:solidFill>
                  <a:srgbClr val="C00000"/>
                </a:solidFill>
              </a:rPr>
              <a:t>$563.2B 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F62757-D8F0-E0A1-9202-07899CEC8860}"/>
              </a:ext>
            </a:extLst>
          </p:cNvPr>
          <p:cNvSpPr txBox="1"/>
          <p:nvPr/>
        </p:nvSpPr>
        <p:spPr>
          <a:xfrm>
            <a:off x="7810897" y="5336713"/>
            <a:ext cx="1751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/>
              <a:t>Projected Smart Home Market Value by 2030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916187-80C9-62F9-24FA-7FB74C19EC9B}"/>
              </a:ext>
            </a:extLst>
          </p:cNvPr>
          <p:cNvSpPr txBox="1"/>
          <p:nvPr/>
        </p:nvSpPr>
        <p:spPr>
          <a:xfrm>
            <a:off x="9927161" y="5336713"/>
            <a:ext cx="17512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/>
              <a:t>Projected Wireless Earbuds Market Value by 2030</a:t>
            </a:r>
            <a:endParaRPr 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A7CC19-77E3-34D0-CC30-3DC94EEF1D23}"/>
              </a:ext>
            </a:extLst>
          </p:cNvPr>
          <p:cNvSpPr txBox="1"/>
          <p:nvPr/>
        </p:nvSpPr>
        <p:spPr>
          <a:xfrm>
            <a:off x="597009" y="6185484"/>
            <a:ext cx="11115624" cy="276999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i="1" baseline="0">
                <a:latin typeface="Aptos"/>
              </a:rPr>
              <a:t>The Smart Home Integration : </a:t>
            </a:r>
            <a:r>
              <a:rPr lang="en-US" sz="1200" i="1" err="1">
                <a:latin typeface="Aptos"/>
              </a:rPr>
              <a:t>SceneSync</a:t>
            </a:r>
            <a:r>
              <a:rPr lang="en-US" sz="1200" i="1" baseline="0">
                <a:latin typeface="Aptos"/>
              </a:rPr>
              <a:t> </a:t>
            </a:r>
            <a:r>
              <a:rPr lang="en-SG" sz="1200" i="1">
                <a:latin typeface="Aptos"/>
              </a:rPr>
              <a:t>turns every screen into a cinema, delivering gear-optional immersion that lifts completion, upgrades, and loyalty.</a:t>
            </a:r>
            <a:endParaRPr lang="en-US" sz="1200" i="1">
              <a:latin typeface="Apto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125E2CC-BABC-EFC1-7E1D-37D181169151}"/>
              </a:ext>
            </a:extLst>
          </p:cNvPr>
          <p:cNvCxnSpPr>
            <a:cxnSpLocks/>
          </p:cNvCxnSpPr>
          <p:nvPr/>
        </p:nvCxnSpPr>
        <p:spPr>
          <a:xfrm>
            <a:off x="569977" y="1593485"/>
            <a:ext cx="4286608" cy="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64" name="Straight Arrow Connector 8063">
            <a:extLst>
              <a:ext uri="{FF2B5EF4-FFF2-40B4-BE49-F238E27FC236}">
                <a16:creationId xmlns:a16="http://schemas.microsoft.com/office/drawing/2014/main" id="{7F76B866-84D8-6C17-F970-295EF10C394A}"/>
              </a:ext>
            </a:extLst>
          </p:cNvPr>
          <p:cNvCxnSpPr>
            <a:cxnSpLocks/>
          </p:cNvCxnSpPr>
          <p:nvPr/>
        </p:nvCxnSpPr>
        <p:spPr>
          <a:xfrm>
            <a:off x="5072752" y="1593485"/>
            <a:ext cx="4286608" cy="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D73CD8-894B-3865-EBDE-CFA843C463B9}"/>
              </a:ext>
            </a:extLst>
          </p:cNvPr>
          <p:cNvCxnSpPr>
            <a:cxnSpLocks/>
          </p:cNvCxnSpPr>
          <p:nvPr/>
        </p:nvCxnSpPr>
        <p:spPr>
          <a:xfrm>
            <a:off x="7810897" y="3201918"/>
            <a:ext cx="0" cy="2516390"/>
          </a:xfrm>
          <a:prstGeom prst="line">
            <a:avLst/>
          </a:prstGeom>
          <a:ln>
            <a:solidFill>
              <a:srgbClr val="10101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5F7D4A-52A8-ED60-44F5-F68B638BBBE5}"/>
              </a:ext>
            </a:extLst>
          </p:cNvPr>
          <p:cNvCxnSpPr>
            <a:cxnSpLocks/>
          </p:cNvCxnSpPr>
          <p:nvPr/>
        </p:nvCxnSpPr>
        <p:spPr>
          <a:xfrm flipH="1">
            <a:off x="8864" y="2816373"/>
            <a:ext cx="12127575" cy="0"/>
          </a:xfrm>
          <a:prstGeom prst="line">
            <a:avLst/>
          </a:prstGeom>
          <a:ln>
            <a:solidFill>
              <a:srgbClr val="10101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96AD435-15A9-9788-4E61-5E15F06FC2E4}"/>
              </a:ext>
            </a:extLst>
          </p:cNvPr>
          <p:cNvSpPr txBox="1"/>
          <p:nvPr/>
        </p:nvSpPr>
        <p:spPr>
          <a:xfrm>
            <a:off x="8367270" y="4642451"/>
            <a:ext cx="3459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/>
              <a:t>Develop Netflix’s Timed-Cue Capability to Enable Future Market Entry Opportunities</a:t>
            </a:r>
            <a:endParaRPr lang="en-US" sz="1100" b="1"/>
          </a:p>
        </p:txBody>
      </p:sp>
      <p:pic>
        <p:nvPicPr>
          <p:cNvPr id="20" name="Graphic 19" descr="Upward trend with solid fill">
            <a:extLst>
              <a:ext uri="{FF2B5EF4-FFF2-40B4-BE49-F238E27FC236}">
                <a16:creationId xmlns:a16="http://schemas.microsoft.com/office/drawing/2014/main" id="{26838DC2-C9E6-6DA7-0150-BE8DEBE721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16383" y="4641100"/>
            <a:ext cx="400105" cy="40010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9C4886-F3EF-DD50-9412-332EE618ADD4}"/>
              </a:ext>
            </a:extLst>
          </p:cNvPr>
          <p:cNvSpPr txBox="1"/>
          <p:nvPr/>
        </p:nvSpPr>
        <p:spPr>
          <a:xfrm>
            <a:off x="9982771" y="2115123"/>
            <a:ext cx="1710725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00" dirty="0"/>
              <a:t>An example of Netflix Mode </a:t>
            </a:r>
          </a:p>
        </p:txBody>
      </p:sp>
    </p:spTree>
    <p:extLst>
      <p:ext uri="{BB962C8B-B14F-4D97-AF65-F5344CB8AC3E}">
        <p14:creationId xmlns:p14="http://schemas.microsoft.com/office/powerpoint/2010/main" val="1537147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9DFFF-66A9-C7FC-A809-E463BDAB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F84AB4B-C03A-9D0B-4850-A4F69F4577A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84AB4B-C03A-9D0B-4850-A4F69F4577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F778F0E-4303-C97B-9414-EEA68B6D6C35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64DDA-9ED8-EA04-1001-557D4EFDC17C}"/>
              </a:ext>
            </a:extLst>
          </p:cNvPr>
          <p:cNvSpPr txBox="1"/>
          <p:nvPr/>
        </p:nvSpPr>
        <p:spPr>
          <a:xfrm>
            <a:off x="332958" y="21409"/>
            <a:ext cx="1053550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Transforming Viewing into Adventure: Netflix Quest Bridges Screens and Streets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097" name="Text Placeholder 2">
            <a:extLst>
              <a:ext uri="{FF2B5EF4-FFF2-40B4-BE49-F238E27FC236}">
                <a16:creationId xmlns:a16="http://schemas.microsoft.com/office/drawing/2014/main" id="{08D4F990-FA5C-7EB1-FE04-B578B50127B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1510963" y="5238750"/>
            <a:ext cx="2857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1000"/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7C70B287-92DF-3C51-0A73-A0DD3AD55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3D6A53-5D63-1C54-6239-76CBF666F769}"/>
              </a:ext>
            </a:extLst>
          </p:cNvPr>
          <p:cNvSpPr txBox="1"/>
          <p:nvPr/>
        </p:nvSpPr>
        <p:spPr>
          <a:xfrm>
            <a:off x="345247" y="644502"/>
            <a:ext cx="598742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  <a:ea typeface="+mn-lt"/>
                <a:cs typeface="+mn-lt"/>
              </a:rPr>
              <a:t>From Passive Watching to Real-World Storytelling.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4B416-796F-D4EE-C6EF-04EA3AB5F296}"/>
              </a:ext>
            </a:extLst>
          </p:cNvPr>
          <p:cNvSpPr txBox="1"/>
          <p:nvPr/>
        </p:nvSpPr>
        <p:spPr>
          <a:xfrm>
            <a:off x="1359725" y="999536"/>
            <a:ext cx="510706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Netflix Quest redefines audience engagement by turning hit shows into real-world AR missions</a:t>
            </a:r>
            <a:r>
              <a:rPr lang="en-US" sz="1200"/>
              <a:t> by powering Netflix’s existing </a:t>
            </a:r>
            <a:r>
              <a:rPr lang="en-US" sz="1200" b="1"/>
              <a:t>gaming infrastructure</a:t>
            </a:r>
            <a:r>
              <a:rPr lang="en-US" sz="1200"/>
              <a:t> and </a:t>
            </a:r>
            <a:r>
              <a:rPr lang="en-US" sz="1200" b="1"/>
              <a:t>strategic AR partners</a:t>
            </a:r>
            <a:r>
              <a:rPr lang="en-US" sz="1200"/>
              <a:t>.</a:t>
            </a:r>
            <a:endParaRPr lang="en-US"/>
          </a:p>
          <a:p>
            <a:br>
              <a:rPr lang="en-US" sz="1200"/>
            </a:br>
            <a:r>
              <a:rPr lang="en-US" sz="1200"/>
              <a:t>Fans explore iconic locations from </a:t>
            </a:r>
            <a:r>
              <a:rPr lang="en-US" sz="1200" i="1"/>
              <a:t>Stranger Things</a:t>
            </a:r>
            <a:r>
              <a:rPr lang="en-US" sz="1200"/>
              <a:t>, </a:t>
            </a:r>
            <a:r>
              <a:rPr lang="en-US" sz="1200" i="1"/>
              <a:t>Squid Game</a:t>
            </a:r>
            <a:r>
              <a:rPr lang="en-US" sz="1200"/>
              <a:t>, and </a:t>
            </a:r>
            <a:r>
              <a:rPr lang="en-US" sz="1200" i="1"/>
              <a:t>One Piece</a:t>
            </a:r>
            <a:r>
              <a:rPr lang="en-US" sz="1200"/>
              <a:t> to </a:t>
            </a:r>
            <a:r>
              <a:rPr lang="en-US" sz="1200" b="1"/>
              <a:t>unlock story-driven quests, collect exclusive rewards, and interact with immersive digital layers</a:t>
            </a:r>
            <a:r>
              <a:rPr lang="en-US" sz="1200"/>
              <a:t>.</a:t>
            </a:r>
            <a:endParaRPr lang="en-US"/>
          </a:p>
          <a:p>
            <a:br>
              <a:rPr lang="en-US" sz="1200"/>
            </a:br>
            <a:r>
              <a:rPr lang="en-US" sz="1200"/>
              <a:t>By merging </a:t>
            </a:r>
            <a:r>
              <a:rPr lang="en-US" sz="1200" b="1"/>
              <a:t>streaming, gaming, and community</a:t>
            </a:r>
            <a:r>
              <a:rPr lang="en-US" sz="1200"/>
              <a:t> into one ecosystem, Netflix strengthens brand loyalty through participation not just viewership.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E28A2-6D6B-0B7F-4E1F-716EF51B3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564" y="524657"/>
            <a:ext cx="5137576" cy="6220917"/>
          </a:xfrm>
          <a:prstGeom prst="rect">
            <a:avLst/>
          </a:prstGeom>
        </p:spPr>
      </p:pic>
      <p:pic>
        <p:nvPicPr>
          <p:cNvPr id="7" name="Graphic 6" descr="Smart Phone with solid fill">
            <a:extLst>
              <a:ext uri="{FF2B5EF4-FFF2-40B4-BE49-F238E27FC236}">
                <a16:creationId xmlns:a16="http://schemas.microsoft.com/office/drawing/2014/main" id="{7F495E6B-8826-1CBD-B73A-0F63A8CACD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8442" y="310472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A713BD-00D3-6FEB-2608-19EB6DC84BB1}"/>
              </a:ext>
            </a:extLst>
          </p:cNvPr>
          <p:cNvSpPr txBox="1"/>
          <p:nvPr/>
        </p:nvSpPr>
        <p:spPr>
          <a:xfrm>
            <a:off x="332958" y="4156315"/>
            <a:ext cx="2971800" cy="669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600" b="1" baseline="0">
                <a:solidFill>
                  <a:srgbClr val="C00000"/>
                </a:solidFill>
                <a:latin typeface="Aptos"/>
                <a:ea typeface="Arial"/>
                <a:cs typeface="Arial"/>
              </a:rPr>
              <a:t>1.7B+ </a:t>
            </a:r>
            <a:r>
              <a:rPr lang="en-US" sz="1600" b="1">
                <a:solidFill>
                  <a:srgbClr val="C00000"/>
                </a:solidFill>
                <a:latin typeface="Aptos"/>
                <a:ea typeface="Arial"/>
                <a:cs typeface="Arial"/>
              </a:rPr>
              <a:t>active</a:t>
            </a:r>
            <a:r>
              <a:rPr lang="en-US" sz="1600" b="1" baseline="0">
                <a:solidFill>
                  <a:srgbClr val="C00000"/>
                </a:solidFill>
                <a:latin typeface="Aptos"/>
                <a:ea typeface="Arial"/>
                <a:cs typeface="Arial"/>
              </a:rPr>
              <a:t> mobile AR </a:t>
            </a:r>
            <a:r>
              <a:rPr lang="en-US" sz="1600" b="1">
                <a:solidFill>
                  <a:srgbClr val="C00000"/>
                </a:solidFill>
                <a:latin typeface="Aptos"/>
                <a:ea typeface="Arial"/>
                <a:cs typeface="Arial"/>
              </a:rPr>
              <a:t>devices</a:t>
            </a:r>
            <a:endParaRPr lang="en-US" sz="1600">
              <a:solidFill>
                <a:srgbClr val="C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ts val="1125"/>
              </a:lnSpc>
            </a:pPr>
            <a:endParaRPr lang="en-US" sz="1600" b="1">
              <a:solidFill>
                <a:srgbClr val="C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ts val="1125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Arial"/>
                <a:cs typeface="Arial"/>
              </a:rPr>
              <a:t>worldwide</a:t>
            </a: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lower adoption barriers</a:t>
            </a:r>
            <a:r>
              <a:rPr lang="en-US" sz="1400">
                <a:latin typeface="Aptos"/>
                <a:ea typeface="Arial"/>
                <a:cs typeface="Arial"/>
              </a:rPr>
              <a:t>​</a:t>
            </a:r>
            <a:endParaRPr lang="en-US"/>
          </a:p>
        </p:txBody>
      </p:sp>
      <p:pic>
        <p:nvPicPr>
          <p:cNvPr id="10" name="Graphic 9" descr="Group of men with solid fill">
            <a:extLst>
              <a:ext uri="{FF2B5EF4-FFF2-40B4-BE49-F238E27FC236}">
                <a16:creationId xmlns:a16="http://schemas.microsoft.com/office/drawing/2014/main" id="{BDCE1316-D89F-A99C-5A03-B08686E0FA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93037" y="304160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E3D2AB-DAF7-C79A-AD0E-EEEE586E487C}"/>
              </a:ext>
            </a:extLst>
          </p:cNvPr>
          <p:cNvSpPr txBox="1"/>
          <p:nvPr/>
        </p:nvSpPr>
        <p:spPr>
          <a:xfrm>
            <a:off x="3360873" y="4145351"/>
            <a:ext cx="2971800" cy="11763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600" b="1">
                <a:solidFill>
                  <a:srgbClr val="C00000"/>
                </a:solidFill>
                <a:cs typeface="Arial"/>
              </a:rPr>
              <a:t>Younger Audiences</a:t>
            </a:r>
            <a:endParaRPr lang="en-US"/>
          </a:p>
          <a:p>
            <a:pPr algn="ctr">
              <a:lnSpc>
                <a:spcPts val="1125"/>
              </a:lnSpc>
            </a:pPr>
            <a:endParaRPr lang="en-US" sz="1600" b="1">
              <a:solidFill>
                <a:srgbClr val="C00000"/>
              </a:solidFill>
              <a:cs typeface="Arial"/>
            </a:endParaRPr>
          </a:p>
          <a:p>
            <a:pPr algn="ctr"/>
            <a:r>
              <a:rPr lang="en-US" sz="1400">
                <a:solidFill>
                  <a:srgbClr val="000000"/>
                </a:solidFill>
                <a:cs typeface="Arial"/>
              </a:rPr>
              <a:t>crave </a:t>
            </a:r>
            <a:r>
              <a:rPr lang="en-US" sz="1400" b="1">
                <a:solidFill>
                  <a:srgbClr val="000000"/>
                </a:solidFill>
                <a:cs typeface="Arial"/>
              </a:rPr>
              <a:t>shareable, movement-based content</a:t>
            </a:r>
            <a:r>
              <a:rPr lang="en-US" sz="1400">
                <a:solidFill>
                  <a:srgbClr val="000000"/>
                </a:solidFill>
                <a:cs typeface="Arial"/>
              </a:rPr>
              <a:t> that connects digital identity with real-world action.</a:t>
            </a:r>
          </a:p>
          <a:p>
            <a:pPr algn="ctr">
              <a:lnSpc>
                <a:spcPts val="1125"/>
              </a:lnSpc>
            </a:pPr>
            <a:endParaRPr lang="en-US" sz="1400">
              <a:solidFill>
                <a:srgbClr val="000000"/>
              </a:solidFill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96CBA-F16F-695E-B72F-E993213145B9}"/>
              </a:ext>
            </a:extLst>
          </p:cNvPr>
          <p:cNvSpPr/>
          <p:nvPr/>
        </p:nvSpPr>
        <p:spPr>
          <a:xfrm>
            <a:off x="370852" y="5194229"/>
            <a:ext cx="5963026" cy="145472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Leverage </a:t>
            </a:r>
            <a:r>
              <a:rPr lang="en-US" sz="14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Netflix Gaming’s current ecosystem</a:t>
            </a: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 and cloud servers instead of building new ones.</a:t>
            </a:r>
            <a:r>
              <a:rPr lang="en-US" sz="1400">
                <a:solidFill>
                  <a:schemeClr val="bg1"/>
                </a:solidFill>
                <a:latin typeface="Aptos"/>
                <a:ea typeface="Arial"/>
                <a:cs typeface="Arial"/>
              </a:rPr>
              <a:t>​</a:t>
            </a:r>
            <a:endParaRPr lang="en-US">
              <a:solidFill>
                <a:schemeClr val="bg1"/>
              </a:solidFill>
              <a:latin typeface="Aptos"/>
              <a:ea typeface="Arial"/>
              <a:cs typeface="Arial"/>
            </a:endParaRPr>
          </a:p>
          <a:p>
            <a:pPr rtl="0">
              <a:lnSpc>
                <a:spcPts val="1125"/>
              </a:lnSpc>
            </a:pP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Collaborate with </a:t>
            </a:r>
            <a:r>
              <a:rPr lang="en-US" sz="14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Niantic, Meta, or Snap Lens Studio</a:t>
            </a: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 for mapping tech and scalability.</a:t>
            </a:r>
            <a:r>
              <a:rPr lang="en-US" sz="1400">
                <a:solidFill>
                  <a:schemeClr val="bg1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rtl="0">
              <a:lnSpc>
                <a:spcPts val="1125"/>
              </a:lnSpc>
            </a:pP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Transition to </a:t>
            </a:r>
            <a:r>
              <a:rPr lang="en-US" sz="14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recurring seasonal events</a:t>
            </a: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 tied to new releases (e.g. </a:t>
            </a:r>
            <a:r>
              <a:rPr lang="en-US" sz="1400" i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Squid Game S2 AR Trials</a:t>
            </a:r>
            <a:r>
              <a:rPr lang="en-US" sz="1400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), creating sustained engagement loops.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 descr="Game controller with solid fill">
            <a:extLst>
              <a:ext uri="{FF2B5EF4-FFF2-40B4-BE49-F238E27FC236}">
                <a16:creationId xmlns:a16="http://schemas.microsoft.com/office/drawing/2014/main" id="{CE07E0D8-09CE-BB35-A392-6C994FCFAD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721" y="998274"/>
            <a:ext cx="629336" cy="640300"/>
          </a:xfrm>
          <a:prstGeom prst="rect">
            <a:avLst/>
          </a:prstGeom>
        </p:spPr>
      </p:pic>
      <p:pic>
        <p:nvPicPr>
          <p:cNvPr id="14" name="Graphic 13" descr="Stars outline">
            <a:extLst>
              <a:ext uri="{FF2B5EF4-FFF2-40B4-BE49-F238E27FC236}">
                <a16:creationId xmlns:a16="http://schemas.microsoft.com/office/drawing/2014/main" id="{D1F20CBB-30B3-B7FC-7ED5-D9BE8EDAA5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3721" y="1639671"/>
            <a:ext cx="706084" cy="678674"/>
          </a:xfrm>
          <a:prstGeom prst="rect">
            <a:avLst/>
          </a:prstGeom>
        </p:spPr>
      </p:pic>
      <p:pic>
        <p:nvPicPr>
          <p:cNvPr id="15" name="Graphic 14" descr="Open hand with plant with solid fill">
            <a:extLst>
              <a:ext uri="{FF2B5EF4-FFF2-40B4-BE49-F238E27FC236}">
                <a16:creationId xmlns:a16="http://schemas.microsoft.com/office/drawing/2014/main" id="{3D86AA56-B658-063B-F604-E1899D3631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3721" y="2390706"/>
            <a:ext cx="673192" cy="71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5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D2DC-7221-806A-2015-474C656E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5DA812E-99BB-2BED-0E03-4FF6943B2D1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DA812E-99BB-2BED-0E03-4FF6943B2D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D2036EF-562A-C215-4571-E71063E43648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A4304-99B7-4F43-BF7A-C9DF1A95E8CA}"/>
              </a:ext>
            </a:extLst>
          </p:cNvPr>
          <p:cNvSpPr txBox="1"/>
          <p:nvPr/>
        </p:nvSpPr>
        <p:spPr>
          <a:xfrm>
            <a:off x="371475" y="21448"/>
            <a:ext cx="1053550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From Screen to Streets: Interactive AR Journeys for Every Netflix Universe</a:t>
            </a:r>
          </a:p>
        </p:txBody>
      </p:sp>
      <p:sp>
        <p:nvSpPr>
          <p:cNvPr id="8097" name="Text Placeholder 2">
            <a:extLst>
              <a:ext uri="{FF2B5EF4-FFF2-40B4-BE49-F238E27FC236}">
                <a16:creationId xmlns:a16="http://schemas.microsoft.com/office/drawing/2014/main" id="{00A9D297-6ED6-6057-126D-BD627587FA7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1510963" y="5238750"/>
            <a:ext cx="2857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1000"/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164282D1-E4F9-9214-B2C6-38FC95187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606EDC-4FA2-61E2-06D5-035E2CD3E462}"/>
              </a:ext>
            </a:extLst>
          </p:cNvPr>
          <p:cNvSpPr txBox="1"/>
          <p:nvPr/>
        </p:nvSpPr>
        <p:spPr>
          <a:xfrm>
            <a:off x="2466108" y="5306291"/>
            <a:ext cx="221673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Single-Story Game Mode:</a:t>
            </a:r>
            <a:r>
              <a:rPr lang="en-US" sz="1200" b="1"/>
              <a:t> </a:t>
            </a:r>
            <a:r>
              <a:rPr lang="en-US" sz="1200"/>
              <a:t>Users select an AR mission tied to a specific title (e.g., </a:t>
            </a:r>
            <a:r>
              <a:rPr lang="en-US" sz="1200" i="1"/>
              <a:t>28 Years Later Quest</a:t>
            </a:r>
            <a:r>
              <a:rPr lang="en-US" sz="1200"/>
              <a:t>).</a:t>
            </a:r>
            <a:endParaRPr lang="en-US"/>
          </a:p>
          <a:p>
            <a:r>
              <a:rPr lang="en-US" sz="1200" b="1">
                <a:solidFill>
                  <a:srgbClr val="C00000"/>
                </a:solidFill>
              </a:rPr>
              <a:t>Pre-hype Integration: </a:t>
            </a:r>
          </a:p>
          <a:p>
            <a:r>
              <a:rPr lang="en-US" sz="1200"/>
              <a:t>Trailers link directly into “Play Quest” mode before official release.</a:t>
            </a:r>
            <a:endParaRPr lang="en-US"/>
          </a:p>
          <a:p>
            <a:pPr algn="ctr"/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BA354-94C6-5934-7EDA-123F43613A49}"/>
              </a:ext>
            </a:extLst>
          </p:cNvPr>
          <p:cNvSpPr txBox="1"/>
          <p:nvPr/>
        </p:nvSpPr>
        <p:spPr>
          <a:xfrm>
            <a:off x="4987635" y="5306291"/>
            <a:ext cx="221673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Location-Based Start:</a:t>
            </a:r>
            <a:endParaRPr lang="en-US" sz="1200">
              <a:solidFill>
                <a:srgbClr val="C00000"/>
              </a:solidFill>
            </a:endParaRPr>
          </a:p>
          <a:p>
            <a:r>
              <a:rPr lang="en-US" sz="1200"/>
              <a:t>GPS detects user proximity to story landmarks.</a:t>
            </a:r>
          </a:p>
          <a:p>
            <a:r>
              <a:rPr lang="en-US" sz="1200" b="1">
                <a:solidFill>
                  <a:srgbClr val="C00000"/>
                </a:solidFill>
              </a:rPr>
              <a:t>AR Story Teaser: </a:t>
            </a:r>
            <a:endParaRPr lang="en-US" sz="1200">
              <a:solidFill>
                <a:srgbClr val="C00000"/>
              </a:solidFill>
            </a:endParaRPr>
          </a:p>
          <a:p>
            <a:r>
              <a:rPr lang="en-US" sz="1200"/>
              <a:t>Short cinematic intro uses Netflix Gaming’s engine to set mission tone.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A1DE3-9431-E249-0006-926EA0954485}"/>
              </a:ext>
            </a:extLst>
          </p:cNvPr>
          <p:cNvSpPr txBox="1"/>
          <p:nvPr/>
        </p:nvSpPr>
        <p:spPr>
          <a:xfrm>
            <a:off x="7529943" y="5306290"/>
            <a:ext cx="233181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Interactive NPCs / Enemies:</a:t>
            </a:r>
            <a:r>
              <a:rPr lang="en-US" sz="1200" dirty="0"/>
              <a:t> Real-time AR characters appear in physical space.</a:t>
            </a:r>
          </a:p>
          <a:p>
            <a:r>
              <a:rPr lang="en-US" sz="1200" b="1" dirty="0" err="1">
                <a:solidFill>
                  <a:srgbClr val="C00000"/>
                </a:solidFill>
              </a:rPr>
              <a:t>Unlockables</a:t>
            </a:r>
            <a:r>
              <a:rPr lang="en-US" sz="1200" b="1" dirty="0">
                <a:solidFill>
                  <a:srgbClr val="C00000"/>
                </a:solidFill>
              </a:rPr>
              <a:t> &amp; Rewards:</a:t>
            </a:r>
            <a:r>
              <a:rPr lang="en-US" sz="1200" dirty="0"/>
              <a:t> Completing missions grants exclusive Netflix merch, collectibles, or preview access.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891F6A-97A2-D49D-3DEB-51EA81581157}"/>
              </a:ext>
            </a:extLst>
          </p:cNvPr>
          <p:cNvCxnSpPr/>
          <p:nvPr/>
        </p:nvCxnSpPr>
        <p:spPr>
          <a:xfrm>
            <a:off x="4786745" y="1025236"/>
            <a:ext cx="20781" cy="545869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485DC3-6634-7596-BD87-BDB8FDF4BEDD}"/>
              </a:ext>
            </a:extLst>
          </p:cNvPr>
          <p:cNvCxnSpPr>
            <a:cxnSpLocks/>
          </p:cNvCxnSpPr>
          <p:nvPr/>
        </p:nvCxnSpPr>
        <p:spPr>
          <a:xfrm>
            <a:off x="7335981" y="1025236"/>
            <a:ext cx="20781" cy="545869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144A58C-583E-6FFD-8D19-4388CF5163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256" r="50" b="6971"/>
          <a:stretch>
            <a:fillRect/>
          </a:stretch>
        </p:blipFill>
        <p:spPr>
          <a:xfrm>
            <a:off x="1404713" y="781651"/>
            <a:ext cx="9382286" cy="46077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AEE37-B71D-66A3-A7C7-FC3BE4D1E3E9}"/>
              </a:ext>
            </a:extLst>
          </p:cNvPr>
          <p:cNvSpPr txBox="1"/>
          <p:nvPr/>
        </p:nvSpPr>
        <p:spPr>
          <a:xfrm>
            <a:off x="2912894" y="591766"/>
            <a:ext cx="13240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C00000"/>
                </a:solidFill>
                <a:latin typeface="Aptos"/>
              </a:rPr>
              <a:t>DISCOVER</a:t>
            </a:r>
            <a:r>
              <a:rPr sz="18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126D9-1408-C594-F374-099F62656770}"/>
              </a:ext>
            </a:extLst>
          </p:cNvPr>
          <p:cNvSpPr txBox="1"/>
          <p:nvPr/>
        </p:nvSpPr>
        <p:spPr>
          <a:xfrm>
            <a:off x="5463702" y="593387"/>
            <a:ext cx="11132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>
                <a:solidFill>
                  <a:srgbClr val="C00000"/>
                </a:solidFill>
                <a:latin typeface="Aptos"/>
                <a:ea typeface="Segoe UI"/>
                <a:cs typeface="Segoe UI"/>
              </a:rPr>
              <a:t>ENGAGE</a:t>
            </a:r>
            <a:endParaRPr lang="en-US" sz="1800">
              <a:latin typeface="Aptos"/>
              <a:ea typeface="Segoe UI"/>
              <a:cs typeface="Segoe UI"/>
            </a:endParaRPr>
          </a:p>
          <a:p>
            <a:pPr algn="ctr" rtl="0"/>
            <a:r>
              <a:rPr lang="en-US" sz="1800"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74E34-7A97-C595-38CC-01917234041C}"/>
              </a:ext>
            </a:extLst>
          </p:cNvPr>
          <p:cNvSpPr txBox="1"/>
          <p:nvPr/>
        </p:nvSpPr>
        <p:spPr>
          <a:xfrm>
            <a:off x="7998298" y="593387"/>
            <a:ext cx="128621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>
                <a:solidFill>
                  <a:srgbClr val="C00000"/>
                </a:solidFill>
                <a:latin typeface="Aptos"/>
                <a:ea typeface="Segoe UI"/>
                <a:cs typeface="Segoe UI"/>
              </a:rPr>
              <a:t>CONQUER</a:t>
            </a:r>
            <a:endParaRPr lang="en-US" sz="1800">
              <a:latin typeface="Aptos"/>
              <a:ea typeface="Segoe UI"/>
              <a:cs typeface="Segoe UI"/>
            </a:endParaRPr>
          </a:p>
          <a:p>
            <a:pPr algn="ctr" rtl="0"/>
            <a:r>
              <a:rPr lang="en-US" sz="1800"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33EBA9C-0A61-CDF3-F665-428465453055}"/>
                  </a:ext>
                </a:extLst>
              </p14:cNvPr>
              <p14:cNvContentPartPr/>
              <p14:nvPr/>
            </p14:nvContentPartPr>
            <p14:xfrm>
              <a:off x="9664715" y="5132501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33EBA9C-0A61-CDF3-F665-4284654530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60395" y="512818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34AF432-27BF-CA2B-95FF-6C30265CE0AD}"/>
                  </a:ext>
                </a:extLst>
              </p14:cNvPr>
              <p14:cNvContentPartPr/>
              <p14:nvPr/>
            </p14:nvContentPartPr>
            <p14:xfrm>
              <a:off x="9617787" y="514121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34AF432-27BF-CA2B-95FF-6C30265CE0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13467" y="513689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95771-F8B0-87ED-1157-053C43744EA2}"/>
              </a:ext>
            </a:extLst>
          </p:cNvPr>
          <p:cNvGrpSpPr/>
          <p:nvPr/>
        </p:nvGrpSpPr>
        <p:grpSpPr>
          <a:xfrm>
            <a:off x="9623208" y="5107370"/>
            <a:ext cx="31299" cy="36000"/>
            <a:chOff x="9623208" y="5107370"/>
            <a:chExt cx="31299" cy="3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331B60-2BA5-A006-0107-AB4A1D34A994}"/>
                    </a:ext>
                  </a:extLst>
                </p14:cNvPr>
                <p14:cNvContentPartPr/>
                <p14:nvPr/>
              </p14:nvContentPartPr>
              <p14:xfrm>
                <a:off x="9628947" y="5107370"/>
                <a:ext cx="25560" cy="36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331B60-2BA5-A006-0107-AB4A1D34A9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24627" y="5103050"/>
                  <a:ext cx="34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0EC509-4EBF-C83C-C50B-283489A31B18}"/>
                    </a:ext>
                  </a:extLst>
                </p14:cNvPr>
                <p14:cNvContentPartPr/>
                <p14:nvPr/>
              </p14:nvContentPartPr>
              <p14:xfrm>
                <a:off x="9643347" y="5114570"/>
                <a:ext cx="7200" cy="20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0EC509-4EBF-C83C-C50B-283489A31B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39027" y="5110250"/>
                  <a:ext cx="15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BF94ED-5E3C-660C-8C51-2DC7C16AE317}"/>
                    </a:ext>
                  </a:extLst>
                </p14:cNvPr>
                <p14:cNvContentPartPr/>
                <p14:nvPr/>
              </p14:nvContentPartPr>
              <p14:xfrm>
                <a:off x="9623208" y="5140018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BF94ED-5E3C-660C-8C51-2DC7C16AE3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18888" y="513569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7FFC12-2F57-F23E-DF56-9F31DAFC4638}"/>
                    </a:ext>
                  </a:extLst>
                </p14:cNvPr>
                <p14:cNvContentPartPr/>
                <p14:nvPr/>
              </p14:nvContentPartPr>
              <p14:xfrm>
                <a:off x="9637608" y="5132098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7FFC12-2F57-F23E-DF56-9F31DAFC46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33288" y="512777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D3362C-E418-7923-8260-1470DE01371D}"/>
                    </a:ext>
                  </a:extLst>
                </p14:cNvPr>
                <p14:cNvContentPartPr/>
                <p14:nvPr/>
              </p14:nvContentPartPr>
              <p14:xfrm>
                <a:off x="9640848" y="5125978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D3362C-E418-7923-8260-1470DE0137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36528" y="512165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FA6CAB-4D58-5416-F459-B098A28503A0}"/>
                    </a:ext>
                  </a:extLst>
                </p14:cNvPr>
                <p14:cNvContentPartPr/>
                <p14:nvPr/>
              </p14:nvContentPartPr>
              <p14:xfrm>
                <a:off x="9640488" y="5129218"/>
                <a:ext cx="72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FA6CAB-4D58-5416-F459-B098A28503A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36168" y="5124898"/>
                  <a:ext cx="9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B70680-9C5C-2328-B00D-920C3283EDF1}"/>
                    </a:ext>
                  </a:extLst>
                </p14:cNvPr>
                <p14:cNvContentPartPr/>
                <p14:nvPr/>
              </p14:nvContentPartPr>
              <p14:xfrm>
                <a:off x="9634368" y="5135338"/>
                <a:ext cx="360" cy="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B70680-9C5C-2328-B00D-920C3283ED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30048" y="5131018"/>
                  <a:ext cx="9000" cy="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403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BA6D8-3B02-E3C4-8519-10ED4378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4F7E60-5A2E-6956-D2C1-46373D2BF07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4F7E60-5A2E-6956-D2C1-46373D2BF0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7C9C6BA-4B98-8C1C-CAA4-8681ADD55468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5B926-C178-657B-1E57-C0EC1FBD006F}"/>
              </a:ext>
            </a:extLst>
          </p:cNvPr>
          <p:cNvSpPr txBox="1"/>
          <p:nvPr/>
        </p:nvSpPr>
        <p:spPr>
          <a:xfrm>
            <a:off x="347932" y="-17251"/>
            <a:ext cx="1053550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Projecting Growth: Turning Netflix’s Ecosystem into a Revenue Engine</a:t>
            </a:r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7A7393C4-7652-A60F-7B0E-1D505A27F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64C2CD-E35A-6A0B-6874-EDB3542654BD}"/>
              </a:ext>
            </a:extLst>
          </p:cNvPr>
          <p:cNvSpPr txBox="1"/>
          <p:nvPr/>
        </p:nvSpPr>
        <p:spPr>
          <a:xfrm>
            <a:off x="371475" y="576147"/>
            <a:ext cx="78643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ea typeface="+mn-lt"/>
                <a:cs typeface="+mn-lt"/>
              </a:rPr>
              <a:t>From Viewing to Living - Converting Netflix IP into Everyday Revenue Streams.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3D4A4B-6A6F-98E7-C335-F930BBDAC28D}"/>
              </a:ext>
            </a:extLst>
          </p:cNvPr>
          <p:cNvSpPr txBox="1"/>
          <p:nvPr/>
        </p:nvSpPr>
        <p:spPr>
          <a:xfrm>
            <a:off x="371475" y="939698"/>
            <a:ext cx="814351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The next phase of Netflix’s growth is not in adding subscribers but it’s in </a:t>
            </a:r>
            <a:r>
              <a:rPr lang="en-US" sz="1200" b="1">
                <a:ea typeface="+mn-lt"/>
                <a:cs typeface="+mn-lt"/>
              </a:rPr>
              <a:t>monetizing attention through immersion</a:t>
            </a:r>
            <a:r>
              <a:rPr lang="en-US" sz="1200">
                <a:ea typeface="+mn-lt"/>
                <a:cs typeface="+mn-lt"/>
              </a:rPr>
              <a:t>.</a:t>
            </a:r>
            <a:br>
              <a:rPr lang="en-US" sz="1200"/>
            </a:br>
            <a:r>
              <a:rPr lang="en-US" sz="1200">
                <a:ea typeface="+mn-lt"/>
                <a:cs typeface="+mn-lt"/>
              </a:rPr>
              <a:t>By integrating </a:t>
            </a:r>
            <a:r>
              <a:rPr lang="en-US" sz="1200" b="1">
                <a:ea typeface="+mn-lt"/>
                <a:cs typeface="+mn-lt"/>
              </a:rPr>
              <a:t>AR experiences</a:t>
            </a:r>
            <a:r>
              <a:rPr lang="en-US" sz="1200">
                <a:ea typeface="+mn-lt"/>
                <a:cs typeface="+mn-lt"/>
              </a:rPr>
              <a:t>, </a:t>
            </a:r>
            <a:r>
              <a:rPr lang="en-US" sz="1200" b="1">
                <a:ea typeface="+mn-lt"/>
                <a:cs typeface="+mn-lt"/>
              </a:rPr>
              <a:t>smart home partnerships</a:t>
            </a:r>
            <a:r>
              <a:rPr lang="en-US" sz="1200">
                <a:ea typeface="+mn-lt"/>
                <a:cs typeface="+mn-lt"/>
              </a:rPr>
              <a:t>, and </a:t>
            </a:r>
            <a:r>
              <a:rPr lang="en-US" sz="1200" b="1">
                <a:ea typeface="+mn-lt"/>
                <a:cs typeface="+mn-lt"/>
              </a:rPr>
              <a:t>in-content commerce</a:t>
            </a:r>
            <a:r>
              <a:rPr lang="en-US" sz="1200">
                <a:ea typeface="+mn-lt"/>
                <a:cs typeface="+mn-lt"/>
              </a:rPr>
              <a:t>, Netflix can transform passive engagement into an </a:t>
            </a:r>
            <a:r>
              <a:rPr lang="en-US" sz="1200" b="1">
                <a:ea typeface="+mn-lt"/>
                <a:cs typeface="+mn-lt"/>
              </a:rPr>
              <a:t>interactive, revenue-rich ecosystem</a:t>
            </a:r>
            <a:r>
              <a:rPr lang="en-US" sz="1200">
                <a:ea typeface="+mn-lt"/>
                <a:cs typeface="+mn-lt"/>
              </a:rPr>
              <a:t> spanning content, devices, and lifestyle products.</a:t>
            </a:r>
            <a:endParaRPr lang="en-US"/>
          </a:p>
          <a:p>
            <a:pPr algn="ctr"/>
            <a:endParaRPr lang="en-US" sz="12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69268C-1FEA-30EA-FFEA-E9F1C4109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90508"/>
              </p:ext>
            </p:extLst>
          </p:nvPr>
        </p:nvGraphicFramePr>
        <p:xfrm>
          <a:off x="1018581" y="2093585"/>
          <a:ext cx="10245294" cy="321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098">
                  <a:extLst>
                    <a:ext uri="{9D8B030D-6E8A-4147-A177-3AD203B41FA5}">
                      <a16:colId xmlns:a16="http://schemas.microsoft.com/office/drawing/2014/main" val="1680507238"/>
                    </a:ext>
                  </a:extLst>
                </a:gridCol>
                <a:gridCol w="3415098">
                  <a:extLst>
                    <a:ext uri="{9D8B030D-6E8A-4147-A177-3AD203B41FA5}">
                      <a16:colId xmlns:a16="http://schemas.microsoft.com/office/drawing/2014/main" val="4250900173"/>
                    </a:ext>
                  </a:extLst>
                </a:gridCol>
                <a:gridCol w="3415098">
                  <a:extLst>
                    <a:ext uri="{9D8B030D-6E8A-4147-A177-3AD203B41FA5}">
                      <a16:colId xmlns:a16="http://schemas.microsoft.com/office/drawing/2014/main" val="1158893331"/>
                    </a:ext>
                  </a:extLst>
                </a:gridCol>
              </a:tblGrid>
              <a:tr h="49967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SOLUTION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REVENUE IMPACT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ENGAGEMENT IMPACT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159575"/>
                  </a:ext>
                </a:extLst>
              </a:tr>
              <a:tr h="6368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Shoppable Ecosystem At Your Fingertips: Stream&amp;Shop</a:t>
                      </a:r>
                      <a:endParaRPr lang="en-US" sz="1600" b="1" i="0" u="none" strike="noStrike" baseline="0" noProof="0" err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1" u="none" strike="noStrike" noProof="0">
                          <a:solidFill>
                            <a:schemeClr val="bg1"/>
                          </a:solidFill>
                          <a:latin typeface="Aptos"/>
                        </a:rPr>
                        <a:t>Est. $300–$500M Incremental Revenue (Affiliate partnerships, in-app purchases, branded content tie-ins)</a:t>
                      </a:r>
                      <a:endParaRPr lang="en-US" sz="1600" b="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1" u="none" strike="noStrike" noProof="0">
                          <a:solidFill>
                            <a:schemeClr val="bg1"/>
                          </a:solidFill>
                          <a:latin typeface="Aptos"/>
                        </a:rPr>
                        <a:t>+10–15 % Engagement Lift through interactive, purchase-enabled experiences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570708"/>
                  </a:ext>
                </a:extLst>
              </a:tr>
              <a:tr h="63682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kern="1200" baseline="0" noProof="0">
                          <a:solidFill>
                            <a:srgbClr val="FFFFFF"/>
                          </a:solidFill>
                          <a:latin typeface="Aptos"/>
                          <a:ea typeface="+mn-ea"/>
                          <a:cs typeface="+mn-cs"/>
                        </a:rPr>
                        <a:t> SceneSync : Cinema at Home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u="none" strike="noStrike" kern="1200">
                          <a:solidFill>
                            <a:schemeClr val="bg1"/>
                          </a:solidFill>
                          <a:latin typeface="Aptos"/>
                          <a:ea typeface="+mn-ea"/>
                          <a:cs typeface="+mn-cs"/>
                        </a:rPr>
                        <a:t>Est. $225M Incremental Revenue (Tier Uplifts, P</a:t>
                      </a:r>
                      <a:r>
                        <a:rPr lang="en-US" sz="1600" b="0" i="1" u="none" strike="noStrike" kern="1200" noProof="0">
                          <a:solidFill>
                            <a:schemeClr val="bg1"/>
                          </a:solidFill>
                          <a:latin typeface="Aptos"/>
                          <a:ea typeface="+mn-ea"/>
                          <a:cs typeface="+mn-cs"/>
                        </a:rPr>
                        <a:t>artnership ARPU, </a:t>
                      </a:r>
                      <a:r>
                        <a:rPr lang="en-US" sz="1600" b="0" i="1" u="none" strike="noStrike" kern="1200">
                          <a:solidFill>
                            <a:schemeClr val="bg1"/>
                          </a:solidFill>
                          <a:latin typeface="Aptos"/>
                          <a:ea typeface="+mn-ea"/>
                          <a:cs typeface="+mn-cs"/>
                        </a:rPr>
                        <a:t>Churn Savings &amp; OEM Monetization)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u="none" strike="noStrike" kern="1200">
                          <a:solidFill>
                            <a:schemeClr val="bg1"/>
                          </a:solidFill>
                          <a:latin typeface="Aptos"/>
                          <a:ea typeface="+mn-ea"/>
                          <a:cs typeface="+mn-cs"/>
                        </a:rPr>
                        <a:t>+12.5% Engagement Lift  through cinematic and immersive experiences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098002"/>
                  </a:ext>
                </a:extLst>
              </a:tr>
              <a:tr h="63682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kern="1200" baseline="0" noProof="0">
                          <a:solidFill>
                            <a:srgbClr val="FFFFFF"/>
                          </a:solidFill>
                          <a:latin typeface="Aptos"/>
                          <a:ea typeface="+mn-ea"/>
                          <a:cs typeface="+mn-cs"/>
                        </a:rPr>
                        <a:t>From Screen to Streets: Interactive AR Journeys for Every Netflix Universe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1" u="none" strike="noStrike" noProof="0">
                          <a:solidFill>
                            <a:schemeClr val="bg1"/>
                          </a:solidFill>
                          <a:latin typeface="Aptos"/>
                        </a:rPr>
                        <a:t>New revenue vertical (AR campaigns, brand events) worth est. $80–120M annually</a:t>
                      </a:r>
                      <a:endParaRPr lang="en-US" sz="160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Aptos"/>
                        </a:rPr>
                        <a:t>+20% monthly active user (MAU) growth through gamified engagement 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2654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3C7B589-DF81-AA86-C6F0-D4A30F12E107}"/>
              </a:ext>
            </a:extLst>
          </p:cNvPr>
          <p:cNvSpPr txBox="1"/>
          <p:nvPr/>
        </p:nvSpPr>
        <p:spPr>
          <a:xfrm>
            <a:off x="4878586" y="1715949"/>
            <a:ext cx="20556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solidFill>
                  <a:srgbClr val="000000"/>
                </a:solidFill>
                <a:ea typeface="+mn-lt"/>
                <a:cs typeface="+mn-lt"/>
              </a:rPr>
              <a:t>KPI FRAMEWORK</a:t>
            </a:r>
            <a:endParaRPr lang="en-US" b="1" i="1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2FDBD9-364A-DFF1-CB9D-1028C4C8572F}"/>
              </a:ext>
            </a:extLst>
          </p:cNvPr>
          <p:cNvSpPr txBox="1"/>
          <p:nvPr/>
        </p:nvSpPr>
        <p:spPr>
          <a:xfrm>
            <a:off x="1016448" y="5496023"/>
            <a:ext cx="847223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Key Performance Indicators:</a:t>
            </a:r>
          </a:p>
          <a:p>
            <a:pPr marL="228600" indent="-228600">
              <a:buFont typeface=""/>
              <a:buChar char="•"/>
            </a:pPr>
            <a:r>
              <a:rPr lang="en-US" sz="1200" b="1"/>
              <a:t>Subscriber/User Growth:</a:t>
            </a:r>
            <a:r>
              <a:rPr lang="en-US" sz="1200"/>
              <a:t> +10–15% lift in active engagement per month</a:t>
            </a:r>
          </a:p>
          <a:p>
            <a:pPr marL="228600" indent="-228600">
              <a:buFont typeface=""/>
              <a:buChar char="•"/>
            </a:pPr>
            <a:r>
              <a:rPr lang="en-US" sz="1200" b="1"/>
              <a:t>Average Revenue Per User (ARPU):</a:t>
            </a:r>
            <a:r>
              <a:rPr lang="en-US" sz="1200"/>
              <a:t> +5–8% from commerce &amp; partnerships</a:t>
            </a:r>
          </a:p>
          <a:p>
            <a:pPr marL="228600" indent="-228600">
              <a:buFont typeface=""/>
              <a:buChar char="•"/>
            </a:pPr>
            <a:r>
              <a:rPr lang="en-US" sz="1200" b="1"/>
              <a:t>Retention Rate:</a:t>
            </a:r>
            <a:r>
              <a:rPr lang="en-US" sz="1200"/>
              <a:t> +4–6% from integrated smart home &amp; AR loyalty features</a:t>
            </a:r>
          </a:p>
          <a:p>
            <a:pPr marL="228600" indent="-228600">
              <a:buFont typeface=""/>
              <a:buChar char="•"/>
            </a:pPr>
            <a:r>
              <a:rPr lang="en-US" sz="1200" b="1"/>
              <a:t>New Revenue Streams:</a:t>
            </a:r>
            <a:r>
              <a:rPr lang="en-US" sz="1200"/>
              <a:t> 3 new monetizable IP channels by Year 3</a:t>
            </a:r>
          </a:p>
        </p:txBody>
      </p:sp>
      <p:pic>
        <p:nvPicPr>
          <p:cNvPr id="19" name="Graphic 18" descr="Shopping bag with solid fill">
            <a:extLst>
              <a:ext uri="{FF2B5EF4-FFF2-40B4-BE49-F238E27FC236}">
                <a16:creationId xmlns:a16="http://schemas.microsoft.com/office/drawing/2014/main" id="{5D6F980B-85CA-E612-EFAC-7F663356F4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088" y="2899963"/>
            <a:ext cx="439713" cy="439712"/>
          </a:xfrm>
          <a:prstGeom prst="rect">
            <a:avLst/>
          </a:prstGeom>
        </p:spPr>
      </p:pic>
      <p:pic>
        <p:nvPicPr>
          <p:cNvPr id="20" name="Graphic 19" descr="Work from home Wi-Fi with solid fill">
            <a:extLst>
              <a:ext uri="{FF2B5EF4-FFF2-40B4-BE49-F238E27FC236}">
                <a16:creationId xmlns:a16="http://schemas.microsoft.com/office/drawing/2014/main" id="{0BD8BEDA-26AE-16E7-0A1C-81BB97BC02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039" y="3905050"/>
            <a:ext cx="470942" cy="470942"/>
          </a:xfrm>
          <a:prstGeom prst="rect">
            <a:avLst/>
          </a:prstGeom>
        </p:spPr>
      </p:pic>
      <p:pic>
        <p:nvPicPr>
          <p:cNvPr id="22" name="Graphic 21" descr="Virtual Reality headset outline">
            <a:extLst>
              <a:ext uri="{FF2B5EF4-FFF2-40B4-BE49-F238E27FC236}">
                <a16:creationId xmlns:a16="http://schemas.microsoft.com/office/drawing/2014/main" id="{03A73DC2-0943-B1B5-248A-9611DB721F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91" y="4747154"/>
            <a:ext cx="470941" cy="47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0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D3F68-A771-1CD3-D8A0-6007E8AB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567F2CB-C179-B658-7B99-E83F199017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67F2CB-C179-B658-7B99-E83F19901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D37FC7B-26DB-C991-0F84-A8C790636702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B166E-6C1E-C126-C449-95B35658D262}"/>
              </a:ext>
            </a:extLst>
          </p:cNvPr>
          <p:cNvSpPr txBox="1"/>
          <p:nvPr/>
        </p:nvSpPr>
        <p:spPr>
          <a:xfrm>
            <a:off x="371475" y="-4872"/>
            <a:ext cx="946466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Risk &amp; Mitigation</a:t>
            </a:r>
            <a:endParaRPr lang="en-US" dirty="0"/>
          </a:p>
        </p:txBody>
      </p:sp>
      <p:pic>
        <p:nvPicPr>
          <p:cNvPr id="30" name="Picture 2" descr="Netflix | Brand Assets | Logos">
            <a:extLst>
              <a:ext uri="{FF2B5EF4-FFF2-40B4-BE49-F238E27FC236}">
                <a16:creationId xmlns:a16="http://schemas.microsoft.com/office/drawing/2014/main" id="{1B9C88E9-495B-59B5-FBB0-4B8FEF998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ackground of gradient lights | Free Photo">
            <a:extLst>
              <a:ext uri="{FF2B5EF4-FFF2-40B4-BE49-F238E27FC236}">
                <a16:creationId xmlns:a16="http://schemas.microsoft.com/office/drawing/2014/main" id="{9C2CC7CB-31E8-766C-2720-556841841E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879" t="56" r="7917" b="366"/>
          <a:stretch>
            <a:fillRect/>
          </a:stretch>
        </p:blipFill>
        <p:spPr>
          <a:xfrm>
            <a:off x="733493" y="1612494"/>
            <a:ext cx="3297673" cy="298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5A0E6-4E6D-1D86-D9F0-AFE9842E119B}"/>
              </a:ext>
            </a:extLst>
          </p:cNvPr>
          <p:cNvSpPr txBox="1"/>
          <p:nvPr/>
        </p:nvSpPr>
        <p:spPr>
          <a:xfrm>
            <a:off x="734590" y="1291014"/>
            <a:ext cx="12663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C00000"/>
                </a:solidFill>
                <a:latin typeface="Aptos"/>
              </a:rPr>
              <a:t>Risk Map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69C1F-4DFA-2615-BCF5-367D6C8E88CB}"/>
              </a:ext>
            </a:extLst>
          </p:cNvPr>
          <p:cNvSpPr txBox="1"/>
          <p:nvPr/>
        </p:nvSpPr>
        <p:spPr>
          <a:xfrm rot="16200000">
            <a:off x="186388" y="2541774"/>
            <a:ext cx="133761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Aptos"/>
              </a:rPr>
              <a:t>Probability </a:t>
            </a:r>
            <a:endParaRPr lang="en-US" sz="1200"/>
          </a:p>
          <a:p>
            <a:endParaRPr lang="en-US" sz="1200" i="1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06CF23-0C26-7DE6-4584-EDFD4C78ED5E}"/>
              </a:ext>
            </a:extLst>
          </p:cNvPr>
          <p:cNvSpPr txBox="1"/>
          <p:nvPr/>
        </p:nvSpPr>
        <p:spPr>
          <a:xfrm>
            <a:off x="1814547" y="4596669"/>
            <a:ext cx="88808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Aptos"/>
              </a:rPr>
              <a:t>Impact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91888E-C684-EE05-70D3-EB67DD5C44A6}"/>
              </a:ext>
            </a:extLst>
          </p:cNvPr>
          <p:cNvSpPr txBox="1"/>
          <p:nvPr/>
        </p:nvSpPr>
        <p:spPr>
          <a:xfrm>
            <a:off x="5838345" y="1033360"/>
            <a:ext cx="125538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 u="sng">
                <a:latin typeface="Aptos"/>
              </a:rPr>
              <a:t>Risks</a:t>
            </a:r>
            <a:endParaRPr lang="en-US" sz="1600" b="1" i="1" u="sng"/>
          </a:p>
          <a:p>
            <a:pPr algn="ctr"/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FA815-D8EE-03D5-FDA2-78D2232F0A8F}"/>
              </a:ext>
            </a:extLst>
          </p:cNvPr>
          <p:cNvSpPr txBox="1"/>
          <p:nvPr/>
        </p:nvSpPr>
        <p:spPr>
          <a:xfrm>
            <a:off x="8908273" y="1033360"/>
            <a:ext cx="194611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 u="sng">
                <a:latin typeface="Aptos"/>
              </a:rPr>
              <a:t>Mitigation Plans</a:t>
            </a:r>
            <a:endParaRPr lang="en-US" sz="1600" b="1" i="1"/>
          </a:p>
          <a:p>
            <a:pPr algn="ctr"/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19039-FB47-F747-A06E-5592730216A9}"/>
              </a:ext>
            </a:extLst>
          </p:cNvPr>
          <p:cNvSpPr txBox="1"/>
          <p:nvPr/>
        </p:nvSpPr>
        <p:spPr>
          <a:xfrm>
            <a:off x="8155351" y="1646760"/>
            <a:ext cx="385277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/>
              <a:t>Start with smaller, tech-forward markets</a:t>
            </a:r>
            <a:endParaRPr lang="en-US" b="1" u="sng"/>
          </a:p>
          <a:p>
            <a:r>
              <a:rPr lang="en-US" sz="1400"/>
              <a:t>Can help Netflix identify what works before committing globally, minimizing financial risk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3E683F-ED31-6D54-28B8-EE98B2AA681F}"/>
              </a:ext>
            </a:extLst>
          </p:cNvPr>
          <p:cNvSpPr txBox="1"/>
          <p:nvPr/>
        </p:nvSpPr>
        <p:spPr>
          <a:xfrm>
            <a:off x="8144386" y="2852803"/>
            <a:ext cx="3852776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/>
              <a:t>Limit shoppable overlays to organic fits</a:t>
            </a:r>
            <a:endParaRPr lang="en-US" u="sng"/>
          </a:p>
          <a:p>
            <a:pPr marL="285750" indent="-285750">
              <a:buFont typeface="Arial"/>
              <a:buChar char="•"/>
            </a:pPr>
            <a:r>
              <a:rPr lang="en-US" sz="1400"/>
              <a:t>Only use shopping features where it naturally enhances the story, not distracts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/>
              <a:t>Keep content immersive and emotionally engaging, which protects brand trust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F7F177-BECC-F75A-64CB-64DB7BAAC4D5}"/>
              </a:ext>
            </a:extLst>
          </p:cNvPr>
          <p:cNvSpPr txBox="1"/>
          <p:nvPr/>
        </p:nvSpPr>
        <p:spPr>
          <a:xfrm>
            <a:off x="8045709" y="4360357"/>
            <a:ext cx="396241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/>
              <a:t>Transparent opt-in and localized data policies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Clearly explain what data is collected and why, letting users choose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Adjust policies to fit each country's privacy laws, reducing legal risk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239321-0059-2324-035A-396D20B9BAC8}"/>
              </a:ext>
            </a:extLst>
          </p:cNvPr>
          <p:cNvSpPr/>
          <p:nvPr/>
        </p:nvSpPr>
        <p:spPr>
          <a:xfrm>
            <a:off x="4306228" y="1974501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2F071-E41D-87BA-9C6A-2A624B4D4050}"/>
              </a:ext>
            </a:extLst>
          </p:cNvPr>
          <p:cNvSpPr txBox="1"/>
          <p:nvPr/>
        </p:nvSpPr>
        <p:spPr>
          <a:xfrm>
            <a:off x="4304145" y="1946709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856251-BB7A-C952-314E-9869532E9324}"/>
              </a:ext>
            </a:extLst>
          </p:cNvPr>
          <p:cNvSpPr/>
          <p:nvPr/>
        </p:nvSpPr>
        <p:spPr>
          <a:xfrm>
            <a:off x="4273336" y="3202472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1D2639-FC5D-8ECF-76D7-2C0DB77C1A16}"/>
              </a:ext>
            </a:extLst>
          </p:cNvPr>
          <p:cNvSpPr txBox="1"/>
          <p:nvPr/>
        </p:nvSpPr>
        <p:spPr>
          <a:xfrm>
            <a:off x="4271253" y="3174680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2D3884-1D56-5CE7-EEE5-CF1AB4B4DDD8}"/>
              </a:ext>
            </a:extLst>
          </p:cNvPr>
          <p:cNvSpPr/>
          <p:nvPr/>
        </p:nvSpPr>
        <p:spPr>
          <a:xfrm>
            <a:off x="4251408" y="4666170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BC30D-7A97-96C5-5EE8-3F26F59F8103}"/>
              </a:ext>
            </a:extLst>
          </p:cNvPr>
          <p:cNvSpPr txBox="1"/>
          <p:nvPr/>
        </p:nvSpPr>
        <p:spPr>
          <a:xfrm>
            <a:off x="4249325" y="4638378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20135EA-DC1E-F4D0-176F-1616A7ADE521}"/>
              </a:ext>
            </a:extLst>
          </p:cNvPr>
          <p:cNvSpPr/>
          <p:nvPr/>
        </p:nvSpPr>
        <p:spPr>
          <a:xfrm>
            <a:off x="4732326" y="1721563"/>
            <a:ext cx="2911456" cy="8378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0251FE-C2F9-57E4-3AC8-98AFFEFEDD72}"/>
              </a:ext>
            </a:extLst>
          </p:cNvPr>
          <p:cNvSpPr txBox="1"/>
          <p:nvPr/>
        </p:nvSpPr>
        <p:spPr>
          <a:xfrm>
            <a:off x="4577482" y="1872108"/>
            <a:ext cx="322342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aseline="0">
                <a:latin typeface="Aptos"/>
                <a:ea typeface="Segoe UI"/>
                <a:cs typeface="Segoe UI"/>
              </a:rPr>
              <a:t>High Development costs leading </a:t>
            </a:r>
            <a:r>
              <a:rPr lang="en-US" sz="1400">
                <a:latin typeface="Aptos"/>
                <a:ea typeface="Segoe UI"/>
                <a:cs typeface="Segoe UI"/>
              </a:rPr>
              <a:t>to delayed</a:t>
            </a:r>
            <a:r>
              <a:rPr lang="en-US" sz="1400" baseline="0">
                <a:latin typeface="Aptos"/>
                <a:ea typeface="Segoe UI"/>
                <a:cs typeface="Segoe UI"/>
              </a:rPr>
              <a:t> ROI</a:t>
            </a:r>
            <a:r>
              <a:rPr sz="14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8EEE5F9-4C8E-8D7F-6E0E-AEB7909A2B61}"/>
              </a:ext>
            </a:extLst>
          </p:cNvPr>
          <p:cNvSpPr/>
          <p:nvPr/>
        </p:nvSpPr>
        <p:spPr>
          <a:xfrm>
            <a:off x="4743289" y="3004354"/>
            <a:ext cx="2911456" cy="8378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291598-F7D3-CD30-E1D6-4332AD6C1F32}"/>
              </a:ext>
            </a:extLst>
          </p:cNvPr>
          <p:cNvSpPr txBox="1"/>
          <p:nvPr/>
        </p:nvSpPr>
        <p:spPr>
          <a:xfrm>
            <a:off x="4802244" y="3165863"/>
            <a:ext cx="279582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aseline="0">
                <a:latin typeface="Aptos"/>
                <a:ea typeface="Segoe UI"/>
                <a:cs typeface="Segoe UI"/>
              </a:rPr>
              <a:t>Brand fatigue due to over </a:t>
            </a:r>
            <a:r>
              <a:rPr lang="en-US" sz="1400">
                <a:latin typeface="Aptos"/>
                <a:ea typeface="Segoe UI"/>
                <a:cs typeface="Segoe UI"/>
              </a:rPr>
              <a:t>commercialized risk</a:t>
            </a:r>
            <a:r>
              <a:rPr sz="14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BCCD2CD-8290-0054-643E-7F16103CFDDD}"/>
              </a:ext>
            </a:extLst>
          </p:cNvPr>
          <p:cNvSpPr/>
          <p:nvPr/>
        </p:nvSpPr>
        <p:spPr>
          <a:xfrm>
            <a:off x="4743289" y="4484497"/>
            <a:ext cx="2911456" cy="8378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2E6925-B3F0-38E0-9638-C41E2FA504FB}"/>
              </a:ext>
            </a:extLst>
          </p:cNvPr>
          <p:cNvSpPr txBox="1"/>
          <p:nvPr/>
        </p:nvSpPr>
        <p:spPr>
          <a:xfrm>
            <a:off x="4741942" y="4651489"/>
            <a:ext cx="292739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aseline="0">
                <a:latin typeface="Aptos"/>
                <a:ea typeface="Segoe UI"/>
                <a:cs typeface="Segoe UI"/>
              </a:rPr>
              <a:t>Privacy concerns leading to user </a:t>
            </a:r>
            <a:r>
              <a:rPr lang="en-US" sz="1400">
                <a:latin typeface="Aptos"/>
                <a:ea typeface="Segoe UI"/>
                <a:cs typeface="Segoe UI"/>
              </a:rPr>
              <a:t>data usage</a:t>
            </a:r>
            <a:r>
              <a:rPr lang="en-US" sz="1400" baseline="0">
                <a:latin typeface="Aptos"/>
                <a:ea typeface="Segoe UI"/>
                <a:cs typeface="Segoe UI"/>
              </a:rPr>
              <a:t> for personalization</a:t>
            </a:r>
            <a:r>
              <a:rPr sz="14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9D8B97-15CA-67C9-BB9E-CE398662323B}"/>
              </a:ext>
            </a:extLst>
          </p:cNvPr>
          <p:cNvSpPr/>
          <p:nvPr/>
        </p:nvSpPr>
        <p:spPr>
          <a:xfrm>
            <a:off x="3034400" y="2188299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6A8CF8-AF4D-C717-34EB-C368C702FEAD}"/>
              </a:ext>
            </a:extLst>
          </p:cNvPr>
          <p:cNvSpPr txBox="1"/>
          <p:nvPr/>
        </p:nvSpPr>
        <p:spPr>
          <a:xfrm>
            <a:off x="3032317" y="2160507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6B0D234-1596-6256-96D1-88AC88DEEC24}"/>
              </a:ext>
            </a:extLst>
          </p:cNvPr>
          <p:cNvSpPr/>
          <p:nvPr/>
        </p:nvSpPr>
        <p:spPr>
          <a:xfrm>
            <a:off x="3697724" y="1925162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252A70-E66D-CE00-E10F-EF768AE4E06E}"/>
              </a:ext>
            </a:extLst>
          </p:cNvPr>
          <p:cNvSpPr txBox="1"/>
          <p:nvPr/>
        </p:nvSpPr>
        <p:spPr>
          <a:xfrm>
            <a:off x="3695641" y="1897370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2A68B2D-6B5B-122C-6C32-3D4F0F2C4E9E}"/>
              </a:ext>
            </a:extLst>
          </p:cNvPr>
          <p:cNvSpPr/>
          <p:nvPr/>
        </p:nvSpPr>
        <p:spPr>
          <a:xfrm>
            <a:off x="3335911" y="1941609"/>
            <a:ext cx="304612" cy="3075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72A897-FA6B-48CB-F9CD-6ADF53722287}"/>
              </a:ext>
            </a:extLst>
          </p:cNvPr>
          <p:cNvSpPr txBox="1"/>
          <p:nvPr/>
        </p:nvSpPr>
        <p:spPr>
          <a:xfrm>
            <a:off x="3333828" y="1913817"/>
            <a:ext cx="200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67A47F-8E25-983A-A0F2-65520B2E5B8B}"/>
              </a:ext>
            </a:extLst>
          </p:cNvPr>
          <p:cNvSpPr txBox="1"/>
          <p:nvPr/>
        </p:nvSpPr>
        <p:spPr>
          <a:xfrm>
            <a:off x="487901" y="6394770"/>
            <a:ext cx="1082697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i="1"/>
              <a:t>All these strategies show Netflix balancing </a:t>
            </a:r>
            <a:r>
              <a:rPr lang="en-US" sz="1200" b="1" i="1"/>
              <a:t>innovation with control</a:t>
            </a:r>
            <a:r>
              <a:rPr lang="en-US" sz="1200" i="1"/>
              <a:t> — trying new tech and experiences, but in a </a:t>
            </a:r>
            <a:r>
              <a:rPr lang="en-US" sz="1200" b="1" i="1"/>
              <a:t>measured, risk-aware way</a:t>
            </a:r>
            <a:r>
              <a:rPr lang="en-US" sz="1200" i="1"/>
              <a:t> that protects ROI, user trust, and brand identity.</a:t>
            </a:r>
            <a:endParaRPr lang="en-US"/>
          </a:p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3F9F918-13F6-C3B2-C952-E5037B7A448B}"/>
              </a:ext>
            </a:extLst>
          </p:cNvPr>
          <p:cNvCxnSpPr/>
          <p:nvPr/>
        </p:nvCxnSpPr>
        <p:spPr>
          <a:xfrm flipV="1">
            <a:off x="214818" y="6369803"/>
            <a:ext cx="11751822" cy="76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48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265B-ED03-BC92-58D4-0377B858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79992CB-1176-BC1C-C440-B1A24728A4A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9796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5" imgW="486" imgH="486" progId="TCLayout.ActiveDocument.1">
                  <p:embed/>
                </p:oleObj>
              </mc:Choice>
              <mc:Fallback>
                <p:oleObj name="think-cell Slide" r:id="rId65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9992CB-1176-BC1C-C440-B1A24728A4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954213" y="1460500"/>
            <a:ext cx="4800600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9EF7662-81A2-400C-B52F-4AB40B84A4BA}" type="datetime'''''''''''''''2''''0''''2''''''''6''''''''''''''''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en-SG" sz="1400" b="1"/>
          </a:p>
        </p:txBody>
      </p:sp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871208CA-D7A8-4E53-50F7-76EA7933070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754813" y="1460500"/>
            <a:ext cx="4799013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6ECF846-2F37-4543-80BB-CD7040FB5B61}" type="datetime'''2''''''''''''''''''''''''0''''''''2''''''''''7'''''''''''''">
              <a:rPr lang="en-SG" altLang="en-US" sz="1400" b="1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2027</a:t>
            </a:fld>
            <a:endParaRPr lang="en-SG" sz="1400" b="1"/>
          </a:p>
        </p:txBody>
      </p:sp>
      <p:sp>
        <p:nvSpPr>
          <p:cNvPr id="282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954213" y="1700213"/>
            <a:ext cx="1184275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96F5455-46A7-47D4-8995-C7DE0BC25039}" type="datetime'''''''''''''Q''''''''''''''''''''1''''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Q1</a:t>
            </a:fld>
            <a:endParaRPr lang="en-SG" sz="1400" b="1"/>
          </a:p>
        </p:txBody>
      </p:sp>
      <p:sp>
        <p:nvSpPr>
          <p:cNvPr id="283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138488" y="1700213"/>
            <a:ext cx="1195388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A2BE6C9-8336-46A2-918A-152CFD3D0AC9}" type="datetime'''Q''''''''''''''''''''2''''''''''''''''''''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Q2</a:t>
            </a:fld>
            <a:endParaRPr lang="en-SG" sz="1400" b="1"/>
          </a:p>
        </p:txBody>
      </p:sp>
      <p:sp>
        <p:nvSpPr>
          <p:cNvPr id="284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333875" y="1700213"/>
            <a:ext cx="1209675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921F784-E165-44CD-AE45-EA5A543DA293}" type="datetime'''''''''Q''''''3''''''''''''''''''''''''''''''''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Q3</a:t>
            </a:fld>
            <a:endParaRPr lang="en-SG" sz="1400" b="1"/>
          </a:p>
        </p:txBody>
      </p:sp>
      <p:sp>
        <p:nvSpPr>
          <p:cNvPr id="285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543550" y="1700213"/>
            <a:ext cx="1211263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DDF47FE-F9E8-4B28-803B-F2420971CCF3}" type="datetime'''''''''''Q''''''''''''''''''''''4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Q4</a:t>
            </a:fld>
            <a:endParaRPr lang="en-SG" sz="1400" b="1"/>
          </a:p>
        </p:txBody>
      </p:sp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754813" y="1700213"/>
            <a:ext cx="1182688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A8C91D2-3C7F-4D99-BE1F-992DE8AF5861}" type="datetime'''''''''''''''''''''''''''''''''''''''Q''1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Q1</a:t>
            </a:fld>
            <a:endParaRPr lang="en-SG" sz="1400" b="1"/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937500" y="1700213"/>
            <a:ext cx="1196975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68020E2-D8F7-4AB5-8D6D-19CD0C46C23A}" type="datetime'''''''Q''''''''''''''''''''''''''''''''''''''2'''">
              <a:rPr lang="en-SG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Q2</a:t>
            </a:fld>
            <a:endParaRPr lang="en-SG" sz="1400" b="1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FA1DB9-8418-E41A-F72E-1A730E9B0FB9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4475" y="1700213"/>
            <a:ext cx="1209675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50D4F42-57E5-4604-8C75-6225235DD8E1}" type="datetime'Q''''''''''''''''''''''''3'''''''''''''''''''''''">
              <a:rPr lang="en-SG" altLang="en-US" sz="1400" b="1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Q3</a:t>
            </a:fld>
            <a:endParaRPr lang="en-SG" sz="1400" b="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18AC5A7-3181-C95B-04CF-DE78A189C77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344150" y="1700213"/>
            <a:ext cx="1209675" cy="239713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11D3DDE-67B6-4282-BCD2-5CD9615433EB}" type="datetime'''Q''''''''''''''''''''''4'''''">
              <a:rPr lang="en-SG" altLang="en-US" sz="1400" b="1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Q4</a:t>
            </a:fld>
            <a:endParaRPr lang="en-SG" sz="1400" b="1"/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CBC1D2C6-1791-EE54-1EC9-18F37A44AEF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514985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23F9B235-3938-6AF6-667D-FA5EAA5A8812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595153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DF5B2E6-0174-650A-98AE-0E1F29E531B3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6346825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102FFF00-0142-55E7-7ABB-E38DF1E58377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675481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5334378-66EB-7AB6-E7DB-7EADB68B54D0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716121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0FD282D-9709-8AA7-9ED7-C2DAF3523AF8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752951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3D340184-28E4-F094-CBF2-322EADA2053F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793750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5CC5AAE2-2BB0-5FCD-7506-0C8C2EEBDC54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833278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284F365E-E136-618F-44A2-81313C88726B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873918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796A8AA-09F9-6297-DBAD-8C24F2E2674A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1954213" y="1939925"/>
            <a:ext cx="0" cy="42116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18926C-793F-D0A9-8E79-5FA9C9C8CDEF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11553825" y="1939925"/>
            <a:ext cx="0" cy="42116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AA93B3-6C4D-B095-9C23-FB04AD08C6E6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85788" y="1939925"/>
            <a:ext cx="0" cy="42116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E98849-6F3C-A942-4806-984E3AF20F6C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9134475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790CEC-FA52-C481-C0F8-587ACF5CF704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954246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1D3248-CDBE-9389-338B-F13E525BCB41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994886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1E9D9C3F-BB8E-6362-4369-0DF2A0A89399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273050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610611-59D4-D3CC-290E-DF27A1000736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034415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D51B3A-B80E-7CA6-033E-BB20FAC58B9E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1075213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81E085-4DBB-ED10-B04A-550CEE32DD6A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1114583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91ECDC5-CF63-EE5D-0309-A850B8EB4A66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236220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F89A5F0E-6225-3EF6-5EB0-146B76F72660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5543550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3C890865-CCB0-89B7-5C2C-67D4621F7EED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313848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1384AAE-3F3B-15CC-CB87-CE68CE96222A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3532188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D5D3CBCB-9AD7-CA9C-0AB7-B607BE7C3DEF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3940175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74F5CDF-0A80-73B9-5606-230C1C454DAE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4333875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61D5D8CB-4585-CF3D-6953-B7EAC8516F8A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4741863" y="1939925"/>
            <a:ext cx="0" cy="4211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661BEE48-BCD4-B2D9-6B36-F817214C5A0D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585788" y="2992438"/>
            <a:ext cx="109680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4583CA79-46E7-53AF-D6E8-B0CD81E25873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585788" y="4044950"/>
            <a:ext cx="109680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2F2B8087-D4A7-AB93-92F8-B5EEAFC93C28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585788" y="5097463"/>
            <a:ext cx="109680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66C997C-4FFD-59EF-2B7C-F2AD23DBB7D8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585788" y="6151563"/>
            <a:ext cx="109680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A7783E3-227E-1BF2-3A5A-FC245F3A5973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585788" y="1939925"/>
            <a:ext cx="109680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C79B9D3-1FB1-640C-C02E-9E6F02A4D50F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1954213" y="2081213"/>
            <a:ext cx="1184275" cy="9842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88676BE-1EFB-6C29-9531-2F98DBC6F9B9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1954213" y="2406650"/>
            <a:ext cx="1577975" cy="98425"/>
          </a:xfrm>
          <a:prstGeom prst="rect">
            <a:avLst/>
          </a:prstGeom>
          <a:solidFill>
            <a:srgbClr val="C30C3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C6F20E50-69A3-8F3C-9B24-BA56C8D7B822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1954213" y="2730500"/>
            <a:ext cx="2379663" cy="98425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02DB268-8C76-EB21-95DE-B416778045B5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3138488" y="3135313"/>
            <a:ext cx="1195388" cy="9842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D9885A4-DC5F-A28E-D867-26AEA68AB1AA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3532188" y="3459163"/>
            <a:ext cx="1617663" cy="98425"/>
          </a:xfrm>
          <a:prstGeom prst="rect">
            <a:avLst/>
          </a:prstGeom>
          <a:solidFill>
            <a:srgbClr val="C30C3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9253DF75-D2BC-9D06-0414-939069508F40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4333875" y="3783013"/>
            <a:ext cx="2012950" cy="98425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A4658A13-6EE8-9D69-550B-EDAF62F63C76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4333875" y="4187825"/>
            <a:ext cx="2012950" cy="9842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C3B8935-57A5-0B02-BAFC-D2020FD00261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5149850" y="4511675"/>
            <a:ext cx="2379663" cy="98425"/>
          </a:xfrm>
          <a:prstGeom prst="rect">
            <a:avLst/>
          </a:prstGeom>
          <a:solidFill>
            <a:srgbClr val="C30C3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878D3A8-1DA6-9E23-8570-28ECB776B05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6346825" y="4835525"/>
            <a:ext cx="2392363" cy="98425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9B4CB472-6EF4-A925-D8AC-34B2EFA937F9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529513" y="5564188"/>
            <a:ext cx="4024313" cy="98425"/>
          </a:xfrm>
          <a:prstGeom prst="rect">
            <a:avLst/>
          </a:prstGeom>
          <a:solidFill>
            <a:srgbClr val="C30C3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75D382EE-19E9-A6AC-3EF0-E2A3C894F59F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739188" y="5889625"/>
            <a:ext cx="2814638" cy="98425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B6C0656-F320-6679-97EC-82CE4E8BA960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6346825" y="5240338"/>
            <a:ext cx="5207000" cy="9842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657225" y="2058988"/>
            <a:ext cx="687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 dirty="0">
                <a:effectLst/>
              </a:rPr>
              <a:t>Research </a:t>
            </a:r>
          </a:p>
        </p:txBody>
      </p:sp>
      <p:sp>
        <p:nvSpPr>
          <p:cNvPr id="332" name="Text Placeholder 2">
            <a:extLst>
              <a:ext uri="{FF2B5EF4-FFF2-40B4-BE49-F238E27FC236}">
                <a16:creationId xmlns:a16="http://schemas.microsoft.com/office/drawing/2014/main" id="{EF96E009-C314-66A7-D809-2E2644F448CF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657225" y="2384425"/>
            <a:ext cx="1225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/>
              <a:t>and Development</a:t>
            </a:r>
            <a:endParaRPr lang="en-SG" sz="1200" b="1"/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04B61754-BFD7-BE2F-485D-F15D3373E225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657225" y="3113088"/>
            <a:ext cx="7127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 dirty="0"/>
              <a:t>Pilot Entry</a:t>
            </a:r>
            <a:endParaRPr lang="en-SG" sz="1200" b="1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657225" y="4165600"/>
            <a:ext cx="7334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 dirty="0">
                <a:effectLst/>
              </a:rPr>
              <a:t>Evaluation</a:t>
            </a:r>
            <a:endParaRPr lang="en-SG" sz="1200" b="1" dirty="0"/>
          </a:p>
        </p:txBody>
      </p:sp>
      <p:sp>
        <p:nvSpPr>
          <p:cNvPr id="321" name="Text Placeholder 2">
            <a:extLst>
              <a:ext uri="{FF2B5EF4-FFF2-40B4-BE49-F238E27FC236}">
                <a16:creationId xmlns:a16="http://schemas.microsoft.com/office/drawing/2014/main" id="{20CEA445-642A-B234-4256-93A9184D92EB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657225" y="5218113"/>
            <a:ext cx="10461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/>
              <a:t>Full Integration</a:t>
            </a:r>
            <a:endParaRPr lang="en-SG" sz="1200" b="1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ECA75D-3BAB-F901-61EB-DABD8304C8B6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657225" y="1724025"/>
            <a:ext cx="4524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400" b="1" dirty="0">
                <a:effectLst/>
              </a:rPr>
              <a:t>Tasks</a:t>
            </a:r>
            <a:endParaRPr lang="en-SG" sz="1400" b="1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A505F50-513D-085C-7C26-59810ED2D2E4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657225" y="4489450"/>
            <a:ext cx="679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sz="1200" b="1" dirty="0"/>
              <a:t>and Scale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28EB5EE-2B22-49EE-D97A-B0FA85A07C34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657225" y="4813300"/>
            <a:ext cx="509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200" b="1" dirty="0"/>
              <a:t>Further</a:t>
            </a:r>
            <a:endParaRPr lang="en-SG" sz="1200" b="1" dirty="0"/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B07B126E-83F1-428D-0DB3-4AACAA54BE95}"/>
              </a:ext>
            </a:extLst>
          </p:cNvPr>
          <p:cNvGrpSpPr/>
          <p:nvPr/>
        </p:nvGrpSpPr>
        <p:grpSpPr>
          <a:xfrm>
            <a:off x="9858743" y="646114"/>
            <a:ext cx="1786790" cy="693653"/>
            <a:chOff x="9095673" y="459017"/>
            <a:chExt cx="1786790" cy="693653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88FC487D-AE16-D281-F3BE-260560792757}"/>
                </a:ext>
              </a:extLst>
            </p:cNvPr>
            <p:cNvSpPr/>
            <p:nvPr/>
          </p:nvSpPr>
          <p:spPr>
            <a:xfrm>
              <a:off x="9109323" y="976313"/>
              <a:ext cx="394636" cy="139701"/>
            </a:xfrm>
            <a:prstGeom prst="rect">
              <a:avLst/>
            </a:prstGeom>
            <a:solidFill>
              <a:srgbClr val="0F9ED5"/>
            </a:solidFill>
            <a:ln>
              <a:solidFill>
                <a:srgbClr val="0F9E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3ED3A64-0701-D243-77FE-C0F9335C1FD6}"/>
                </a:ext>
              </a:extLst>
            </p:cNvPr>
            <p:cNvSpPr/>
            <p:nvPr/>
          </p:nvSpPr>
          <p:spPr>
            <a:xfrm>
              <a:off x="9102498" y="736601"/>
              <a:ext cx="394636" cy="13970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E936561-B15E-F192-2A5D-F39D49456D32}"/>
                </a:ext>
              </a:extLst>
            </p:cNvPr>
            <p:cNvSpPr/>
            <p:nvPr/>
          </p:nvSpPr>
          <p:spPr>
            <a:xfrm>
              <a:off x="9095673" y="496889"/>
              <a:ext cx="394636" cy="139701"/>
            </a:xfrm>
            <a:prstGeom prst="rect">
              <a:avLst/>
            </a:prstGeom>
            <a:solidFill>
              <a:srgbClr val="E97132"/>
            </a:solidFill>
            <a:ln>
              <a:solidFill>
                <a:srgbClr val="E971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2C86D261-FF70-20E9-E266-52B1E40C0ED8}"/>
                </a:ext>
              </a:extLst>
            </p:cNvPr>
            <p:cNvSpPr txBox="1"/>
            <p:nvPr/>
          </p:nvSpPr>
          <p:spPr>
            <a:xfrm>
              <a:off x="9529612" y="459017"/>
              <a:ext cx="13528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b="1"/>
                <a:t>Shoppable Ecosystem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2F2D567F-414C-7227-D4C8-9DC2D077237F}"/>
                </a:ext>
              </a:extLst>
            </p:cNvPr>
            <p:cNvSpPr txBox="1"/>
            <p:nvPr/>
          </p:nvSpPr>
          <p:spPr>
            <a:xfrm>
              <a:off x="9529612" y="704850"/>
              <a:ext cx="13528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b="1"/>
                <a:t>Smart Home Integration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23613478-D5EF-AADA-00F7-68EA42D0ABC5}"/>
                </a:ext>
              </a:extLst>
            </p:cNvPr>
            <p:cNvSpPr txBox="1"/>
            <p:nvPr/>
          </p:nvSpPr>
          <p:spPr>
            <a:xfrm>
              <a:off x="9529612" y="937226"/>
              <a:ext cx="13528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b="1" dirty="0"/>
                <a:t>AR Netflix Quest</a:t>
              </a: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3BFB51C9-667D-E461-1100-BCED1FD49939}"/>
              </a:ext>
            </a:extLst>
          </p:cNvPr>
          <p:cNvSpPr txBox="1"/>
          <p:nvPr/>
        </p:nvSpPr>
        <p:spPr>
          <a:xfrm>
            <a:off x="6471652" y="4079393"/>
            <a:ext cx="5043873" cy="261598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Analyze metrics: click-through rate, purchase conversion, engagement per show</a:t>
            </a:r>
            <a:endParaRPr lang="en-SG" sz="1100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A96FBB8-787C-4A54-F030-B254F5F77640}"/>
              </a:ext>
            </a:extLst>
          </p:cNvPr>
          <p:cNvSpPr txBox="1"/>
          <p:nvPr/>
        </p:nvSpPr>
        <p:spPr>
          <a:xfrm>
            <a:off x="4397240" y="3048143"/>
            <a:ext cx="6354898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Integrate clickable product links in select shows and outreach to device partnerships (Phillips &amp; Sony)</a:t>
            </a:r>
            <a:endParaRPr lang="en-SG" sz="11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E04B8959-8D0F-9069-C6BC-4CA38064CDEC}"/>
              </a:ext>
            </a:extLst>
          </p:cNvPr>
          <p:cNvSpPr txBox="1"/>
          <p:nvPr/>
        </p:nvSpPr>
        <p:spPr>
          <a:xfrm>
            <a:off x="3730260" y="2317904"/>
            <a:ext cx="3834765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Identify compatible devices and testing of sound and lighting</a:t>
            </a:r>
            <a:endParaRPr lang="en-SG" sz="1100" dirty="0">
              <a:solidFill>
                <a:schemeClr val="tx1"/>
              </a:solidFill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3B795364-E572-B542-9E43-F9A68A1408C9}"/>
              </a:ext>
            </a:extLst>
          </p:cNvPr>
          <p:cNvSpPr txBox="1"/>
          <p:nvPr/>
        </p:nvSpPr>
        <p:spPr>
          <a:xfrm>
            <a:off x="4465059" y="2647949"/>
            <a:ext cx="5285732" cy="266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1100" dirty="0"/>
              <a:t>Source AR content partnerships and </a:t>
            </a:r>
            <a:r>
              <a:rPr lang="en-US" sz="1100" dirty="0"/>
              <a:t>assess show popularity to select content</a:t>
            </a:r>
            <a:endParaRPr lang="en-SG" sz="1100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C0CB0A3-2C25-7031-3EAD-F17AE639CCBD}"/>
              </a:ext>
            </a:extLst>
          </p:cNvPr>
          <p:cNvSpPr txBox="1"/>
          <p:nvPr/>
        </p:nvSpPr>
        <p:spPr>
          <a:xfrm>
            <a:off x="5303066" y="3365458"/>
            <a:ext cx="5842771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Test smart home-enabled viewing with targeted users to test reaction to multi-sensory effects</a:t>
            </a:r>
            <a:endParaRPr lang="en-SG" sz="1100" dirty="0">
              <a:solidFill>
                <a:schemeClr val="tx1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91489555-21E3-BE8B-8A9F-8F1B6E0DAF0D}"/>
              </a:ext>
            </a:extLst>
          </p:cNvPr>
          <p:cNvSpPr txBox="1"/>
          <p:nvPr/>
        </p:nvSpPr>
        <p:spPr>
          <a:xfrm>
            <a:off x="6457292" y="3703815"/>
            <a:ext cx="4942711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Conduct small-scale AR pilot, analyze user’s interactions</a:t>
            </a:r>
            <a:r>
              <a:rPr lang="en-SG" sz="1100" dirty="0"/>
              <a:t> and usage pattern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B749C5A-4644-9ABE-609E-CB54B622702D}"/>
              </a:ext>
            </a:extLst>
          </p:cNvPr>
          <p:cNvSpPr txBox="1"/>
          <p:nvPr/>
        </p:nvSpPr>
        <p:spPr>
          <a:xfrm>
            <a:off x="5299229" y="5800234"/>
            <a:ext cx="3270942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/>
              <a:t>Introduce gamification tied to Netflix originals</a:t>
            </a:r>
            <a:endParaRPr lang="en-SG" sz="1100"/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5B081F47-C39A-D7B0-B8C3-4803196EBECD}"/>
              </a:ext>
            </a:extLst>
          </p:cNvPr>
          <p:cNvSpPr txBox="1"/>
          <p:nvPr/>
        </p:nvSpPr>
        <p:spPr>
          <a:xfrm>
            <a:off x="3220267" y="5502276"/>
            <a:ext cx="4157924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Full immersive suite (sound, lighting, scent) for majority of content</a:t>
            </a:r>
            <a:endParaRPr lang="en-SG" sz="1100" dirty="0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9B49B5E5-A5BB-AC91-0D3E-45E3CE32DB00}"/>
              </a:ext>
            </a:extLst>
          </p:cNvPr>
          <p:cNvSpPr txBox="1"/>
          <p:nvPr/>
        </p:nvSpPr>
        <p:spPr>
          <a:xfrm>
            <a:off x="3507122" y="5148209"/>
            <a:ext cx="2695626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Integrate in-app purchase &amp; delivery</a:t>
            </a:r>
            <a:endParaRPr lang="en-SG" sz="11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95CD72B7-81B8-0E93-06A9-FFEBA5446646}"/>
              </a:ext>
            </a:extLst>
          </p:cNvPr>
          <p:cNvSpPr txBox="1"/>
          <p:nvPr/>
        </p:nvSpPr>
        <p:spPr>
          <a:xfrm>
            <a:off x="7612189" y="4403054"/>
            <a:ext cx="3903336" cy="261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1100" dirty="0" err="1"/>
              <a:t>Analyze</a:t>
            </a:r>
            <a:r>
              <a:rPr lang="en-SG" sz="1100" dirty="0"/>
              <a:t> metrics: usage frequency, immersion rating per user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C6017876-2E76-6871-8FB1-04AFC807F2FC}"/>
              </a:ext>
            </a:extLst>
          </p:cNvPr>
          <p:cNvSpPr txBox="1"/>
          <p:nvPr/>
        </p:nvSpPr>
        <p:spPr>
          <a:xfrm>
            <a:off x="8807022" y="4757980"/>
            <a:ext cx="2708502" cy="43088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1100" dirty="0" err="1"/>
              <a:t>Analyze</a:t>
            </a:r>
            <a:r>
              <a:rPr lang="en-SG" sz="1100" dirty="0"/>
              <a:t> metrics: AR session duration</a:t>
            </a:r>
            <a:r>
              <a:rPr lang="en-SG" sz="1100"/>
              <a:t>, repeat </a:t>
            </a:r>
            <a:r>
              <a:rPr lang="en-SG" sz="1100" dirty="0"/>
              <a:t>engagement per 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F6836-4280-FF9F-7878-82ED99D26EC2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BDF0F-934E-3779-0BFE-56AE10D35FF2}"/>
              </a:ext>
            </a:extLst>
          </p:cNvPr>
          <p:cNvSpPr txBox="1"/>
          <p:nvPr/>
        </p:nvSpPr>
        <p:spPr>
          <a:xfrm>
            <a:off x="371475" y="-45763"/>
            <a:ext cx="94646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Implementation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Roadmap</a:t>
            </a:r>
          </a:p>
        </p:txBody>
      </p:sp>
      <p:pic>
        <p:nvPicPr>
          <p:cNvPr id="19" name="Picture 2" descr="Netflix | Brand Assets | Logos">
            <a:extLst>
              <a:ext uri="{FF2B5EF4-FFF2-40B4-BE49-F238E27FC236}">
                <a16:creationId xmlns:a16="http://schemas.microsoft.com/office/drawing/2014/main" id="{14384DFE-C0A4-F4AE-9019-C94679F9BB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>
            <a:fillRect/>
          </a:stretch>
        </p:blipFill>
        <p:spPr bwMode="auto">
          <a:xfrm>
            <a:off x="10609263" y="22494"/>
            <a:ext cx="1527176" cy="4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55F68F-8C1E-E92C-16F5-0981FF3C522E}"/>
              </a:ext>
            </a:extLst>
          </p:cNvPr>
          <p:cNvSpPr txBox="1"/>
          <p:nvPr/>
        </p:nvSpPr>
        <p:spPr>
          <a:xfrm>
            <a:off x="3388436" y="2008102"/>
            <a:ext cx="4876516" cy="266601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Conduct market research on competitors who offer </a:t>
            </a:r>
            <a:r>
              <a:rPr lang="en-SG" sz="1100" dirty="0"/>
              <a:t>shoppable entertainment</a:t>
            </a:r>
            <a:r>
              <a:rPr lang="en-SG" sz="11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197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E4F8-7533-5609-9B6A-A2FDB40F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491D1AF-3DAA-80A0-D59F-B96BABFC860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8294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6" imgH="486" progId="TCLayout.ActiveDocument.1">
                  <p:embed/>
                </p:oleObj>
              </mc:Choice>
              <mc:Fallback>
                <p:oleObj name="think-cell Slide" r:id="rId3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91D1AF-3DAA-80A0-D59F-B96BABFC86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9BA2-021B-DBC0-96D3-CFB6DF50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57" y="863487"/>
            <a:ext cx="3657602" cy="58314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100" b="1"/>
              <a:t>Shoppable Ecosystem</a:t>
            </a: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1: Research, Design &amp; Brand Partnership Setup (8–12 weeks)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US$30,000 – $75,000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Discovery &amp; Market Research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UI/UX Design for shopping features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Identify and onboard brand partners for product placements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Negotiate collaboration agreements and integration strategies</a:t>
            </a: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2: Backend, AI &amp; Brand Collaboration Integration (14–22 weeks)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US$50,000 – $140,000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Develop AI-powered product recognition &amp; tagging system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Build e-commerce backend &amp; APIs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Integrate brand collaboration features (exclusive branded content, offers)</a:t>
            </a: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3: Frontend &amp; Cross-Platform App with Brand Features (14–26 weeks)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US$60,000 – $170,000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Frontend development for mobile, web, and smart TVs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Implement interactive hotspots, product pop-ups, “Buy Now” buttons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Sync “save for later” &amp; </a:t>
            </a:r>
            <a:r>
              <a:rPr lang="en-US" sz="1100" err="1">
                <a:ea typeface="+mn-lt"/>
                <a:cs typeface="+mn-lt"/>
              </a:rPr>
              <a:t>wishlist</a:t>
            </a:r>
            <a:r>
              <a:rPr lang="en-US" sz="1100">
                <a:ea typeface="+mn-lt"/>
                <a:cs typeface="+mn-lt"/>
              </a:rPr>
              <a:t> features across devices</a:t>
            </a: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4: Testing, Deployment, Marketing &amp; Brand Campaigns (12–20 weeks)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US$55,000 – $180,000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Comprehensive testing &amp; QA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Launch brand-integrated marketing campaigns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Co-branded partner campaigns (teasers, special drops)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Year 1 maintenance &amp; support</a:t>
            </a: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Total 7–14 months Investment:</a:t>
            </a:r>
            <a:r>
              <a:rPr lang="en-US" sz="1100">
                <a:ea typeface="+mn-lt"/>
                <a:cs typeface="+mn-lt"/>
              </a:rPr>
              <a:t> US$195,000 – $565,000</a:t>
            </a:r>
          </a:p>
          <a:p>
            <a:pPr marL="0" indent="0">
              <a:buNone/>
            </a:pPr>
            <a:endParaRPr lang="en-US" sz="11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5A2CB0-293B-5912-E359-6A133A8F5A95}"/>
              </a:ext>
            </a:extLst>
          </p:cNvPr>
          <p:cNvSpPr txBox="1">
            <a:spLocks/>
          </p:cNvSpPr>
          <p:nvPr/>
        </p:nvSpPr>
        <p:spPr>
          <a:xfrm>
            <a:off x="4155342" y="865986"/>
            <a:ext cx="3882454" cy="50318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/>
              <a:t>Smart Home Integration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Phase 1: Strategy, Partners &amp; Design (6–10 weeks)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Cost:</a:t>
            </a:r>
            <a:r>
              <a:rPr lang="en-US">
                <a:ea typeface="+mn-lt"/>
                <a:cs typeface="+mn-lt"/>
              </a:rPr>
              <a:t> US$0.25M – 0.6M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Align with Philips/Sony for Matter / HDMI-CEC / </a:t>
            </a:r>
            <a:r>
              <a:rPr lang="en-US" err="1">
                <a:ea typeface="+mn-lt"/>
                <a:cs typeface="+mn-lt"/>
              </a:rPr>
              <a:t>eARC</a:t>
            </a:r>
            <a:r>
              <a:rPr lang="en-US">
                <a:ea typeface="+mn-lt"/>
                <a:cs typeface="+mn-lt"/>
              </a:rPr>
              <a:t> integration</a:t>
            </a: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Phase 2: Cue Pipeline &amp; Safety (8–14 weeks)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Cost:</a:t>
            </a:r>
            <a:r>
              <a:rPr lang="en-US">
                <a:ea typeface="+mn-lt"/>
                <a:cs typeface="+mn-lt"/>
              </a:rPr>
              <a:t> US$0.5M – 1.2M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Build scene-cue sidecar (light/sound intensity, hue, motion, safety flags)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Automate cueing for new releases with photosensitivity guardrails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Phase 3: Client Engineering (TV, iOS, Android) (12–20 weeks)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Cost:</a:t>
            </a:r>
            <a:r>
              <a:rPr lang="en-US">
                <a:ea typeface="+mn-lt"/>
                <a:cs typeface="+mn-lt"/>
              </a:rPr>
              <a:t> US$1.2M – 2.8M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Develop on-screen ambience experience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Build TV overlay renderer &amp; mobile control platforms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Phase 4: OEM Integrations &amp; Pilot Cert (10–16 weeks)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Cost:</a:t>
            </a:r>
            <a:r>
              <a:rPr lang="en-US">
                <a:ea typeface="+mn-lt"/>
                <a:cs typeface="+mn-lt"/>
              </a:rPr>
              <a:t> US$1.0M – 2.2M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Implement Netflix Mode with Philips (Hue) &amp; Sony (TVs/soundbars)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Conduct QA, latency testing, certify 1–2 TV lines + soundbar family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Phase 5: Launch, Marketing &amp; Global Scale (12–24 weeks)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Cost:</a:t>
            </a:r>
            <a:r>
              <a:rPr lang="en-US">
                <a:ea typeface="+mn-lt"/>
                <a:cs typeface="+mn-lt"/>
              </a:rPr>
              <a:t> US$3.0M – 8.0M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Run education &amp; demo reels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Expand to LG/Samsung/Google /Apple/JBL</a:t>
            </a: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Total 18–24 months Investment:</a:t>
            </a:r>
            <a:r>
              <a:rPr lang="en-US">
                <a:ea typeface="+mn-lt"/>
                <a:cs typeface="+mn-lt"/>
              </a:rPr>
              <a:t> US$5.95M – 14.8M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(~0.015–0.038% of Netflix 2024 revenue, financially feasible)</a:t>
            </a:r>
            <a:endParaRPr lang="en-US"/>
          </a:p>
          <a:p>
            <a:pPr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739961-A677-5265-24C6-7CE82F0B360A}"/>
              </a:ext>
            </a:extLst>
          </p:cNvPr>
          <p:cNvSpPr txBox="1">
            <a:spLocks/>
          </p:cNvSpPr>
          <p:nvPr/>
        </p:nvSpPr>
        <p:spPr>
          <a:xfrm>
            <a:off x="8211358" y="863695"/>
            <a:ext cx="3894946" cy="463945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100" b="1"/>
              <a:t>AR &amp; VR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1: R&amp;D &amp; Prototype (6–9 months)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US$8–12M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Develop AR engine, integrate with Netflix app, test content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 </a:t>
            </a:r>
            <a:r>
              <a:rPr lang="en-US" sz="1100" i="1">
                <a:ea typeface="+mn-lt"/>
                <a:cs typeface="+mn-lt"/>
              </a:rPr>
              <a:t>Basis:</a:t>
            </a:r>
            <a:r>
              <a:rPr lang="en-US" sz="1100">
                <a:ea typeface="+mn-lt"/>
                <a:cs typeface="+mn-lt"/>
              </a:rPr>
              <a:t> Comparable to Niantic’s early AR development costs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2: Pilot Launch (Year 1)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US$20–25M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Test in select cities (Singapore, LA, Seoul), early marketing, server scaling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 </a:t>
            </a:r>
            <a:r>
              <a:rPr lang="en-US" sz="1100" i="1">
                <a:ea typeface="+mn-lt"/>
                <a:cs typeface="+mn-lt"/>
              </a:rPr>
              <a:t>Basis:</a:t>
            </a:r>
            <a:r>
              <a:rPr lang="en-US" sz="1100">
                <a:ea typeface="+mn-lt"/>
                <a:cs typeface="+mn-lt"/>
              </a:rPr>
              <a:t> Pokémon Go pilot benchmarks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3: Global Roll-Out &amp; Scaling (Year 2)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US$40–60M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Expand to 190+ countries, localize, scale via AWS/GCP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 </a:t>
            </a:r>
            <a:r>
              <a:rPr lang="en-US" sz="1100" i="1">
                <a:ea typeface="+mn-lt"/>
                <a:cs typeface="+mn-lt"/>
              </a:rPr>
              <a:t>Basis:</a:t>
            </a:r>
            <a:r>
              <a:rPr lang="en-US" sz="1100">
                <a:ea typeface="+mn-lt"/>
                <a:cs typeface="+mn-lt"/>
              </a:rPr>
              <a:t> Multi-region platform norms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4: Marketing &amp; Partnerships (Years 2–3)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US$30–40M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Tie-ins with LG/Samsung, influencer campaigns, AR merch events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 </a:t>
            </a:r>
            <a:r>
              <a:rPr lang="en-US" sz="1100" i="1">
                <a:ea typeface="+mn-lt"/>
                <a:cs typeface="+mn-lt"/>
              </a:rPr>
              <a:t>Basis:</a:t>
            </a:r>
            <a:r>
              <a:rPr lang="en-US" sz="1100">
                <a:ea typeface="+mn-lt"/>
                <a:cs typeface="+mn-lt"/>
              </a:rPr>
              <a:t> 8–10% of campaign revenue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Phase 5: Maintenance &amp; Content Updates (Annual)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Cost:</a:t>
            </a:r>
            <a:r>
              <a:rPr lang="en-US" sz="1100">
                <a:ea typeface="+mn-lt"/>
                <a:cs typeface="+mn-lt"/>
              </a:rPr>
              <a:t> US$10–15M/year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Ongoing content drops, QA, security, server ops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 </a:t>
            </a:r>
            <a:r>
              <a:rPr lang="en-US" sz="1100" i="1">
                <a:ea typeface="+mn-lt"/>
                <a:cs typeface="+mn-lt"/>
              </a:rPr>
              <a:t>Basis:</a:t>
            </a:r>
            <a:r>
              <a:rPr lang="en-US" sz="1100">
                <a:ea typeface="+mn-lt"/>
                <a:cs typeface="+mn-lt"/>
              </a:rPr>
              <a:t> Live-ops AR platform norms</a:t>
            </a:r>
            <a:endParaRPr lang="en-US" sz="1100"/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Total 3-Year Investment:</a:t>
            </a:r>
            <a:r>
              <a:rPr lang="en-US" sz="1100">
                <a:ea typeface="+mn-lt"/>
                <a:cs typeface="+mn-lt"/>
              </a:rPr>
              <a:t> ≈ US$100–150M (~0.4% of Netflix 2024 revenue)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Costs front-loaded in R&amp;D &amp; scaling, then recurring maintenance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• Strong ROI potential via synergy with Netflix IP, app, and global user base</a:t>
            </a:r>
            <a:endParaRPr lang="en-US" sz="1100"/>
          </a:p>
          <a:p>
            <a:pPr>
              <a:buFont typeface="Arial" panose="020B0604020202020204" pitchFamily="34" charset="0"/>
              <a:buNone/>
            </a:pPr>
            <a:endParaRPr lang="en-US" sz="11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A0B74-917B-3CC5-ECC4-97DB36767682}"/>
              </a:ext>
            </a:extLst>
          </p:cNvPr>
          <p:cNvSpPr/>
          <p:nvPr/>
        </p:nvSpPr>
        <p:spPr>
          <a:xfrm>
            <a:off x="-6540" y="-35940"/>
            <a:ext cx="12198539" cy="531326"/>
          </a:xfrm>
          <a:prstGeom prst="rect">
            <a:avLst/>
          </a:prstGeom>
          <a:solidFill>
            <a:srgbClr val="101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5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2E347-E5E3-0123-F998-72085296A194}"/>
              </a:ext>
            </a:extLst>
          </p:cNvPr>
          <p:cNvSpPr txBox="1"/>
          <p:nvPr/>
        </p:nvSpPr>
        <p:spPr>
          <a:xfrm>
            <a:off x="371475" y="-8804"/>
            <a:ext cx="946466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ea typeface="+mn-lt"/>
                <a:cs typeface="+mn-lt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1435838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4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/%#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#m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wvJpYMgcEpCErqBKjOM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IARQ_wzLU3ziJWzQbZS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UZLjQrSOiOC9RAH7t1v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sgAjmrs30a8hoxNYML_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_CQc5vIZnBTeXnbT191k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arsueFz5kL9NZe0ycc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QzQ6SJZDzivSvVMeQw1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e3xwVVgYA5_IZjxljvV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jwmztYyQCJHUal25_to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jb7iZVbHAZHpK1YfIb_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X_HLEKddnWbYrDZklHV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2L50.xC5.od.ZOp73A5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zDmcQSEs83BvQjKKggy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aeUytvIJj6Yh95xTG3b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1iF5re1X31PnKjp72e4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sgAjmrs30a8hoxNYML_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sgAjmrs30a8hoxNYML_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sgAjmrs30a8hoxNYML_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sgAjmrs30a8hoxNYML_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z8ykD7UALabtEApxpuZ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BUyYaon8_1SlkFldkVj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r5krw1AsGnZ_.rdMeDO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IzQtNdOWc_kyFg.KU_y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NSd_H8ub.2AHTm4wVsl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gYtZ3Ln6KTzn0gzzM6J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0pCiMCQEcScD2UFs.oH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dgFYbU3KMPzNucB1Sj7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2XHrZFDQCycn2kDj68P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TIGXF6MevOKuAzmtxtF6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.fUufR0cSuvumofxXJ1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ONQl1oXLGbC7CxBTbfP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zoA5A8DDN_RVoNz3uig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_eU4T9KWdWkRjWGUstE4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MmWDMr6aJB_SFCaJ6hj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a.QESUO01Acq2mHzApU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2VflFPMbfIjpN3EiOG4I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grYoTfqMjYi9Yc8Zp45F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GrlMCgWGt_OBQ5IqX6C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O9GTjXkcxr.cMbo9tiv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XFzgC4r1O1oyWnze8wg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4VbCPyDLCzWPjDcLXkR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P4OCTsc.1dJL0rk6aAE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O7mp610aFL1C.xKLQkc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jUYMin12c.lc3rkXn6V4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LjHnAgkxNei_8.d8AaS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olFq1wc4wnMwJr0e39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kfp6RVy_0zjo.blZj58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pYB_MuYz.O8qrgfM.I7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2x3pOz.E5iocI7hzj8P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R0FpumdzJ_cq5qpXX_v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dPksikxNGDdG6IaDfsD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m5gZIWS9wOd4W6nXhFy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7Vgnj7KkQTMOcfWnCFM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1XuQJxLGwGLo3syuICt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bqEClTHHCox39q5294I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4Lca95ZY4YOj56vJW57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xhMxAhK06pkkEF5I1Tn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ViL5OdcRrBvp4qle22q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CSp9uz32lyah8hNJEfk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kWh80cF.6eGQaHE5heD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p7La1gtgBk8Us__lHQ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ntFjYqbQY5d_7hUVEAF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MLcCrbyC.D4C5n32sDG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KEwvnjyODBft...eC_n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fllI.EGP6k49ISxbZ4x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3UdD_kZAqHH4SKhomHsh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oXDwWD97fzDSG5dvygR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3DvbF3qzrcQYh1qWe5p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wv9m02H69O1M1lRepM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watBkVUdb_cyBPIMfoK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ZmdLVbHOdvzkgxI.U8c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3frXpRkNbPAUhMWse4p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0GI3Z4lGIX9CYHdptVX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h4..gsa3qjgPiKbVzD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vxcUGBcwCRKtWmBmsMd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n.ni5MIZVGiL._VR9_4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mVScdBZhvLwS1Z9Neq.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9nf.GYCzSVxPBZcFbAr_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hyjP9aFKlem0hsF66xC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1e4bm8tlSN0sHIUajQ32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1A53349415F44AE2E212B5ACE7E25" ma:contentTypeVersion="15" ma:contentTypeDescription="Create a new document." ma:contentTypeScope="" ma:versionID="feb87956720572ea16ab96d63b860b43">
  <xsd:schema xmlns:xsd="http://www.w3.org/2001/XMLSchema" xmlns:xs="http://www.w3.org/2001/XMLSchema" xmlns:p="http://schemas.microsoft.com/office/2006/metadata/properties" xmlns:ns3="ccd2a3d0-3ad3-4a46-a7fd-6640f81ba4e9" xmlns:ns4="16e4aad1-1222-421f-b2ac-f4c064a8f12c" targetNamespace="http://schemas.microsoft.com/office/2006/metadata/properties" ma:root="true" ma:fieldsID="7db76ef26654d2153ecea3970c99e88e" ns3:_="" ns4:_="">
    <xsd:import namespace="ccd2a3d0-3ad3-4a46-a7fd-6640f81ba4e9"/>
    <xsd:import namespace="16e4aad1-1222-421f-b2ac-f4c064a8f12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2a3d0-3ad3-4a46-a7fd-6640f81ba4e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e4aad1-1222-421f-b2ac-f4c064a8f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d2a3d0-3ad3-4a46-a7fd-6640f81ba4e9" xsi:nil="true"/>
  </documentManagement>
</p:properties>
</file>

<file path=customXml/itemProps1.xml><?xml version="1.0" encoding="utf-8"?>
<ds:datastoreItem xmlns:ds="http://schemas.openxmlformats.org/officeDocument/2006/customXml" ds:itemID="{B49E0C3A-4434-4E74-9122-85F2E65732A5}">
  <ds:schemaRefs>
    <ds:schemaRef ds:uri="16e4aad1-1222-421f-b2ac-f4c064a8f12c"/>
    <ds:schemaRef ds:uri="ccd2a3d0-3ad3-4a46-a7fd-6640f81ba4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16EA95-2984-4FAD-95D5-B96B8910FE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EA4963-0EE8-42ED-81CD-B636262E9563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16e4aad1-1222-421f-b2ac-f4c064a8f12c"/>
    <ds:schemaRef ds:uri="ccd2a3d0-3ad3-4a46-a7fd-6640f81ba4e9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4045d78-cc95-4d18-8527-662fb5d54407}" enabled="0" method="" siteId="{44045d78-cc95-4d18-8527-662fb5d5440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3588</Words>
  <Application>Microsoft Office PowerPoint</Application>
  <PresentationFormat>Widescreen</PresentationFormat>
  <Paragraphs>367</Paragraphs>
  <Slides>14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Arial,Sans-Serif</vt:lpstr>
      <vt:lpstr>Office Theme</vt:lpstr>
      <vt:lpstr>2_Custom Design</vt:lpstr>
      <vt:lpstr>Custom Design</vt:lpstr>
      <vt:lpstr>1_Custom Design</vt:lpstr>
      <vt:lpstr>think-cell Slide</vt:lpstr>
      <vt:lpstr>PowerPoint Presentation</vt:lpstr>
      <vt:lpstr>PowerPoint Presentation</vt:lpstr>
      <vt:lpstr>PowerPoint Presentation</vt:lpstr>
      <vt:lpstr>Prioritizing Core Strengths: Entertainment Innovation Over Sports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HAYLEY HENG YI RUI</dc:creator>
  <cp:lastModifiedBy>HAYLEY HENG YI RUI</cp:lastModifiedBy>
  <cp:revision>13</cp:revision>
  <dcterms:created xsi:type="dcterms:W3CDTF">2025-10-06T13:35:55Z</dcterms:created>
  <dcterms:modified xsi:type="dcterms:W3CDTF">2025-10-25T17:25:45Z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0x010100BC81A53349415F44AE2E212B5ACE7E25</vt:lpwstr>
  </property>
</Properties>
</file>